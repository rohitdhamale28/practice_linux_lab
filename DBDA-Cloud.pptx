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1" r:id="rId2"/>
    <p:sldId id="392" r:id="rId3"/>
    <p:sldId id="393" r:id="rId4"/>
    <p:sldId id="394" r:id="rId5"/>
    <p:sldId id="525" r:id="rId6"/>
    <p:sldId id="526" r:id="rId7"/>
    <p:sldId id="492" r:id="rId8"/>
    <p:sldId id="534" r:id="rId9"/>
    <p:sldId id="535" r:id="rId10"/>
    <p:sldId id="315" r:id="rId11"/>
    <p:sldId id="310" r:id="rId12"/>
    <p:sldId id="311" r:id="rId13"/>
    <p:sldId id="313" r:id="rId14"/>
    <p:sldId id="960" r:id="rId15"/>
    <p:sldId id="295" r:id="rId16"/>
    <p:sldId id="296" r:id="rId17"/>
    <p:sldId id="297" r:id="rId18"/>
    <p:sldId id="298" r:id="rId19"/>
    <p:sldId id="299" r:id="rId20"/>
    <p:sldId id="874" r:id="rId21"/>
    <p:sldId id="1140" r:id="rId22"/>
    <p:sldId id="1137" r:id="rId23"/>
    <p:sldId id="1141" r:id="rId24"/>
    <p:sldId id="372" r:id="rId25"/>
    <p:sldId id="373" r:id="rId26"/>
    <p:sldId id="374" r:id="rId27"/>
    <p:sldId id="873" r:id="rId28"/>
    <p:sldId id="1136" r:id="rId29"/>
    <p:sldId id="1147" r:id="rId30"/>
    <p:sldId id="260" r:id="rId31"/>
    <p:sldId id="1148" r:id="rId32"/>
    <p:sldId id="991" r:id="rId33"/>
    <p:sldId id="993" r:id="rId34"/>
    <p:sldId id="1118" r:id="rId35"/>
    <p:sldId id="99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9146-462D-2AA6-721B-833AA6785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95DF9-5F4B-3DEA-E42E-82D8F4DFF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6EDA4-89F9-9059-1A8B-40B66FD6A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8036-3F4B-48F8-B0B4-9BC9B506972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D57A5-0463-9D8B-CDC7-A2A2FA0A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75D8D-2D48-6280-616E-322AD194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DDE9-084E-45E5-84D5-43633845E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319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B82E-C048-CA4A-87A3-7C9318677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DBFFF-A825-F2D1-EA60-F4FBE927F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94549-4441-1D64-1C79-575672E4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8036-3F4B-48F8-B0B4-9BC9B506972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1B8A1-7739-8891-48EA-84919716B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B3A72-9E3F-D611-1DF8-413346B4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DDE9-084E-45E5-84D5-43633845E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12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42FA-4BFD-2FE3-CA90-80C7FA932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5ABE0-8147-7672-54A2-B866AF15E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54863-D7CA-D84D-43C5-AC1B7B485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8036-3F4B-48F8-B0B4-9BC9B506972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895B0-390B-EB5C-BF41-3E696D894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342CF-2085-23D2-F074-DA6B0E93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DDE9-084E-45E5-84D5-43633845E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434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4B043-896C-92E0-C249-6A26F2C2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47419-D81C-5D21-04D7-172028323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254ED-09F1-6F2A-D1FC-5A39E2C53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B762E-AE1A-23A9-A7C5-8BBCEA236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8036-3F4B-48F8-B0B4-9BC9B506972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302CA-9799-451D-1897-035E1BE12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0063B-1399-095C-F80B-B2E305736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DDE9-084E-45E5-84D5-43633845E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90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3985-B70A-8106-7D97-453842321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C7FCC-AF27-7676-BEBF-9BD43B085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AAA9D-6D85-B615-339F-DA89466A3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9D16F-0065-D0B0-9DA7-6809ECE9E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89A552-48D0-BF87-88E4-BBDA56EAB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6A566-60A8-552A-6EEF-1162DBBFF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8036-3F4B-48F8-B0B4-9BC9B506972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B9AA06-83AD-53DB-F238-59ABB9419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1082F1-6261-74CD-50B9-87ED4953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DDE9-084E-45E5-84D5-43633845E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070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EE950-D22D-21A8-EF94-FCF8CB52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9062A-35E2-3AE6-5A86-46B783C36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8036-3F4B-48F8-B0B4-9BC9B506972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0389B9-8EFE-8B7B-4755-F8C63C0FA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8479A-2AEB-AD31-B7E1-6EF5AB22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DDE9-084E-45E5-84D5-43633845E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79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749160-6855-41B0-4F8D-921E32DB8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8036-3F4B-48F8-B0B4-9BC9B506972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B82362-4B64-BDFC-56F6-8E9CE964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02172-BFA9-074A-6C36-4C5584B5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DDE9-084E-45E5-84D5-43633845E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429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E27C2-177D-B20D-9CDB-BE44F2C3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B600C-8911-E46D-453B-CD43A48D1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0A366-CF03-A030-F217-75FC95BAD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5CD0C-D31B-3F2B-128B-D90909FF7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8036-3F4B-48F8-B0B4-9BC9B506972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78937-A168-817B-7F1E-D7803FC65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6FC0-DC03-4736-2C46-AAD0098A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DDE9-084E-45E5-84D5-43633845E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906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C19D-6C57-77E8-9613-2C133EB15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1E445-F834-8510-D400-D82806644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28CCF-4FE3-F0DB-6318-4B59D39B6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52819-A6AA-907D-08AB-4CCE7A4D5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8036-3F4B-48F8-B0B4-9BC9B506972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149A0-5773-8F8E-94CA-807DCB4B6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EF6D4-E6C8-117C-FA89-FF33F544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DDE9-084E-45E5-84D5-43633845E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013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D2F4-DB1C-9CE0-357B-49296913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D96AF-F896-D6CF-1289-A07637A7D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B4FD0-985A-3EFE-0026-408F85F2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8036-3F4B-48F8-B0B4-9BC9B506972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0BC79-FBE8-4021-42A6-E973641B2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C92D1-A7DB-A078-CFC4-03301DB4E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DDE9-084E-45E5-84D5-43633845E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24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F0FF6-047B-7366-8140-A0A0D34AB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144D5-3070-C05F-B3D4-8FD87AA26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1F67B-9A69-F7D2-5F9D-C88437E06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8036-3F4B-48F8-B0B4-9BC9B506972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46AAD-B2B5-E398-6206-F4F65E50C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9430-B6D2-AFEA-4F0B-CFE72BCE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4DDE9-084E-45E5-84D5-43633845E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2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A2A917-4734-1096-7B33-B19D22A81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1985D-B271-717A-5C9E-A9B418D0F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FEAF6-220A-2E6A-1A12-C54552C16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C8036-3F4B-48F8-B0B4-9BC9B506972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D9A4A-F6C9-FF0D-337E-60F80D33FF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F409E-562D-9560-D095-585ED6A6A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4DDE9-084E-45E5-84D5-43633845E9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235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hyperlink" Target="https://openclipart.org/detail/163741/web-server-by-lyte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hyperlink" Target="https://pixabay.com/fr/internet-web-monde-la-souris-terre-42584/" TargetMode="External"/><Relationship Id="rId5" Type="http://schemas.openxmlformats.org/officeDocument/2006/relationships/hyperlink" Target="https://openclipart.org/detail/215108/monitor-silver-with-keyboard-pc-by-keistutis" TargetMode="External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hyperlink" Target="https://openclipart.org/detail/171425/server---emails-by-cyberscooty-171425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56AD28-15FE-FD1E-DA5E-DEAC8BBA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6FABFB-C276-A4F9-DBC0-A989A9CE6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701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27D8FD-A43A-2E2C-56A6-1BCB89CB6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Cloud?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E58480-595E-06FD-2E09-5BD38A3C2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Peak loads vary (high during weekends and holidays), High costs</a:t>
            </a:r>
          </a:p>
          <a:p>
            <a:r>
              <a:rPr lang="en-IN" dirty="0"/>
              <a:t>Solution before Cloud: Peak Load Provisioning – Buy infrastructure for peak load – Wasted during less load</a:t>
            </a:r>
          </a:p>
          <a:p>
            <a:r>
              <a:rPr lang="en-IN" dirty="0"/>
              <a:t>Earlier: Own Data Center (In premises, also called </a:t>
            </a:r>
            <a:r>
              <a:rPr lang="en-IN" b="1" dirty="0"/>
              <a:t>in-prim</a:t>
            </a:r>
            <a:r>
              <a:rPr lang="en-IN" dirty="0"/>
              <a:t>)</a:t>
            </a:r>
          </a:p>
          <a:p>
            <a:r>
              <a:rPr lang="en-IN" dirty="0"/>
              <a:t>Now: </a:t>
            </a:r>
            <a:r>
              <a:rPr lang="en-IN" b="1" dirty="0"/>
              <a:t>Cloud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0E0158-19A0-EEB0-36A6-CF0F933F7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684" y="469748"/>
            <a:ext cx="5575587" cy="29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055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09BA-F480-F109-9A5E-23C886A94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Before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DAB54-B968-E448-9649-5C4540D34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High cost of infrastructure procurement</a:t>
            </a:r>
          </a:p>
          <a:p>
            <a:r>
              <a:rPr lang="en-IN" dirty="0"/>
              <a:t>Need to plan ahead of time – Can we guess if a start up will be successful?</a:t>
            </a:r>
          </a:p>
          <a:p>
            <a:r>
              <a:rPr lang="en-IN" dirty="0"/>
              <a:t>Low utilization of infrastructure due to peak load provisioning</a:t>
            </a:r>
          </a:p>
          <a:p>
            <a:r>
              <a:rPr lang="en-IN" dirty="0"/>
              <a:t>Dedicated infrastructure team for maintenance </a:t>
            </a:r>
          </a:p>
        </p:txBody>
      </p:sp>
    </p:spTree>
    <p:extLst>
      <p:ext uri="{BB962C8B-B14F-4D97-AF65-F5344CB8AC3E}">
        <p14:creationId xmlns:p14="http://schemas.microsoft.com/office/powerpoint/2010/main" val="3863138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09BA-F480-F109-9A5E-23C886A94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Cloud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DAB54-B968-E448-9649-5C4540D34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Provision (i.e. rent) resources only when we need them, and release them when we do not need them</a:t>
            </a:r>
          </a:p>
          <a:p>
            <a:r>
              <a:rPr lang="en-IN" b="1" dirty="0"/>
              <a:t>On demand resource provisioning</a:t>
            </a:r>
          </a:p>
          <a:p>
            <a:r>
              <a:rPr lang="en-IN" dirty="0"/>
              <a:t>Hence called as </a:t>
            </a:r>
            <a:r>
              <a:rPr lang="en-IN" b="1" dirty="0"/>
              <a:t>elastic</a:t>
            </a:r>
            <a:endParaRPr lang="en-IN" dirty="0"/>
          </a:p>
        </p:txBody>
      </p:sp>
      <p:pic>
        <p:nvPicPr>
          <p:cNvPr id="2050" name="Picture 2" descr="Cloud computing concept">
            <a:extLst>
              <a:ext uri="{FF2B5EF4-FFF2-40B4-BE49-F238E27FC236}">
                <a16:creationId xmlns:a16="http://schemas.microsoft.com/office/drawing/2014/main" id="{A21E2267-BCA8-E405-BE5A-8AFD9B07C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164" y="2055841"/>
            <a:ext cx="3623407" cy="194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6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0AB8-6AFA-E2EC-376D-C9A3B6E1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Five Characteristics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1537E-BC8D-0B56-FA18-6D7E1A5B6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5E214-52AC-D777-DAD7-CAF224F3E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53" y="1467082"/>
            <a:ext cx="104853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665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2A69-9118-C9E8-2799-E5B214CB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Six Advantages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2CEE7-BED4-3161-67AF-D8419CF38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3B2D9-953E-2C73-22CC-DF7B33823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39" y="1348854"/>
            <a:ext cx="10131521" cy="465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79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2DA4-9214-D97B-92F4-6EF07618C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Managed Services / Cloud Computing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2AABE-D0B6-21D2-A2E8-906127D75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IaaS </a:t>
            </a:r>
            <a:r>
              <a:rPr lang="en-US" dirty="0"/>
              <a:t>(Infrastructure as a Service) – Hosting </a:t>
            </a:r>
          </a:p>
          <a:p>
            <a:r>
              <a:rPr lang="en-US" b="1" dirty="0"/>
              <a:t>PaaS</a:t>
            </a:r>
            <a:r>
              <a:rPr lang="en-US" dirty="0"/>
              <a:t> (Platform as a Service) – App Development</a:t>
            </a:r>
          </a:p>
          <a:p>
            <a:r>
              <a:rPr lang="en-US" b="1" dirty="0"/>
              <a:t>SaaS </a:t>
            </a:r>
            <a:r>
              <a:rPr lang="en-US" dirty="0"/>
              <a:t>(Software as a Service) – Everything</a:t>
            </a:r>
          </a:p>
          <a:p>
            <a:r>
              <a:rPr lang="en-US" dirty="0"/>
              <a:t>Sometimes also called as the SPI model (</a:t>
            </a:r>
            <a:r>
              <a:rPr lang="en-US" dirty="0" err="1"/>
              <a:t>Saas</a:t>
            </a:r>
            <a:r>
              <a:rPr lang="en-US" dirty="0"/>
              <a:t>, </a:t>
            </a:r>
            <a:r>
              <a:rPr lang="en-US" dirty="0" err="1"/>
              <a:t>Paas</a:t>
            </a:r>
            <a:r>
              <a:rPr lang="en-US" dirty="0"/>
              <a:t>, </a:t>
            </a:r>
            <a:r>
              <a:rPr lang="en-US" dirty="0" err="1"/>
              <a:t>Iaas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387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88E8BC-BC0E-5BE1-B0E2-2A47D8D34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IaaS, PaaS, SaaS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B5083C-6E04-CCDD-D3A2-5437E7381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266" name="Picture 2" descr="IaaS vs. PaaS vs. SaaS - DEV Community">
            <a:extLst>
              <a:ext uri="{FF2B5EF4-FFF2-40B4-BE49-F238E27FC236}">
                <a16:creationId xmlns:a16="http://schemas.microsoft.com/office/drawing/2014/main" id="{30B531E0-67F7-14D7-8C02-61D729C35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8763"/>
            <a:ext cx="83820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1539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0CB30-8C45-07F5-707C-6D4617FE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Cloud Computing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05022-9246-4197-8FF7-CE6320391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73C31-1E3D-07F0-C86A-9972FBB96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0753"/>
            <a:ext cx="10535684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31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7EE01C-7C31-7657-413D-080BC434A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Introduction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15C84E-D872-E730-C922-4C43BEB2A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603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3E98A-B73A-D949-9E24-ABFF85E0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Global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E7742-CCC9-7D16-E6C5-1607C5153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7BDC9-2BCA-7BEB-E5AD-01DD71587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326" y="1690688"/>
            <a:ext cx="9962243" cy="399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97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0B47-3112-3F78-76EE-62EF75151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67974-22E5-393B-A404-BED63A9D0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96A029-3014-EC35-B821-36F1B3249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745" y="1414145"/>
            <a:ext cx="8480461" cy="476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50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40ADD-0630-43D9-C160-0A629108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Availability Zones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06EDD-F156-3A0A-1A0D-F2BB987F7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0F5EE-E4D8-EE37-C50D-51A8B6264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89" y="1502218"/>
            <a:ext cx="10481411" cy="443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655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8B475-1975-3BD5-7D9A-2E9B0B221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Signup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1CBD0-383F-C046-EE74-99D791748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Signup for AWS with your email id </a:t>
            </a:r>
          </a:p>
          <a:p>
            <a:r>
              <a:rPr lang="en-IN" dirty="0"/>
              <a:t>Remember the id, password and also the AWS account id (different from your email id) – This creates a </a:t>
            </a:r>
            <a:r>
              <a:rPr lang="en-IN" b="1" dirty="0"/>
              <a:t>root account</a:t>
            </a:r>
            <a:endParaRPr lang="en-IN" dirty="0"/>
          </a:p>
          <a:p>
            <a:r>
              <a:rPr lang="en-IN" dirty="0"/>
              <a:t>You will require your phone and credit card</a:t>
            </a:r>
          </a:p>
        </p:txBody>
      </p:sp>
    </p:spTree>
    <p:extLst>
      <p:ext uri="{BB962C8B-B14F-4D97-AF65-F5344CB8AC3E}">
        <p14:creationId xmlns:p14="http://schemas.microsoft.com/office/powerpoint/2010/main" val="1537344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A52EDC-FBA3-8296-AEEB-15D0EE994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EC2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E45D61-4D97-3F54-DA89-8B60EE6FD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594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CEB1-6F4E-BAC1-456A-FB0A8682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EC2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0E2AD-7519-28F9-40B9-C760A993E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EC2 = Elastic Compute Cloud</a:t>
            </a:r>
          </a:p>
          <a:p>
            <a:r>
              <a:rPr lang="en-IN" dirty="0"/>
              <a:t>Part of IaaS</a:t>
            </a:r>
          </a:p>
          <a:p>
            <a:r>
              <a:rPr lang="en-IN" dirty="0"/>
              <a:t>Allows creation of a “rented” virtual machine</a:t>
            </a:r>
          </a:p>
          <a:p>
            <a:r>
              <a:rPr lang="en-IN" dirty="0"/>
              <a:t>We decide the machine type, OS, capabilities, etc</a:t>
            </a:r>
          </a:p>
          <a:p>
            <a:r>
              <a:rPr lang="en-IN" dirty="0"/>
              <a:t>Accessible from the Internet (Gets a public IP address)</a:t>
            </a:r>
          </a:p>
          <a:p>
            <a:r>
              <a:rPr lang="en-IN" dirty="0"/>
              <a:t>We can install any software on it and use it for any purpose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7387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CEB1-6F4E-BAC1-456A-FB0A8682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EC2 User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0E2AD-7519-28F9-40B9-C760A993E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EC2 User Data</a:t>
            </a:r>
            <a:r>
              <a:rPr lang="en-IN" dirty="0"/>
              <a:t>:</a:t>
            </a:r>
            <a:r>
              <a:rPr lang="en-IN" b="1" dirty="0"/>
              <a:t> </a:t>
            </a:r>
            <a:r>
              <a:rPr lang="en-IN" dirty="0"/>
              <a:t>A user-defined script only once at the first start (instance creation)</a:t>
            </a:r>
          </a:p>
          <a:p>
            <a:r>
              <a:rPr lang="en-IN" dirty="0"/>
              <a:t>Purpose: Automate tasks</a:t>
            </a:r>
          </a:p>
          <a:p>
            <a:pPr lvl="1"/>
            <a:r>
              <a:rPr lang="en-IN" dirty="0"/>
              <a:t>Installing updates, Software, Downloading common files from the internet</a:t>
            </a:r>
          </a:p>
          <a:p>
            <a:r>
              <a:rPr lang="en-IN" dirty="0"/>
              <a:t>Note: If we want to run this every time, we need to put the script in</a:t>
            </a:r>
            <a:r>
              <a:rPr lang="en-IN" i="1" dirty="0"/>
              <a:t> /var/lib/cloud/scripts/per-boot/</a:t>
            </a:r>
          </a:p>
          <a:p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734884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CEB1-6F4E-BAC1-456A-FB0A8682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an EC2 Instance using EC2 User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0E2AD-7519-28F9-40B9-C760A993E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Search for EC2, then click on Instances, Launch Instances</a:t>
            </a:r>
          </a:p>
          <a:p>
            <a:r>
              <a:rPr lang="en-IN" dirty="0"/>
              <a:t>Leave everything as default, but click on </a:t>
            </a:r>
            <a:r>
              <a:rPr lang="en-IN" i="1" dirty="0"/>
              <a:t>Create new key pair</a:t>
            </a:r>
            <a:r>
              <a:rPr lang="en-IN" dirty="0"/>
              <a:t>, as it is required – Give some name, and select defaults</a:t>
            </a:r>
          </a:p>
          <a:p>
            <a:r>
              <a:rPr lang="en-IN" dirty="0"/>
              <a:t>Under Network, select </a:t>
            </a:r>
            <a:r>
              <a:rPr lang="en-IN" i="1" dirty="0"/>
              <a:t>Allow Http traffic from the internet</a:t>
            </a:r>
          </a:p>
          <a:p>
            <a:r>
              <a:rPr lang="en-IN" dirty="0"/>
              <a:t>In </a:t>
            </a:r>
            <a:r>
              <a:rPr lang="en-IN" i="1" dirty="0"/>
              <a:t>Advanced details-User data</a:t>
            </a:r>
            <a:r>
              <a:rPr lang="en-IN" dirty="0"/>
              <a:t>, enter the following script</a:t>
            </a:r>
          </a:p>
          <a:p>
            <a:pPr lvl="1"/>
            <a:r>
              <a:rPr lang="en-IN" dirty="0"/>
              <a:t>#!/bin/bash</a:t>
            </a:r>
          </a:p>
          <a:p>
            <a:pPr lvl="1"/>
            <a:r>
              <a:rPr lang="en-IN" dirty="0"/>
              <a:t>yum update -y</a:t>
            </a:r>
          </a:p>
          <a:p>
            <a:pPr lvl="1"/>
            <a:r>
              <a:rPr lang="en-IN" dirty="0"/>
              <a:t>yum install -y httpd</a:t>
            </a:r>
          </a:p>
          <a:p>
            <a:pPr lvl="1"/>
            <a:r>
              <a:rPr lang="en-IN" dirty="0" err="1"/>
              <a:t>systemctl</a:t>
            </a:r>
            <a:r>
              <a:rPr lang="en-IN" dirty="0"/>
              <a:t> start httpd</a:t>
            </a:r>
          </a:p>
          <a:p>
            <a:pPr lvl="1"/>
            <a:r>
              <a:rPr lang="en-IN" dirty="0" err="1"/>
              <a:t>systemctl</a:t>
            </a:r>
            <a:r>
              <a:rPr lang="en-IN" dirty="0"/>
              <a:t> enable httpd</a:t>
            </a:r>
          </a:p>
          <a:p>
            <a:pPr lvl="1"/>
            <a:r>
              <a:rPr lang="en-IN" dirty="0"/>
              <a:t>echo "&lt;h1&gt;Hello World from $(hostname -f)&lt;/h1&gt;"  &gt;  /var/www/html/index.html</a:t>
            </a:r>
          </a:p>
          <a:p>
            <a:r>
              <a:rPr lang="en-IN" dirty="0"/>
              <a:t>Launch instance and test it using its public IP address</a:t>
            </a:r>
          </a:p>
          <a:p>
            <a:pPr marL="457200" lvl="1" indent="0">
              <a:buNone/>
            </a:pPr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897138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CEB1-6F4E-BAC1-456A-FB0A8682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the EC2 Instance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0E2AD-7519-28F9-40B9-C760A993E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When the instance is running, open its public IP address in the browser</a:t>
            </a:r>
          </a:p>
        </p:txBody>
      </p:sp>
    </p:spTree>
    <p:extLst>
      <p:ext uri="{BB962C8B-B14F-4D97-AF65-F5344CB8AC3E}">
        <p14:creationId xmlns:p14="http://schemas.microsoft.com/office/powerpoint/2010/main" val="1853284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4A7098-DEDF-8366-AA61-3BB50A944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S3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455B5-1877-5D96-574E-88EC0B10D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Block Storage</a:t>
            </a:r>
          </a:p>
          <a:p>
            <a:r>
              <a:rPr lang="en-IN" dirty="0"/>
              <a:t>File Storage</a:t>
            </a:r>
          </a:p>
          <a:p>
            <a:r>
              <a:rPr lang="en-IN" dirty="0"/>
              <a:t>Object Storage</a:t>
            </a:r>
          </a:p>
        </p:txBody>
      </p:sp>
    </p:spTree>
    <p:extLst>
      <p:ext uri="{BB962C8B-B14F-4D97-AF65-F5344CB8AC3E}">
        <p14:creationId xmlns:p14="http://schemas.microsoft.com/office/powerpoint/2010/main" val="468855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FD3D-FFF9-B999-FE8E-DE33E8E6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Storage Options: Object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B9BC8-9822-259D-78A2-252040204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Object storage</a:t>
            </a:r>
            <a:r>
              <a:rPr lang="en-IN" dirty="0"/>
              <a:t>: Allows storage and retrieval of files as if they are objects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F87A2D-2470-98AD-3634-66628528B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660" y="2555121"/>
            <a:ext cx="8030696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8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FD3D-FFF9-B999-FE8E-DE33E8E6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Storage Service (S3): Object Storage in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B9BC8-9822-259D-78A2-252040204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Bucket</a:t>
            </a:r>
            <a:r>
              <a:rPr lang="en-IN" dirty="0"/>
              <a:t>: Collection of </a:t>
            </a:r>
            <a:r>
              <a:rPr lang="en-IN" b="1" dirty="0"/>
              <a:t>objects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3471A-30A3-1774-B736-FBAE513A8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023" y="2437957"/>
            <a:ext cx="7595989" cy="405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34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FD3D-FFF9-B999-FE8E-DE33E8E6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S3: Object Storage in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B9BC8-9822-259D-78A2-252040204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Search for S3-&gt;Create bucket-&gt;Bucket name: </a:t>
            </a:r>
            <a:r>
              <a:rPr lang="en-IN" i="1" dirty="0"/>
              <a:t>Must be globally unique</a:t>
            </a:r>
            <a:r>
              <a:rPr lang="en-IN" dirty="0"/>
              <a:t>-&gt;Leave all defaults-&gt;Create bucket</a:t>
            </a:r>
          </a:p>
          <a:p>
            <a:r>
              <a:rPr lang="en-IN" dirty="0"/>
              <a:t>Click on the bucket name-&gt;Upload-&gt;Upload 1-2 files from your disk-&gt;Upload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255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AF8F6B-F5C4-9F3B-99AF-A6010ACA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Serverless and AWS Lambda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B740B-0D82-F2D3-BB4E-54A8E0873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01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D8B5-D8BC-3589-257A-E5E8E206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Lambda and Serverless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F74DA-27B4-CDED-8B5E-128C4F622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Serverless computing</a:t>
            </a:r>
            <a:r>
              <a:rPr lang="en-IN" dirty="0"/>
              <a:t>: Does not mean </a:t>
            </a:r>
            <a:r>
              <a:rPr lang="en-IN" i="1" dirty="0"/>
              <a:t>no server</a:t>
            </a:r>
            <a:r>
              <a:rPr lang="en-IN" dirty="0"/>
              <a:t>, But it means that </a:t>
            </a:r>
            <a:r>
              <a:rPr lang="en-IN" i="1" dirty="0"/>
              <a:t>the developers do not have to worry about servers</a:t>
            </a:r>
            <a:endParaRPr lang="en-IN" dirty="0"/>
          </a:p>
          <a:p>
            <a:r>
              <a:rPr lang="en-IN" dirty="0"/>
              <a:t>Developers just need to deploy code, AWS will manage the servers</a:t>
            </a:r>
          </a:p>
          <a:p>
            <a:r>
              <a:rPr lang="en-IN" b="1" dirty="0"/>
              <a:t>AWS Lambda</a:t>
            </a:r>
            <a:r>
              <a:rPr lang="en-IN" dirty="0"/>
              <a:t>:</a:t>
            </a:r>
            <a:r>
              <a:rPr lang="en-IN" b="1" dirty="0"/>
              <a:t> </a:t>
            </a:r>
            <a:r>
              <a:rPr lang="en-IN" dirty="0">
                <a:solidFill>
                  <a:srgbClr val="FF0000"/>
                </a:solidFill>
              </a:rPr>
              <a:t>Event-driven</a:t>
            </a:r>
            <a:r>
              <a:rPr lang="en-IN" dirty="0"/>
              <a:t>, </a:t>
            </a:r>
            <a:r>
              <a:rPr lang="en-IN" dirty="0">
                <a:solidFill>
                  <a:srgbClr val="FF0000"/>
                </a:solidFill>
              </a:rPr>
              <a:t>serverless</a:t>
            </a:r>
            <a:r>
              <a:rPr lang="en-IN" dirty="0"/>
              <a:t> computing platform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695301-4C2E-D9F7-3042-85B05A12D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390" y="4699086"/>
            <a:ext cx="951007" cy="11749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CF1E5C-4CAC-E325-0AB4-E46AA9556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328" y="4793270"/>
            <a:ext cx="1033352" cy="9865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00B590-EE3A-6EC6-87AE-C89F3B47AEF8}"/>
              </a:ext>
            </a:extLst>
          </p:cNvPr>
          <p:cNvSpPr txBox="1"/>
          <p:nvPr/>
        </p:nvSpPr>
        <p:spPr>
          <a:xfrm>
            <a:off x="4129237" y="4224713"/>
            <a:ext cx="3099336" cy="21236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b="1" dirty="0"/>
              <a:t>import </a:t>
            </a:r>
            <a:r>
              <a:rPr lang="en-IN" sz="1200" b="1" dirty="0" err="1"/>
              <a:t>json</a:t>
            </a:r>
            <a:endParaRPr lang="en-IN" sz="1200" b="1" dirty="0"/>
          </a:p>
          <a:p>
            <a:r>
              <a:rPr lang="en-IN" sz="1200" b="1" dirty="0"/>
              <a:t>import logging</a:t>
            </a:r>
          </a:p>
          <a:p>
            <a:r>
              <a:rPr lang="en-IN" sz="1200" b="1" dirty="0"/>
              <a:t>import boto3</a:t>
            </a:r>
          </a:p>
          <a:p>
            <a:endParaRPr lang="en-IN" sz="1200" b="1" dirty="0"/>
          </a:p>
          <a:p>
            <a:r>
              <a:rPr lang="en-IN" sz="1200" b="1" dirty="0"/>
              <a:t># Initialize logging</a:t>
            </a:r>
          </a:p>
          <a:p>
            <a:r>
              <a:rPr lang="en-IN" sz="1200" b="1" dirty="0"/>
              <a:t>logger = </a:t>
            </a:r>
            <a:r>
              <a:rPr lang="en-IN" sz="1200" b="1" dirty="0" err="1"/>
              <a:t>logging.getLogger</a:t>
            </a:r>
            <a:r>
              <a:rPr lang="en-IN" sz="1200" b="1" dirty="0"/>
              <a:t>()</a:t>
            </a:r>
          </a:p>
          <a:p>
            <a:r>
              <a:rPr lang="en-IN" sz="1200" b="1" dirty="0" err="1"/>
              <a:t>logger.setLevel</a:t>
            </a:r>
            <a:r>
              <a:rPr lang="en-IN" sz="1200" b="1" dirty="0"/>
              <a:t>(logging.INFO)</a:t>
            </a:r>
          </a:p>
          <a:p>
            <a:endParaRPr lang="en-IN" sz="1200" b="1" dirty="0"/>
          </a:p>
          <a:p>
            <a:r>
              <a:rPr lang="en-IN" sz="1200" b="1" dirty="0"/>
              <a:t>def </a:t>
            </a:r>
            <a:r>
              <a:rPr lang="en-IN" sz="1200" b="1" dirty="0" err="1"/>
              <a:t>lambda_handler</a:t>
            </a:r>
            <a:r>
              <a:rPr lang="en-IN" sz="1200" b="1" dirty="0"/>
              <a:t>(event, context):</a:t>
            </a:r>
          </a:p>
          <a:p>
            <a:r>
              <a:rPr lang="en-IN" sz="1200" b="1" dirty="0"/>
              <a:t>    # Log the raw event</a:t>
            </a:r>
          </a:p>
          <a:p>
            <a:r>
              <a:rPr lang="en-IN" sz="1200" b="1" dirty="0"/>
              <a:t>    logger.info("Event: " + </a:t>
            </a:r>
            <a:r>
              <a:rPr lang="en-IN" sz="1200" b="1" dirty="0" err="1"/>
              <a:t>json.dumps</a:t>
            </a:r>
            <a:r>
              <a:rPr lang="en-IN" sz="1200" b="1" dirty="0"/>
              <a:t>(event))</a:t>
            </a:r>
            <a:endParaRPr lang="en-IN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41A356-8DE8-50BD-2A32-07D6238A36C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132397" y="5286543"/>
            <a:ext cx="581927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18C3AA-8E29-EB29-3578-12AA4B7D7507}"/>
              </a:ext>
            </a:extLst>
          </p:cNvPr>
          <p:cNvCxnSpPr>
            <a:cxnSpLocks/>
          </p:cNvCxnSpPr>
          <p:nvPr/>
        </p:nvCxnSpPr>
        <p:spPr>
          <a:xfrm>
            <a:off x="6308157" y="5381192"/>
            <a:ext cx="581927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Introducing the PowerShell custom runtime for AWS Lambda | AWS Compute Blog">
            <a:extLst>
              <a:ext uri="{FF2B5EF4-FFF2-40B4-BE49-F238E27FC236}">
                <a16:creationId xmlns:a16="http://schemas.microsoft.com/office/drawing/2014/main" id="{BC1015C3-1D9D-39B5-1042-BEA211EB8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753" y="4347842"/>
            <a:ext cx="2850674" cy="19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18FE3F-5913-7B29-F8F6-58F7A85D0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0844" y="3429000"/>
            <a:ext cx="780513" cy="78500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AD2339-A561-4810-2835-4299ADE76A7A}"/>
              </a:ext>
            </a:extLst>
          </p:cNvPr>
          <p:cNvCxnSpPr/>
          <p:nvPr/>
        </p:nvCxnSpPr>
        <p:spPr>
          <a:xfrm>
            <a:off x="11184556" y="4357467"/>
            <a:ext cx="0" cy="686171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D218D0-F7CF-9CBB-A47A-49AEE7D7ADF5}"/>
              </a:ext>
            </a:extLst>
          </p:cNvPr>
          <p:cNvCxnSpPr/>
          <p:nvPr/>
        </p:nvCxnSpPr>
        <p:spPr>
          <a:xfrm flipH="1">
            <a:off x="10327907" y="5053264"/>
            <a:ext cx="863193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6232FDA-CD88-A6BA-0896-2BE2AA09081F}"/>
              </a:ext>
            </a:extLst>
          </p:cNvPr>
          <p:cNvSpPr txBox="1"/>
          <p:nvPr/>
        </p:nvSpPr>
        <p:spPr>
          <a:xfrm>
            <a:off x="462013" y="6042211"/>
            <a:ext cx="3320715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creates and deploys a Lambda Function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AA9C56-FB59-13E2-5F5C-A453B084CD67}"/>
              </a:ext>
            </a:extLst>
          </p:cNvPr>
          <p:cNvSpPr txBox="1"/>
          <p:nvPr/>
        </p:nvSpPr>
        <p:spPr>
          <a:xfrm>
            <a:off x="10394809" y="5322566"/>
            <a:ext cx="1592581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An event (e.g. file upload in S3) triggers it</a:t>
            </a:r>
          </a:p>
        </p:txBody>
      </p:sp>
    </p:spTree>
    <p:extLst>
      <p:ext uri="{BB962C8B-B14F-4D97-AF65-F5344CB8AC3E}">
        <p14:creationId xmlns:p14="http://schemas.microsoft.com/office/powerpoint/2010/main" val="1055164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D8B5-D8BC-3589-257A-E5E8E206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Lambda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F283-2996-58C8-1789-C80FF3AD9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AWS Lambda</a:t>
            </a:r>
            <a:r>
              <a:rPr lang="en-IN" dirty="0"/>
              <a:t>: A </a:t>
            </a:r>
            <a:r>
              <a:rPr lang="en-IN" b="1" dirty="0"/>
              <a:t>serverless compute service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Developer uploads some code – no payment at this stage</a:t>
            </a:r>
          </a:p>
          <a:p>
            <a:r>
              <a:rPr lang="en-IN" dirty="0"/>
              <a:t>Charges only apply to the </a:t>
            </a:r>
            <a:r>
              <a:rPr lang="en-IN" i="1" dirty="0"/>
              <a:t>usage</a:t>
            </a:r>
            <a:r>
              <a:rPr lang="en-IN" dirty="0"/>
              <a:t> of the code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D66B3B-E100-F49A-5074-A8CB925F6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716" y="2447874"/>
            <a:ext cx="4970084" cy="244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75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D8B5-D8BC-3589-257A-E5E8E206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Lambda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F283-2996-58C8-1789-C80FF3AD9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event occurs</a:t>
            </a:r>
          </a:p>
          <a:p>
            <a:r>
              <a:rPr lang="en-IN" dirty="0"/>
              <a:t>Triggers the Lambda function </a:t>
            </a:r>
          </a:p>
          <a:p>
            <a:r>
              <a:rPr lang="en-IN" dirty="0"/>
              <a:t>It can run for max 15 mins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69B332-0E71-F439-DCB2-9D908439F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390" y="1329850"/>
            <a:ext cx="5848651" cy="1835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C29C7C-79BB-8C59-0997-333783831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225" y="3387511"/>
            <a:ext cx="5740695" cy="266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39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D800-0CE9-D5B2-3AA9-04482BC7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Lambda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0B7D9-EADA-9532-0BF6-9AA862080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Search for Lambda-&gt;Create function-&gt;Author from scratch-&gt;Function name:my-lambda-s3-function-&gt;</a:t>
            </a:r>
            <a:r>
              <a:rPr lang="en-IN" dirty="0" err="1"/>
              <a:t>Runtime:Python</a:t>
            </a:r>
            <a:r>
              <a:rPr lang="en-IN" dirty="0"/>
              <a:t> 3.11-&gt;Create function</a:t>
            </a:r>
          </a:p>
          <a:p>
            <a:r>
              <a:rPr lang="en-IN" dirty="0"/>
              <a:t>Code: Remove the existing code and copy and paste the code from the next slide-&gt;Deploy</a:t>
            </a:r>
          </a:p>
          <a:p>
            <a:r>
              <a:rPr lang="en-IN" dirty="0"/>
              <a:t>Configuration-&gt;Permissions-&gt;Click on the Execution role name link-&gt;Add permissions-&gt;Attach policies-&gt;Search for S3-&gt;Select AmazonS3FullAccess -&gt;Add permission</a:t>
            </a:r>
          </a:p>
          <a:p>
            <a:r>
              <a:rPr lang="en-IN" dirty="0"/>
              <a:t>Go to Lambda-&gt;Triggers-&gt;Add Trigger-&gt;Select a source: S3-&gt;</a:t>
            </a:r>
            <a:r>
              <a:rPr lang="en-IN" dirty="0" err="1"/>
              <a:t>Bucket:Select</a:t>
            </a:r>
            <a:r>
              <a:rPr lang="en-IN" dirty="0"/>
              <a:t> your bucket-&gt;Leave everything else as default-&gt;Acknowledge-&gt;Add</a:t>
            </a:r>
          </a:p>
          <a:p>
            <a:r>
              <a:rPr lang="en-IN" dirty="0"/>
              <a:t>In S3, Click on the Bucket name-&gt;Properties-&gt;Scroll down-&gt;Event notifications will show our Lambda event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224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D800-0CE9-D5B2-3AA9-04482BC7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Lambda Function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0B7D9-EADA-9532-0BF6-9AA862080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# Create an event notification for S3 </a:t>
            </a:r>
            <a:r>
              <a:rPr lang="en-US" dirty="0" err="1"/>
              <a:t>upploads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the names of files uploaded to an S3 bucket to CloudWatch Logs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json</a:t>
            </a:r>
            <a:endParaRPr lang="en-US" dirty="0"/>
          </a:p>
          <a:p>
            <a:r>
              <a:rPr lang="en-US" dirty="0"/>
              <a:t>import logging</a:t>
            </a:r>
          </a:p>
          <a:p>
            <a:r>
              <a:rPr lang="en-US" dirty="0"/>
              <a:t>import boto3</a:t>
            </a:r>
          </a:p>
          <a:p>
            <a:endParaRPr lang="en-US" dirty="0"/>
          </a:p>
          <a:p>
            <a:r>
              <a:rPr lang="en-US" dirty="0"/>
              <a:t># Initialize logging</a:t>
            </a:r>
          </a:p>
          <a:p>
            <a:r>
              <a:rPr lang="en-US" dirty="0"/>
              <a:t>logger = </a:t>
            </a:r>
            <a:r>
              <a:rPr lang="en-US" dirty="0" err="1"/>
              <a:t>logging.getLogger</a:t>
            </a:r>
            <a:r>
              <a:rPr lang="en-US" dirty="0"/>
              <a:t>()</a:t>
            </a:r>
          </a:p>
          <a:p>
            <a:r>
              <a:rPr lang="en-US" dirty="0" err="1"/>
              <a:t>logger.setLevel</a:t>
            </a:r>
            <a:r>
              <a:rPr lang="en-US" dirty="0"/>
              <a:t>(logging.INFO)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lambda_handler</a:t>
            </a:r>
            <a:r>
              <a:rPr lang="en-US" dirty="0"/>
              <a:t>(event, context):</a:t>
            </a:r>
          </a:p>
          <a:p>
            <a:r>
              <a:rPr lang="en-US" dirty="0"/>
              <a:t>    # Log the raw event</a:t>
            </a:r>
          </a:p>
          <a:p>
            <a:r>
              <a:rPr lang="en-US" dirty="0"/>
              <a:t>    logger.info("Event: " + </a:t>
            </a:r>
            <a:r>
              <a:rPr lang="en-US" dirty="0" err="1"/>
              <a:t>json.dumps</a:t>
            </a:r>
            <a:r>
              <a:rPr lang="en-US" dirty="0"/>
              <a:t>(event))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# Process each record within the event</a:t>
            </a:r>
          </a:p>
          <a:p>
            <a:r>
              <a:rPr lang="en-US" dirty="0"/>
              <a:t>    for record in event['Records']:</a:t>
            </a:r>
          </a:p>
          <a:p>
            <a:r>
              <a:rPr lang="en-US" dirty="0"/>
              <a:t>        # Extract the bucket name and file key from the event</a:t>
            </a:r>
          </a:p>
          <a:p>
            <a:r>
              <a:rPr lang="en-US" dirty="0"/>
              <a:t>        </a:t>
            </a:r>
            <a:r>
              <a:rPr lang="en-US" dirty="0" err="1"/>
              <a:t>bucket_name</a:t>
            </a:r>
            <a:r>
              <a:rPr lang="en-US" dirty="0"/>
              <a:t> = record['s3']['bucket']['name']</a:t>
            </a:r>
          </a:p>
          <a:p>
            <a:r>
              <a:rPr lang="en-US" dirty="0"/>
              <a:t>        </a:t>
            </a:r>
            <a:r>
              <a:rPr lang="en-US" dirty="0" err="1"/>
              <a:t>file_key</a:t>
            </a:r>
            <a:r>
              <a:rPr lang="en-US" dirty="0"/>
              <a:t> = record['s3']['object']['key']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# Log the bucket name and file key to CloudWatch</a:t>
            </a:r>
          </a:p>
          <a:p>
            <a:r>
              <a:rPr lang="en-US" dirty="0"/>
              <a:t>        logger.info(</a:t>
            </a:r>
            <a:r>
              <a:rPr lang="en-US" dirty="0" err="1"/>
              <a:t>f"New</a:t>
            </a:r>
            <a:r>
              <a:rPr lang="en-US" dirty="0"/>
              <a:t> file uploaded: {</a:t>
            </a:r>
            <a:r>
              <a:rPr lang="en-US" dirty="0" err="1"/>
              <a:t>file_key</a:t>
            </a:r>
            <a:r>
              <a:rPr lang="en-US" dirty="0"/>
              <a:t>} in bucket {</a:t>
            </a:r>
            <a:r>
              <a:rPr lang="en-US" dirty="0" err="1"/>
              <a:t>bucket_name</a:t>
            </a:r>
            <a:r>
              <a:rPr lang="en-US" dirty="0"/>
              <a:t>}")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return {</a:t>
            </a:r>
          </a:p>
          <a:p>
            <a:r>
              <a:rPr lang="en-US" dirty="0"/>
              <a:t>        '</a:t>
            </a:r>
            <a:r>
              <a:rPr lang="en-US" dirty="0" err="1"/>
              <a:t>statusCode</a:t>
            </a:r>
            <a:r>
              <a:rPr lang="en-US" dirty="0"/>
              <a:t>': 200,</a:t>
            </a:r>
          </a:p>
          <a:p>
            <a:r>
              <a:rPr lang="en-US" dirty="0"/>
              <a:t>        'body': </a:t>
            </a:r>
            <a:r>
              <a:rPr lang="en-US" dirty="0" err="1"/>
              <a:t>json.dumps</a:t>
            </a:r>
            <a:r>
              <a:rPr lang="en-US" dirty="0"/>
              <a:t>('Processed S3 upload event successfully!')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# 2. Edit the execution role to add permissions to Lambda to read from S3</a:t>
            </a:r>
          </a:p>
          <a:p>
            <a:r>
              <a:rPr lang="en-US" dirty="0"/>
              <a:t># 3. Create an event notification for all S3 object create events by adding a trigger to AWS Lambda</a:t>
            </a:r>
          </a:p>
          <a:p>
            <a:r>
              <a:rPr lang="en-US" dirty="0"/>
              <a:t># 4. Upload a file and check if a message is written to CloudWatch Logs that includes the file name</a:t>
            </a:r>
          </a:p>
        </p:txBody>
      </p:sp>
    </p:spTree>
    <p:extLst>
      <p:ext uri="{BB962C8B-B14F-4D97-AF65-F5344CB8AC3E}">
        <p14:creationId xmlns:p14="http://schemas.microsoft.com/office/powerpoint/2010/main" val="668684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D800-0CE9-D5B2-3AA9-04482BC7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Lambda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0B7D9-EADA-9532-0BF6-9AA862080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Go to S3 Bucket and upload 2-3 files</a:t>
            </a:r>
          </a:p>
          <a:p>
            <a:r>
              <a:rPr lang="en-IN" dirty="0"/>
              <a:t>Go to Lambda-&gt;Monitor-&gt;View CloudWatch logs-&gt;Scroll down to Log streams-&gt;Click on the URL</a:t>
            </a:r>
          </a:p>
          <a:p>
            <a:r>
              <a:rPr lang="en-IN" dirty="0"/>
              <a:t>We should see the logs for the uploaded files</a:t>
            </a:r>
          </a:p>
        </p:txBody>
      </p:sp>
    </p:spTree>
    <p:extLst>
      <p:ext uri="{BB962C8B-B14F-4D97-AF65-F5344CB8AC3E}">
        <p14:creationId xmlns:p14="http://schemas.microsoft.com/office/powerpoint/2010/main" val="2880694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D800-0CE9-D5B2-3AA9-04482BC7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Cleanup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0B7D9-EADA-9532-0BF6-9AA862080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Remove all objects from the S3 bucket</a:t>
            </a:r>
          </a:p>
          <a:p>
            <a:r>
              <a:rPr lang="en-IN" b="1" dirty="0">
                <a:solidFill>
                  <a:srgbClr val="FF0000"/>
                </a:solidFill>
              </a:rPr>
              <a:t>Remove S3 bucket</a:t>
            </a:r>
          </a:p>
          <a:p>
            <a:r>
              <a:rPr lang="en-IN" b="1" dirty="0">
                <a:solidFill>
                  <a:srgbClr val="FF0000"/>
                </a:solidFill>
              </a:rPr>
              <a:t>Remove Lambda function</a:t>
            </a:r>
          </a:p>
        </p:txBody>
      </p:sp>
    </p:spTree>
    <p:extLst>
      <p:ext uri="{BB962C8B-B14F-4D97-AF65-F5344CB8AC3E}">
        <p14:creationId xmlns:p14="http://schemas.microsoft.com/office/powerpoint/2010/main" val="39227811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D9B617-7D82-06AE-1CFA-5018CDF6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VPC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4789D2-F7DA-68DB-A0F3-BE9CE43FA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1121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322F-A8DC-E5AE-33B1-E7BA1A7E6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0BF9-5EEF-5084-1352-B02478B3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VPC = Virtual Private Cloud </a:t>
            </a:r>
            <a:r>
              <a:rPr lang="en-IN" dirty="0"/>
              <a:t>… Logically isolated portion of a network within an AWS region … Like our own private network within a region</a:t>
            </a:r>
          </a:p>
          <a:p>
            <a:r>
              <a:rPr lang="en-IN" dirty="0"/>
              <a:t>Basic hierarchy: Region-&gt;AZ</a:t>
            </a:r>
          </a:p>
          <a:p>
            <a:r>
              <a:rPr lang="en-IN" dirty="0"/>
              <a:t>VPC can be inside one AZ or can span across multiple AZ</a:t>
            </a:r>
          </a:p>
          <a:p>
            <a:r>
              <a:rPr lang="en-IN" b="1" dirty="0"/>
              <a:t>Subnets </a:t>
            </a:r>
            <a:r>
              <a:rPr lang="en-IN" dirty="0"/>
              <a:t>partition our network inside a VPC</a:t>
            </a:r>
          </a:p>
          <a:p>
            <a:r>
              <a:rPr lang="en-IN" dirty="0"/>
              <a:t>Subnet types:</a:t>
            </a:r>
          </a:p>
          <a:p>
            <a:pPr lvl="1"/>
            <a:r>
              <a:rPr lang="en-IN" b="1" dirty="0"/>
              <a:t>Public subnet</a:t>
            </a:r>
            <a:r>
              <a:rPr lang="en-IN" dirty="0"/>
              <a:t>: Accessible from the internet</a:t>
            </a:r>
          </a:p>
          <a:p>
            <a:pPr lvl="1"/>
            <a:r>
              <a:rPr lang="en-IN" b="1" dirty="0"/>
              <a:t>Private subnet</a:t>
            </a:r>
            <a:r>
              <a:rPr lang="en-IN" dirty="0"/>
              <a:t>: Not accessible from the internet</a:t>
            </a:r>
          </a:p>
        </p:txBody>
      </p:sp>
    </p:spTree>
    <p:extLst>
      <p:ext uri="{BB962C8B-B14F-4D97-AF65-F5344CB8AC3E}">
        <p14:creationId xmlns:p14="http://schemas.microsoft.com/office/powerpoint/2010/main" val="8134596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DC27AE-ABF5-5535-F745-3AB1FF668B2F}"/>
              </a:ext>
            </a:extLst>
          </p:cNvPr>
          <p:cNvSpPr txBox="1"/>
          <p:nvPr/>
        </p:nvSpPr>
        <p:spPr>
          <a:xfrm>
            <a:off x="1106905" y="2016135"/>
            <a:ext cx="9577137" cy="45858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/>
              <a:t>Region</a:t>
            </a:r>
          </a:p>
          <a:p>
            <a:endParaRPr lang="en-IN" sz="2000" b="1" dirty="0"/>
          </a:p>
          <a:p>
            <a:endParaRPr lang="en-IN" b="1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07F1F-B4DC-377C-8D93-92B6FC1FDE8D}"/>
              </a:ext>
            </a:extLst>
          </p:cNvPr>
          <p:cNvSpPr txBox="1"/>
          <p:nvPr/>
        </p:nvSpPr>
        <p:spPr>
          <a:xfrm>
            <a:off x="1472665" y="2483318"/>
            <a:ext cx="8884118" cy="3754874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VPC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0EE057-DE9C-CA96-0F0C-D2C04A0D33FE}"/>
              </a:ext>
            </a:extLst>
          </p:cNvPr>
          <p:cNvSpPr txBox="1"/>
          <p:nvPr/>
        </p:nvSpPr>
        <p:spPr>
          <a:xfrm>
            <a:off x="2156059" y="4355902"/>
            <a:ext cx="7794458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Availability Zone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3CB205-1654-C406-02C0-F16266D897D7}"/>
              </a:ext>
            </a:extLst>
          </p:cNvPr>
          <p:cNvSpPr txBox="1"/>
          <p:nvPr/>
        </p:nvSpPr>
        <p:spPr>
          <a:xfrm>
            <a:off x="2156059" y="2688064"/>
            <a:ext cx="7794458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Availability Zone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904E0D-381C-5411-6705-C311574B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VPC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4A7C8-883C-8122-0B27-5BBC902E8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857D5-4EEA-06C2-0055-D26A0754AC8F}"/>
              </a:ext>
            </a:extLst>
          </p:cNvPr>
          <p:cNvSpPr txBox="1"/>
          <p:nvPr/>
        </p:nvSpPr>
        <p:spPr>
          <a:xfrm>
            <a:off x="2387065" y="3047187"/>
            <a:ext cx="7055318" cy="95410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Public subnet</a:t>
            </a:r>
            <a:endParaRPr lang="en-IN" b="1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0E44F-8052-F441-A829-1DF23178DCEE}"/>
              </a:ext>
            </a:extLst>
          </p:cNvPr>
          <p:cNvSpPr txBox="1"/>
          <p:nvPr/>
        </p:nvSpPr>
        <p:spPr>
          <a:xfrm>
            <a:off x="2387065" y="4720392"/>
            <a:ext cx="7055318" cy="95410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Private subnet</a:t>
            </a:r>
            <a:endParaRPr lang="en-IN" b="1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588BC1-C8AA-EA19-192B-E653FFEE7483}"/>
              </a:ext>
            </a:extLst>
          </p:cNvPr>
          <p:cNvSpPr txBox="1"/>
          <p:nvPr/>
        </p:nvSpPr>
        <p:spPr>
          <a:xfrm>
            <a:off x="10471975" y="4097544"/>
            <a:ext cx="172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NAT Gateway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023BA6-48AF-F28E-EEB7-5445480A7BBF}"/>
              </a:ext>
            </a:extLst>
          </p:cNvPr>
          <p:cNvSpPr txBox="1"/>
          <p:nvPr/>
        </p:nvSpPr>
        <p:spPr>
          <a:xfrm>
            <a:off x="6174216" y="2089498"/>
            <a:ext cx="2044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Internet Gateway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F7BAE1F-24A3-8D55-5FC9-F32C3927B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884" y="4027367"/>
            <a:ext cx="639419" cy="630802"/>
          </a:xfrm>
          <a:prstGeom prst="rect">
            <a:avLst/>
          </a:prstGeom>
          <a:solidFill>
            <a:srgbClr val="00B050"/>
          </a:solidFill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16B4659-C7F7-21FA-30B0-81881C4D8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54747" y="2152593"/>
            <a:ext cx="656137" cy="6037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65F36C-E3C8-5803-5A29-C5E2D02AD0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489871" y="4844474"/>
            <a:ext cx="762247" cy="7622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8C7C10-803C-34FD-7965-2501062C4B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672164" y="4850401"/>
            <a:ext cx="762247" cy="7622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A69AEB-4829-C058-99F4-1F38FA8E4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736681" y="4871767"/>
            <a:ext cx="762247" cy="7622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E6A2B20-D011-E414-B40B-68070A823DD5}"/>
              </a:ext>
            </a:extLst>
          </p:cNvPr>
          <p:cNvSpPr txBox="1"/>
          <p:nvPr/>
        </p:nvSpPr>
        <p:spPr>
          <a:xfrm>
            <a:off x="7606525" y="5004689"/>
            <a:ext cx="1835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Internal network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C83620-CFEC-96F3-8E30-634664BB4F29}"/>
              </a:ext>
            </a:extLst>
          </p:cNvPr>
          <p:cNvSpPr txBox="1"/>
          <p:nvPr/>
        </p:nvSpPr>
        <p:spPr>
          <a:xfrm>
            <a:off x="7563893" y="3082724"/>
            <a:ext cx="1835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Servers accessible from the outside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4973BE1-79D5-8F19-596C-B469B1E02C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489871" y="2969022"/>
            <a:ext cx="921444" cy="11040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AC9B2D-85A7-81E9-A775-9A17503473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345416" y="3042426"/>
            <a:ext cx="751361" cy="105330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A7BC3B7-78F5-36CB-5362-8A15B18535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5082879" y="16898"/>
            <a:ext cx="1272713" cy="128701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F168DCD-633E-4456-60FD-03C302097215}"/>
              </a:ext>
            </a:extLst>
          </p:cNvPr>
          <p:cNvSpPr txBox="1"/>
          <p:nvPr/>
        </p:nvSpPr>
        <p:spPr>
          <a:xfrm>
            <a:off x="6528540" y="319158"/>
            <a:ext cx="1136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Outside networks</a:t>
            </a:r>
          </a:p>
        </p:txBody>
      </p:sp>
      <p:sp>
        <p:nvSpPr>
          <p:cNvPr id="27" name="Arrow: Up-Down 26">
            <a:extLst>
              <a:ext uri="{FF2B5EF4-FFF2-40B4-BE49-F238E27FC236}">
                <a16:creationId xmlns:a16="http://schemas.microsoft.com/office/drawing/2014/main" id="{E4C546DC-81F8-8DEE-B365-99FE95A9B333}"/>
              </a:ext>
            </a:extLst>
          </p:cNvPr>
          <p:cNvSpPr/>
          <p:nvPr/>
        </p:nvSpPr>
        <p:spPr>
          <a:xfrm>
            <a:off x="5439863" y="1221145"/>
            <a:ext cx="656137" cy="883777"/>
          </a:xfrm>
          <a:prstGeom prst="upDownArrow">
            <a:avLst/>
          </a:prstGeom>
          <a:solidFill>
            <a:srgbClr val="9898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167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D05A-1F68-57FB-61E9-F7CC8EF99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Internet Gateway and NAT Gateway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7DA6A-1D1E-AA8C-64E7-A653321EE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3493168" cy="4351338"/>
          </a:xfrm>
        </p:spPr>
        <p:txBody>
          <a:bodyPr/>
          <a:lstStyle/>
          <a:p>
            <a:r>
              <a:rPr lang="en-IN" dirty="0"/>
              <a:t>Internet gateway: Connect the public subnet in the VPC to the Internet</a:t>
            </a:r>
          </a:p>
          <a:p>
            <a:r>
              <a:rPr lang="en-IN" dirty="0"/>
              <a:t>NAT gateway (AWS-managed): Allow private subnet in the VPC to access the Internet via the Internet Gateway</a:t>
            </a:r>
          </a:p>
          <a:p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56E7324-5DEA-042C-A569-B2A31F6F3F0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508729" y="2570211"/>
          <a:ext cx="320521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9176">
                  <a:extLst>
                    <a:ext uri="{9D8B030D-6E8A-4147-A177-3AD203B41FA5}">
                      <a16:colId xmlns:a16="http://schemas.microsoft.com/office/drawing/2014/main" val="4153260782"/>
                    </a:ext>
                  </a:extLst>
                </a:gridCol>
                <a:gridCol w="1386038">
                  <a:extLst>
                    <a:ext uri="{9D8B030D-6E8A-4147-A177-3AD203B41FA5}">
                      <a16:colId xmlns:a16="http://schemas.microsoft.com/office/drawing/2014/main" val="2090848840"/>
                    </a:ext>
                  </a:extLst>
                </a:gridCol>
              </a:tblGrid>
              <a:tr h="202220">
                <a:tc>
                  <a:txBody>
                    <a:bodyPr/>
                    <a:lstStyle/>
                    <a:p>
                      <a:r>
                        <a:rPr lang="en-IN" dirty="0"/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298273"/>
                  </a:ext>
                </a:extLst>
              </a:tr>
              <a:tr h="202220">
                <a:tc>
                  <a:txBody>
                    <a:bodyPr/>
                    <a:lstStyle/>
                    <a:p>
                      <a:r>
                        <a:rPr lang="en-IN" dirty="0"/>
                        <a:t>172.31.0.0/16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084883"/>
                  </a:ext>
                </a:extLst>
              </a:tr>
              <a:tr h="202220">
                <a:tc>
                  <a:txBody>
                    <a:bodyPr/>
                    <a:lstStyle/>
                    <a:p>
                      <a:r>
                        <a:rPr lang="en-IN" dirty="0"/>
                        <a:t>0.0.0.0/0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IGW-id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476890"/>
                  </a:ext>
                </a:extLst>
              </a:tr>
            </a:tbl>
          </a:graphicData>
        </a:graphic>
      </p:graphicFrame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AE90CD7-B876-4CE0-9078-092C31BC0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769" y="1423134"/>
            <a:ext cx="4335204" cy="4719778"/>
          </a:xfrm>
          <a:prstGeom prst="rect">
            <a:avLst/>
          </a:prstGeom>
        </p:spPr>
      </p:pic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18C9F841-7801-3DF2-984A-FABC542C9404}"/>
              </a:ext>
            </a:extLst>
          </p:cNvPr>
          <p:cNvGraphicFramePr>
            <a:graphicFrameLocks/>
          </p:cNvGraphicFramePr>
          <p:nvPr/>
        </p:nvGraphicFramePr>
        <p:xfrm>
          <a:off x="8540040" y="4337586"/>
          <a:ext cx="320521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9176">
                  <a:extLst>
                    <a:ext uri="{9D8B030D-6E8A-4147-A177-3AD203B41FA5}">
                      <a16:colId xmlns:a16="http://schemas.microsoft.com/office/drawing/2014/main" val="4153260782"/>
                    </a:ext>
                  </a:extLst>
                </a:gridCol>
                <a:gridCol w="1386038">
                  <a:extLst>
                    <a:ext uri="{9D8B030D-6E8A-4147-A177-3AD203B41FA5}">
                      <a16:colId xmlns:a16="http://schemas.microsoft.com/office/drawing/2014/main" val="2090848840"/>
                    </a:ext>
                  </a:extLst>
                </a:gridCol>
              </a:tblGrid>
              <a:tr h="202220">
                <a:tc>
                  <a:txBody>
                    <a:bodyPr/>
                    <a:lstStyle/>
                    <a:p>
                      <a:r>
                        <a:rPr lang="en-IN" dirty="0"/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298273"/>
                  </a:ext>
                </a:extLst>
              </a:tr>
              <a:tr h="202220">
                <a:tc>
                  <a:txBody>
                    <a:bodyPr/>
                    <a:lstStyle/>
                    <a:p>
                      <a:r>
                        <a:rPr lang="en-IN" dirty="0"/>
                        <a:t>172.31.0.0/16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084883"/>
                  </a:ext>
                </a:extLst>
              </a:tr>
              <a:tr h="202220">
                <a:tc>
                  <a:txBody>
                    <a:bodyPr/>
                    <a:lstStyle/>
                    <a:p>
                      <a:r>
                        <a:rPr lang="en-IN" dirty="0"/>
                        <a:t>0.0.0.0/0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NAT-GW-id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47689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11557D8-02E5-5ECA-A585-4851AF3A8357}"/>
              </a:ext>
            </a:extLst>
          </p:cNvPr>
          <p:cNvSpPr txBox="1"/>
          <p:nvPr/>
        </p:nvSpPr>
        <p:spPr>
          <a:xfrm>
            <a:off x="8749364" y="2191782"/>
            <a:ext cx="285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Public Subnet Route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939005-D131-6F96-9670-C07128C6C66A}"/>
              </a:ext>
            </a:extLst>
          </p:cNvPr>
          <p:cNvSpPr txBox="1"/>
          <p:nvPr/>
        </p:nvSpPr>
        <p:spPr>
          <a:xfrm>
            <a:off x="8749364" y="3968254"/>
            <a:ext cx="285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Private Subnet Route Table</a:t>
            </a:r>
          </a:p>
        </p:txBody>
      </p:sp>
    </p:spTree>
    <p:extLst>
      <p:ext uri="{BB962C8B-B14F-4D97-AF65-F5344CB8AC3E}">
        <p14:creationId xmlns:p14="http://schemas.microsoft.com/office/powerpoint/2010/main" val="2780698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1329</Words>
  <Application>Microsoft Office PowerPoint</Application>
  <PresentationFormat>Widescreen</PresentationFormat>
  <Paragraphs>232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Cloud</vt:lpstr>
      <vt:lpstr>Why Cloud?</vt:lpstr>
      <vt:lpstr>Challenges Before Cloud</vt:lpstr>
      <vt:lpstr>The Cloud Solution</vt:lpstr>
      <vt:lpstr>Five Characteristics of Cloud Computing</vt:lpstr>
      <vt:lpstr>Six Advantages of Cloud Computing</vt:lpstr>
      <vt:lpstr>Managed Services / Cloud Computing Types</vt:lpstr>
      <vt:lpstr>IaaS, PaaS, SaaS</vt:lpstr>
      <vt:lpstr>Example of Cloud Computing Types</vt:lpstr>
      <vt:lpstr>AWS Introduction</vt:lpstr>
      <vt:lpstr>AWS Global Infrastructure</vt:lpstr>
      <vt:lpstr>AWS Regions</vt:lpstr>
      <vt:lpstr>AWS Availability Zones</vt:lpstr>
      <vt:lpstr>Signup</vt:lpstr>
      <vt:lpstr>EC2</vt:lpstr>
      <vt:lpstr>EC2 Basics</vt:lpstr>
      <vt:lpstr>EC2 User Data</vt:lpstr>
      <vt:lpstr>Create an EC2 Instance using EC2 User Data</vt:lpstr>
      <vt:lpstr>Test the EC2 Instance </vt:lpstr>
      <vt:lpstr>AWS S3</vt:lpstr>
      <vt:lpstr>AWS Storage Options: Object Storage</vt:lpstr>
      <vt:lpstr>Simple Storage Service (S3): Object Storage in AWS</vt:lpstr>
      <vt:lpstr>S3: Object Storage in AWS</vt:lpstr>
      <vt:lpstr>Serverless and AWS Lambda</vt:lpstr>
      <vt:lpstr>Lambda and Serverless Computing</vt:lpstr>
      <vt:lpstr>Lambda Overview</vt:lpstr>
      <vt:lpstr>Lambda Overview</vt:lpstr>
      <vt:lpstr>Creating Lambda Function</vt:lpstr>
      <vt:lpstr>Lambda Function Code</vt:lpstr>
      <vt:lpstr>Testing Lambda Function</vt:lpstr>
      <vt:lpstr>Cleanup</vt:lpstr>
      <vt:lpstr>VPC</vt:lpstr>
      <vt:lpstr>VPC</vt:lpstr>
      <vt:lpstr>VPC Hierarchy</vt:lpstr>
      <vt:lpstr>Internet Gateway and NAT Gateway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1</cp:revision>
  <dcterms:created xsi:type="dcterms:W3CDTF">2026-09-14T06:08:11Z</dcterms:created>
  <dcterms:modified xsi:type="dcterms:W3CDTF">2026-09-14T06:09:26Z</dcterms:modified>
</cp:coreProperties>
</file>