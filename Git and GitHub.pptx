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77" r:id="rId3"/>
    <p:sldId id="282" r:id="rId4"/>
    <p:sldId id="258" r:id="rId5"/>
    <p:sldId id="259" r:id="rId6"/>
    <p:sldId id="278" r:id="rId7"/>
    <p:sldId id="279" r:id="rId8"/>
    <p:sldId id="287" r:id="rId9"/>
    <p:sldId id="281" r:id="rId10"/>
    <p:sldId id="263" r:id="rId11"/>
    <p:sldId id="280" r:id="rId12"/>
    <p:sldId id="268" r:id="rId13"/>
    <p:sldId id="267" r:id="rId14"/>
    <p:sldId id="264" r:id="rId15"/>
    <p:sldId id="269" r:id="rId16"/>
    <p:sldId id="276" r:id="rId17"/>
    <p:sldId id="273" r:id="rId18"/>
    <p:sldId id="270" r:id="rId19"/>
    <p:sldId id="271" r:id="rId20"/>
    <p:sldId id="274" r:id="rId21"/>
    <p:sldId id="275" r:id="rId22"/>
    <p:sldId id="283" r:id="rId23"/>
    <p:sldId id="284" r:id="rId24"/>
    <p:sldId id="285" r:id="rId25"/>
    <p:sldId id="28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18B768-21BB-4D13-8555-B5EF0BD03653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AE409C-32AE-46AA-A571-3C1B1D01A6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61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E409C-32AE-46AA-A571-3C1B1D01A619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264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D1E69-3D97-C8D8-13C3-309309E681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A1C538-36BF-029B-B01B-34892D37CA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83E25-EEB1-A419-59BE-E8AA4D8BC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5276-6BA3-4D9B-9FB1-AB1C03DC1B25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65F38-BDDC-A259-FBBF-006EC99EE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69697-30FF-930A-2C34-551BDA4A4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28F52-A84C-4B0D-BFB4-9FAFA7706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5663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B0DEB-AF09-BCE3-5C23-B4A010691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0D1C1-AFC5-67FC-99E4-C6DA305B0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47A33-F28B-A49A-2EAB-56BFCA3B5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5276-6BA3-4D9B-9FB1-AB1C03DC1B25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267DB-83FB-9EDB-E1FF-5DF32029B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5E766-D12B-A063-AE25-FFB846696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28F52-A84C-4B0D-BFB4-9FAFA7706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7017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1C6BF-18B5-98A8-4CBE-75BC29767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D651D-774D-9B5A-57C6-E58E5E9A6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7BE5F-4CCF-BC87-9ED4-38B2BDCAC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5276-6BA3-4D9B-9FB1-AB1C03DC1B25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89377-09A8-9C1D-BF5A-C2FAA1C2B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FD527-6395-B63F-D51E-0F65CE50A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28F52-A84C-4B0D-BFB4-9FAFA7706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154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BF8FD-2EC1-8A71-7DBD-F48BDCB6F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1E853-E32D-175A-C1EB-1321748328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9BD270-5561-15BF-13E2-14C0E115D2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5E9352-BBC9-08D3-48AD-B396B09C2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5276-6BA3-4D9B-9FB1-AB1C03DC1B25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BB158F-DC5F-7E29-5B4C-16FB3B429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5F0AD1-24B0-152F-68E8-AB32D67E5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28F52-A84C-4B0D-BFB4-9FAFA7706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418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B171F-4AB9-4BD7-4B10-272D769D6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BAF480-D92D-7DCE-9A80-666E2A780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9455F6-4016-B9EA-D8D7-8DFEE8D668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C7230-7E79-6E8A-0DBF-FAAB60E997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2B1423-E5AB-87B1-9FB2-9098DB349B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3C5E58-F764-E05A-7FB7-06896DE3A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5276-6BA3-4D9B-9FB1-AB1C03DC1B25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14083C-B5AF-7BDA-37FF-B4CAE9376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36D9D7-2432-8CAC-4A46-C99446B02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28F52-A84C-4B0D-BFB4-9FAFA7706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670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A3878-E741-ACD1-CC7F-BE0522E9B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C68342-B9AA-2F7F-3595-A6B65A7F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5276-6BA3-4D9B-9FB1-AB1C03DC1B25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8B0E68-200D-AE8D-58D6-B047AA6C1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2CEA62-478B-9BA9-8CFE-AD9A8A55A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28F52-A84C-4B0D-BFB4-9FAFA7706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83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81528D-1D7A-463B-07A4-5D3603A56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5276-6BA3-4D9B-9FB1-AB1C03DC1B25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79E001-D523-EEF4-18B5-39FBF7CBF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911E8-A946-B448-447C-6845D7688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28F52-A84C-4B0D-BFB4-9FAFA7706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012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6C48C-9719-E702-DA65-39FA54781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74888-409A-2D8F-164C-2D6C788DD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2CEDDC-C5A2-92FB-8264-7157FC15A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FE2B6-F338-F0EC-96C2-CF2E5F403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5276-6BA3-4D9B-9FB1-AB1C03DC1B25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6B91D0-00F5-1FEC-5058-C3F58CA8A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62F657-B5AA-CCC0-3E06-DB10FDFE2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28F52-A84C-4B0D-BFB4-9FAFA7706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69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B802E-DA23-FE86-9B2D-A417EC4A3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BF1634-4A9B-9A0C-8C5F-93B57C7097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2214E6-76D4-17E4-936C-F55CEC7D14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3C1D9F-E4BF-71B3-612B-6D5EA6094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5276-6BA3-4D9B-9FB1-AB1C03DC1B25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5D465-F933-0D18-09EF-C6ABE58BC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4DBC37-31FB-08D1-0BAD-4348949C9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28F52-A84C-4B0D-BFB4-9FAFA7706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9813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6D008-978A-675F-B5E1-B1E770706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359EF4-097C-D4EE-D924-BDE5B3B465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B8AAD-4A46-9D40-C553-E655634B5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5276-6BA3-4D9B-9FB1-AB1C03DC1B25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CEA99-C99B-78EE-4FEC-B1F7539C6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5A53C-262A-6F86-8FDF-9CD2C2737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28F52-A84C-4B0D-BFB4-9FAFA7706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5891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BE9960-D582-D0D8-4CFD-6583638FAC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05E384-8C47-A930-8EC4-FE0A927258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F8476-8819-8108-1B4C-D3711B63A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5276-6BA3-4D9B-9FB1-AB1C03DC1B25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EB3C5-C411-6C5E-0B54-D47CD3778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6016F-766D-929F-D480-74E2BC4F7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28F52-A84C-4B0D-BFB4-9FAFA7706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873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A27796-A023-C049-FBA5-CAAE03DCB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0BDFA-C262-B261-5EFB-6B57F1DBA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A463C-DF64-8ABA-6F1C-A48080157C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B35276-6BA3-4D9B-9FB1-AB1C03DC1B25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1DEFC-5CE4-28A3-3771-1A8E5DBB56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636D5-18F4-A898-ABFF-1355C796B0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128F52-A84C-4B0D-BFB4-9FAFA7706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4457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openclipart.org/detail/15038" TargetMode="External"/><Relationship Id="rId7" Type="http://schemas.openxmlformats.org/officeDocument/2006/relationships/hyperlink" Target="https://openclipart.org/detail/171013/fwd__bubble_hand_drawn-by-rejon-177666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s://pixabay.com/en/stick-figure-red-man-isolated-304090/" TargetMode="Externa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openclipart.org/detail/15038" TargetMode="External"/><Relationship Id="rId7" Type="http://schemas.openxmlformats.org/officeDocument/2006/relationships/hyperlink" Target="https://pixabay.com/en/stick-figure-red-man-isolated-304090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hyperlink" Target="https://creativecommons.org/licenses/by-nc/3.0/" TargetMode="External"/><Relationship Id="rId5" Type="http://schemas.openxmlformats.org/officeDocument/2006/relationships/hyperlink" Target="https://openclipart.org/detail/171013/fwd__bubble_hand_drawn-by-rejon-177666" TargetMode="External"/><Relationship Id="rId10" Type="http://schemas.openxmlformats.org/officeDocument/2006/relationships/hyperlink" Target="https://freepngimg.com/png/62418-database-icons-virtual-servers-computer-private-server" TargetMode="External"/><Relationship Id="rId4" Type="http://schemas.openxmlformats.org/officeDocument/2006/relationships/image" Target="../media/image4.png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ewdelthis/branch-test.git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6BB7A-72F3-87FB-D5D2-59D83D8DE9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Git and GitHub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C8D855-CE2C-9F81-B857-DFC40AB7B5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Atul Kahate</a:t>
            </a:r>
          </a:p>
        </p:txBody>
      </p:sp>
    </p:spTree>
    <p:extLst>
      <p:ext uri="{BB962C8B-B14F-4D97-AF65-F5344CB8AC3E}">
        <p14:creationId xmlns:p14="http://schemas.microsoft.com/office/powerpoint/2010/main" val="3878629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76422-168C-0D83-8090-1E239D0A1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Version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2A7CB-37D2-21A4-FFE1-6717B033B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Tracks changes over time</a:t>
            </a:r>
          </a:p>
          <a:p>
            <a:r>
              <a:rPr lang="en-US" dirty="0"/>
              <a:t>Restores previous versions</a:t>
            </a:r>
          </a:p>
          <a:p>
            <a:r>
              <a:rPr lang="en-US" dirty="0"/>
              <a:t>Maintains a history of changes</a:t>
            </a:r>
          </a:p>
          <a:p>
            <a:r>
              <a:rPr lang="en-US" dirty="0"/>
              <a:t>Supports collaboration</a:t>
            </a:r>
          </a:p>
          <a:p>
            <a:r>
              <a:rPr lang="en-US" dirty="0"/>
              <a:t>Improves software development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6314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FC4D4-890C-7EE5-4842-67EE24FD4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Version Control Works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7183B5-CCEA-A0C0-F1DB-63C496C0DA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0688"/>
            <a:ext cx="12192000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991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96012-94EE-A9D4-FAAF-D41E1D365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19"/>
            <a:ext cx="10515600" cy="688369"/>
          </a:xfrm>
        </p:spPr>
        <p:txBody>
          <a:bodyPr>
            <a:normAutofit fontScale="90000"/>
          </a:bodyPr>
          <a:lstStyle/>
          <a:p>
            <a:r>
              <a:rPr lang="en-IN" dirty="0"/>
              <a:t>Without Version Control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08240F-3D6C-500A-FA00-6A85E73612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78478" y="838618"/>
            <a:ext cx="719444" cy="143410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5969B7-0E8A-643E-7A02-7EBCAFB037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 flipH="1">
            <a:off x="8716607" y="760288"/>
            <a:ext cx="737282" cy="14722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4625F7-2348-E362-8AD6-382BD00DC5FC}"/>
              </a:ext>
            </a:extLst>
          </p:cNvPr>
          <p:cNvSpPr txBox="1"/>
          <p:nvPr/>
        </p:nvSpPr>
        <p:spPr>
          <a:xfrm>
            <a:off x="92467" y="2445249"/>
            <a:ext cx="1571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Developer 1</a:t>
            </a:r>
          </a:p>
        </p:txBody>
      </p: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6D038329-66B9-AA7E-707C-81210399D10D}"/>
              </a:ext>
            </a:extLst>
          </p:cNvPr>
          <p:cNvSpPr/>
          <p:nvPr/>
        </p:nvSpPr>
        <p:spPr>
          <a:xfrm>
            <a:off x="2075380" y="1037690"/>
            <a:ext cx="1489753" cy="1235036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Application Version 1.0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46CE33-5CB7-0133-CD50-D3AF43E09B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4442591" y="695934"/>
            <a:ext cx="1864479" cy="1864479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566BE05B-EAEB-0574-DD4B-73221265893E}"/>
              </a:ext>
            </a:extLst>
          </p:cNvPr>
          <p:cNvSpPr/>
          <p:nvPr/>
        </p:nvSpPr>
        <p:spPr>
          <a:xfrm>
            <a:off x="1304691" y="1343651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AEE4A45-C9C4-6DAF-A244-FDE55C9720BC}"/>
              </a:ext>
            </a:extLst>
          </p:cNvPr>
          <p:cNvSpPr/>
          <p:nvPr/>
        </p:nvSpPr>
        <p:spPr>
          <a:xfrm>
            <a:off x="3723147" y="1343651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DBADE3-0782-E539-BBCB-7E2A23E83E61}"/>
              </a:ext>
            </a:extLst>
          </p:cNvPr>
          <p:cNvSpPr txBox="1"/>
          <p:nvPr/>
        </p:nvSpPr>
        <p:spPr>
          <a:xfrm>
            <a:off x="6115314" y="1291018"/>
            <a:ext cx="1571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Production (“Live”) server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49B2C9F2-BD87-6BAC-8832-29098F9F7A72}"/>
              </a:ext>
            </a:extLst>
          </p:cNvPr>
          <p:cNvSpPr/>
          <p:nvPr/>
        </p:nvSpPr>
        <p:spPr>
          <a:xfrm>
            <a:off x="6884603" y="3504143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3EDD41-8C55-A9A5-AA5B-FE9416490E73}"/>
              </a:ext>
            </a:extLst>
          </p:cNvPr>
          <p:cNvSpPr txBox="1"/>
          <p:nvPr/>
        </p:nvSpPr>
        <p:spPr>
          <a:xfrm>
            <a:off x="8372002" y="2445249"/>
            <a:ext cx="1571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Developer 2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1CD6271-EBD9-DBF2-3FBB-9652DE652A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 flipH="1">
            <a:off x="460640" y="3221555"/>
            <a:ext cx="737282" cy="147226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985EA20-538B-2484-CE67-948B76309AE3}"/>
              </a:ext>
            </a:extLst>
          </p:cNvPr>
          <p:cNvSpPr txBox="1"/>
          <p:nvPr/>
        </p:nvSpPr>
        <p:spPr>
          <a:xfrm>
            <a:off x="92467" y="4916126"/>
            <a:ext cx="1571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Developer 2</a:t>
            </a:r>
          </a:p>
        </p:txBody>
      </p:sp>
      <p:sp>
        <p:nvSpPr>
          <p:cNvPr id="19" name="Rectangle: Folded Corner 18">
            <a:extLst>
              <a:ext uri="{FF2B5EF4-FFF2-40B4-BE49-F238E27FC236}">
                <a16:creationId xmlns:a16="http://schemas.microsoft.com/office/drawing/2014/main" id="{39454DBF-BB48-FE48-A8FA-050B68517D95}"/>
              </a:ext>
            </a:extLst>
          </p:cNvPr>
          <p:cNvSpPr/>
          <p:nvPr/>
        </p:nvSpPr>
        <p:spPr>
          <a:xfrm>
            <a:off x="2075380" y="3274870"/>
            <a:ext cx="1489753" cy="1235036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Application Version 2.0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50469FD7-8001-9040-CB9A-68184094BF7C}"/>
              </a:ext>
            </a:extLst>
          </p:cNvPr>
          <p:cNvSpPr/>
          <p:nvPr/>
        </p:nvSpPr>
        <p:spPr>
          <a:xfrm>
            <a:off x="1304691" y="3580831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4039C0E6-B23F-FBA6-790D-05FD75E1159E}"/>
              </a:ext>
            </a:extLst>
          </p:cNvPr>
          <p:cNvSpPr/>
          <p:nvPr/>
        </p:nvSpPr>
        <p:spPr>
          <a:xfrm>
            <a:off x="3723147" y="3580831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E1FC84-E88B-6BA9-7046-6140D0CFC08A}"/>
              </a:ext>
            </a:extLst>
          </p:cNvPr>
          <p:cNvSpPr txBox="1"/>
          <p:nvPr/>
        </p:nvSpPr>
        <p:spPr>
          <a:xfrm>
            <a:off x="6290039" y="4162184"/>
            <a:ext cx="1571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Production (“Live”) server</a:t>
            </a:r>
          </a:p>
        </p:txBody>
      </p:sp>
      <p:sp>
        <p:nvSpPr>
          <p:cNvPr id="24" name="Rectangle: Folded Corner 23">
            <a:extLst>
              <a:ext uri="{FF2B5EF4-FFF2-40B4-BE49-F238E27FC236}">
                <a16:creationId xmlns:a16="http://schemas.microsoft.com/office/drawing/2014/main" id="{8892B199-DEC5-E540-097F-2115AB0B6EC5}"/>
              </a:ext>
            </a:extLst>
          </p:cNvPr>
          <p:cNvSpPr/>
          <p:nvPr/>
        </p:nvSpPr>
        <p:spPr>
          <a:xfrm>
            <a:off x="10373673" y="1037690"/>
            <a:ext cx="1489753" cy="1235036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Application Version 1.0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D23C40E5-F096-05E1-5610-B61B38868669}"/>
              </a:ext>
            </a:extLst>
          </p:cNvPr>
          <p:cNvSpPr/>
          <p:nvPr/>
        </p:nvSpPr>
        <p:spPr>
          <a:xfrm>
            <a:off x="9602984" y="1343651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26061DF-B8F9-1626-9255-129B6DC5AC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7260" y="2800585"/>
            <a:ext cx="2076729" cy="198846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37D2121-FE16-F5D2-B808-78E5D10468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4561264" y="2960148"/>
            <a:ext cx="1864479" cy="186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581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C4DAF-C148-8377-06B0-1FE40ED96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B5B14-8044-D8A2-520D-74E80C53E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19"/>
            <a:ext cx="10515600" cy="688369"/>
          </a:xfrm>
        </p:spPr>
        <p:txBody>
          <a:bodyPr>
            <a:normAutofit fontScale="90000"/>
          </a:bodyPr>
          <a:lstStyle/>
          <a:p>
            <a:r>
              <a:rPr lang="en-IN" dirty="0"/>
              <a:t>With Version Control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A11D31-0170-87E9-72C4-6D3D686E78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78478" y="838618"/>
            <a:ext cx="719444" cy="1434108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910140-829F-EAB8-30AE-22B7458E9D3E}"/>
              </a:ext>
            </a:extLst>
          </p:cNvPr>
          <p:cNvSpPr txBox="1"/>
          <p:nvPr/>
        </p:nvSpPr>
        <p:spPr>
          <a:xfrm>
            <a:off x="92467" y="2445249"/>
            <a:ext cx="1571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Developer 1</a:t>
            </a:r>
          </a:p>
        </p:txBody>
      </p: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0E924271-FDD7-E988-88EE-5437D35389E3}"/>
              </a:ext>
            </a:extLst>
          </p:cNvPr>
          <p:cNvSpPr/>
          <p:nvPr/>
        </p:nvSpPr>
        <p:spPr>
          <a:xfrm>
            <a:off x="2075380" y="1037690"/>
            <a:ext cx="1489753" cy="1235036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Application Version 1.0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969420C-3BB5-9DF9-2040-5463DB2E8A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035848" y="5090482"/>
            <a:ext cx="1864479" cy="1864479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6AA38AE1-0E67-829B-268E-DE848B84A3B3}"/>
              </a:ext>
            </a:extLst>
          </p:cNvPr>
          <p:cNvSpPr/>
          <p:nvPr/>
        </p:nvSpPr>
        <p:spPr>
          <a:xfrm>
            <a:off x="1304691" y="1343651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4E8F944-516C-31EA-B3EC-16CDA1575832}"/>
              </a:ext>
            </a:extLst>
          </p:cNvPr>
          <p:cNvSpPr/>
          <p:nvPr/>
        </p:nvSpPr>
        <p:spPr>
          <a:xfrm>
            <a:off x="3723147" y="1343651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A6DB00-7EA7-1B44-0D84-3E279DB846B6}"/>
              </a:ext>
            </a:extLst>
          </p:cNvPr>
          <p:cNvSpPr txBox="1"/>
          <p:nvPr/>
        </p:nvSpPr>
        <p:spPr>
          <a:xfrm>
            <a:off x="5807128" y="4693818"/>
            <a:ext cx="1571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Production (“Live”) server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198655E-47DC-CD2F-011A-E8891340CB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 flipH="1">
            <a:off x="460640" y="3221555"/>
            <a:ext cx="737282" cy="147226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479440D-E13A-A059-B0DB-0F6759A6F2E7}"/>
              </a:ext>
            </a:extLst>
          </p:cNvPr>
          <p:cNvSpPr txBox="1"/>
          <p:nvPr/>
        </p:nvSpPr>
        <p:spPr>
          <a:xfrm>
            <a:off x="92467" y="4916126"/>
            <a:ext cx="1571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Developer 2</a:t>
            </a:r>
          </a:p>
        </p:txBody>
      </p:sp>
      <p:sp>
        <p:nvSpPr>
          <p:cNvPr id="19" name="Rectangle: Folded Corner 18">
            <a:extLst>
              <a:ext uri="{FF2B5EF4-FFF2-40B4-BE49-F238E27FC236}">
                <a16:creationId xmlns:a16="http://schemas.microsoft.com/office/drawing/2014/main" id="{B99E2C17-44ED-4FE5-4451-4B1CBEA3AF02}"/>
              </a:ext>
            </a:extLst>
          </p:cNvPr>
          <p:cNvSpPr/>
          <p:nvPr/>
        </p:nvSpPr>
        <p:spPr>
          <a:xfrm>
            <a:off x="7233533" y="3190807"/>
            <a:ext cx="1489753" cy="1235036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Application Version 2.0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DC1E9EF6-E8CE-2F40-0C25-4372430D2A79}"/>
              </a:ext>
            </a:extLst>
          </p:cNvPr>
          <p:cNvSpPr/>
          <p:nvPr/>
        </p:nvSpPr>
        <p:spPr>
          <a:xfrm>
            <a:off x="1304691" y="3580831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44A9474A-3F42-F0E6-9E54-B9F8AF8357B1}"/>
              </a:ext>
            </a:extLst>
          </p:cNvPr>
          <p:cNvSpPr/>
          <p:nvPr/>
        </p:nvSpPr>
        <p:spPr>
          <a:xfrm>
            <a:off x="6296191" y="3551795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: Folded Corner 23">
            <a:extLst>
              <a:ext uri="{FF2B5EF4-FFF2-40B4-BE49-F238E27FC236}">
                <a16:creationId xmlns:a16="http://schemas.microsoft.com/office/drawing/2014/main" id="{FE9F3960-2581-DA46-02DD-8A6E086DC056}"/>
              </a:ext>
            </a:extLst>
          </p:cNvPr>
          <p:cNvSpPr/>
          <p:nvPr/>
        </p:nvSpPr>
        <p:spPr>
          <a:xfrm>
            <a:off x="4585741" y="3178230"/>
            <a:ext cx="1489753" cy="1235036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Application Version 1.0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D9FBE0C-2F41-2430-3B37-49E50324D0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6817" y="4797613"/>
            <a:ext cx="2076729" cy="19884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5D03491-334B-7EC2-B59A-F13EB680E29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4670309" y="551706"/>
            <a:ext cx="1518605" cy="2147308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9CD1C460-2BA3-4FA0-19EE-D3F50D34399A}"/>
              </a:ext>
            </a:extLst>
          </p:cNvPr>
          <p:cNvSpPr/>
          <p:nvPr/>
        </p:nvSpPr>
        <p:spPr>
          <a:xfrm>
            <a:off x="6233379" y="1351003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59A2066-85EF-6D01-ED07-C2CAD8CCE7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906909" y="677764"/>
            <a:ext cx="1864479" cy="186447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17D3A90-AF94-08E9-0EB1-DE94DE69AD5D}"/>
              </a:ext>
            </a:extLst>
          </p:cNvPr>
          <p:cNvSpPr txBox="1"/>
          <p:nvPr/>
        </p:nvSpPr>
        <p:spPr>
          <a:xfrm>
            <a:off x="8579632" y="1272848"/>
            <a:ext cx="1571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Production (“Live”) server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26F632-1EBF-84F3-014A-21C5094163CB}"/>
              </a:ext>
            </a:extLst>
          </p:cNvPr>
          <p:cNvSpPr txBox="1"/>
          <p:nvPr/>
        </p:nvSpPr>
        <p:spPr>
          <a:xfrm>
            <a:off x="4616968" y="2433276"/>
            <a:ext cx="1571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Repository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1EE525D-0A36-FD1B-35EC-EB7E79C2345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2101114" y="2768818"/>
            <a:ext cx="1518605" cy="214730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FB9322D-0882-61B0-1633-ACB983E9AEE6}"/>
              </a:ext>
            </a:extLst>
          </p:cNvPr>
          <p:cNvSpPr txBox="1"/>
          <p:nvPr/>
        </p:nvSpPr>
        <p:spPr>
          <a:xfrm>
            <a:off x="1101769" y="9075112"/>
            <a:ext cx="48500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10" tooltip="https://freepngimg.com/png/62418-database-icons-virtual-servers-computer-private-server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11" tooltip="https://creativecommons.org/licenses/by-nc/3.0/"/>
              </a:rPr>
              <a:t>CC BY-NC</a:t>
            </a:r>
            <a:endParaRPr lang="en-IN" sz="900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FF9F5839-218F-3CC4-2F12-D733ECA77AC4}"/>
              </a:ext>
            </a:extLst>
          </p:cNvPr>
          <p:cNvSpPr/>
          <p:nvPr/>
        </p:nvSpPr>
        <p:spPr>
          <a:xfrm>
            <a:off x="3664184" y="3568115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ACEB356-BD0D-4E18-E5A9-6428D2A404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9766664" y="2600084"/>
            <a:ext cx="1518605" cy="2147308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CD0D644F-C178-AA11-3003-7C2A2C282A1A}"/>
              </a:ext>
            </a:extLst>
          </p:cNvPr>
          <p:cNvSpPr txBox="1"/>
          <p:nvPr/>
        </p:nvSpPr>
        <p:spPr>
          <a:xfrm>
            <a:off x="9713323" y="4481654"/>
            <a:ext cx="1571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Repository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C6917B6A-3DAC-1FED-2F0F-EC03DA3A8D41}"/>
              </a:ext>
            </a:extLst>
          </p:cNvPr>
          <p:cNvSpPr/>
          <p:nvPr/>
        </p:nvSpPr>
        <p:spPr>
          <a:xfrm>
            <a:off x="8941184" y="3551794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1F05ED92-C536-CFE2-E970-1E051162037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128872" y="5100792"/>
            <a:ext cx="1518605" cy="2147308"/>
          </a:xfrm>
          <a:prstGeom prst="rect">
            <a:avLst/>
          </a:prstGeom>
        </p:spPr>
      </p:pic>
      <p:sp>
        <p:nvSpPr>
          <p:cNvPr id="36" name="Rectangle: Folded Corner 35">
            <a:extLst>
              <a:ext uri="{FF2B5EF4-FFF2-40B4-BE49-F238E27FC236}">
                <a16:creationId xmlns:a16="http://schemas.microsoft.com/office/drawing/2014/main" id="{13B25975-2286-9FCC-85E6-06D8806C14B7}"/>
              </a:ext>
            </a:extLst>
          </p:cNvPr>
          <p:cNvSpPr/>
          <p:nvPr/>
        </p:nvSpPr>
        <p:spPr>
          <a:xfrm>
            <a:off x="2641551" y="5417429"/>
            <a:ext cx="1489753" cy="1235036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Application Version 2.0</a:t>
            </a: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BFD124C7-68E3-0888-4521-4E518DE774E8}"/>
              </a:ext>
            </a:extLst>
          </p:cNvPr>
          <p:cNvSpPr/>
          <p:nvPr/>
        </p:nvSpPr>
        <p:spPr>
          <a:xfrm>
            <a:off x="1704209" y="5778417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FA625E2D-BB08-298C-87FC-3B508F20FB5C}"/>
              </a:ext>
            </a:extLst>
          </p:cNvPr>
          <p:cNvSpPr/>
          <p:nvPr/>
        </p:nvSpPr>
        <p:spPr>
          <a:xfrm>
            <a:off x="4349202" y="5778416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3685A29F-C29C-E293-8EC9-F57B3E7B13C3}"/>
              </a:ext>
            </a:extLst>
          </p:cNvPr>
          <p:cNvSpPr/>
          <p:nvPr/>
        </p:nvSpPr>
        <p:spPr>
          <a:xfrm>
            <a:off x="6952823" y="5865886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641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B6C79-FEE4-F496-252D-4C4F79F75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54803"/>
          </a:xfrm>
        </p:spPr>
        <p:txBody>
          <a:bodyPr>
            <a:normAutofit fontScale="90000"/>
          </a:bodyPr>
          <a:lstStyle/>
          <a:p>
            <a:r>
              <a:rPr lang="en-IN" dirty="0"/>
              <a:t>Centralized vs Distributed Version Control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99FD2418-996A-070A-10E7-5EA9F4E9E4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1206776"/>
              </p:ext>
            </p:extLst>
          </p:nvPr>
        </p:nvGraphicFramePr>
        <p:xfrm>
          <a:off x="205482" y="437163"/>
          <a:ext cx="11784459" cy="6460585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910994">
                  <a:extLst>
                    <a:ext uri="{9D8B030D-6E8A-4147-A177-3AD203B41FA5}">
                      <a16:colId xmlns:a16="http://schemas.microsoft.com/office/drawing/2014/main" val="1158734101"/>
                    </a:ext>
                  </a:extLst>
                </a:gridCol>
                <a:gridCol w="4839128">
                  <a:extLst>
                    <a:ext uri="{9D8B030D-6E8A-4147-A177-3AD203B41FA5}">
                      <a16:colId xmlns:a16="http://schemas.microsoft.com/office/drawing/2014/main" val="391703967"/>
                    </a:ext>
                  </a:extLst>
                </a:gridCol>
                <a:gridCol w="5034337">
                  <a:extLst>
                    <a:ext uri="{9D8B030D-6E8A-4147-A177-3AD203B41FA5}">
                      <a16:colId xmlns:a16="http://schemas.microsoft.com/office/drawing/2014/main" val="3527819657"/>
                    </a:ext>
                  </a:extLst>
                </a:gridCol>
              </a:tblGrid>
              <a:tr h="259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Feature</a:t>
                      </a:r>
                      <a:endParaRPr lang="en-IN" sz="2400"/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Centralized Version Control (CVCS)</a:t>
                      </a:r>
                      <a:endParaRPr lang="en-IN" sz="2400"/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Distributed Version Control (DVCS)</a:t>
                      </a:r>
                      <a:endParaRPr lang="en-IN" sz="2400"/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6733534"/>
                  </a:ext>
                </a:extLst>
              </a:tr>
              <a:tr h="454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Repository</a:t>
                      </a:r>
                      <a:endParaRPr lang="en-IN" sz="2400"/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One central repository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Full repository on every developer's machine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5492644"/>
                  </a:ext>
                </a:extLst>
              </a:tr>
              <a:tr h="454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Internet / Network</a:t>
                      </a:r>
                      <a:endParaRPr lang="en-IN" sz="2400"/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Usually required for commit and synchronization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Usually not required for most operations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3743426"/>
                  </a:ext>
                </a:extLst>
              </a:tr>
              <a:tr h="454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History</a:t>
                      </a:r>
                      <a:endParaRPr lang="en-IN" sz="2400"/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Stored mainly on the central server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Full history stored on every developer's machine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927765"/>
                  </a:ext>
                </a:extLst>
              </a:tr>
              <a:tr h="454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Speed</a:t>
                      </a:r>
                      <a:endParaRPr lang="en-IN" sz="2400"/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Depends on server/network communication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Most operations are local and faster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815700"/>
                  </a:ext>
                </a:extLst>
              </a:tr>
              <a:tr h="454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Backup</a:t>
                      </a:r>
                      <a:endParaRPr lang="en-IN" sz="2400"/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Depends heavily on the central server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Multiple copies provide redundancy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0159309"/>
                  </a:ext>
                </a:extLst>
              </a:tr>
              <a:tr h="454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Collaboration</a:t>
                      </a:r>
                      <a:endParaRPr lang="en-IN" sz="2400"/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Developers depend on the central server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Developers can work independently and merge later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4674933"/>
                  </a:ext>
                </a:extLst>
              </a:tr>
              <a:tr h="259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Offline Work</a:t>
                      </a:r>
                      <a:endParaRPr lang="en-IN" sz="2400"/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Limited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Fully supported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7024498"/>
                  </a:ext>
                </a:extLst>
              </a:tr>
              <a:tr h="6494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Examples</a:t>
                      </a:r>
                      <a:endParaRPr lang="en-IN" sz="2400" dirty="0"/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CVS, Subversion (SVN), Perforce, ClearCase, Visual SourceSafe (VSS), TFVC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Git, Mercurial, Bazaar, </a:t>
                      </a:r>
                      <a:r>
                        <a:rPr lang="en-IN" sz="2400" dirty="0" err="1"/>
                        <a:t>Darcs</a:t>
                      </a:r>
                      <a:r>
                        <a:rPr lang="en-IN" sz="2400" dirty="0"/>
                        <a:t>, Fossil, Monotone, GNU Arch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5758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633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20B4F-EDE6-7618-9711-C21342E79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839"/>
            <a:ext cx="10515600" cy="595900"/>
          </a:xfrm>
        </p:spPr>
        <p:txBody>
          <a:bodyPr>
            <a:normAutofit fontScale="90000"/>
          </a:bodyPr>
          <a:lstStyle/>
          <a:p>
            <a:r>
              <a:rPr lang="en-IN" dirty="0"/>
              <a:t>Git and GitHub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A7F4652-9538-BAE5-08F7-3482C77123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443474"/>
              </p:ext>
            </p:extLst>
          </p:nvPr>
        </p:nvGraphicFramePr>
        <p:xfrm>
          <a:off x="226031" y="894902"/>
          <a:ext cx="11527604" cy="566928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5568594">
                  <a:extLst>
                    <a:ext uri="{9D8B030D-6E8A-4147-A177-3AD203B41FA5}">
                      <a16:colId xmlns:a16="http://schemas.microsoft.com/office/drawing/2014/main" val="354736781"/>
                    </a:ext>
                  </a:extLst>
                </a:gridCol>
                <a:gridCol w="5959010">
                  <a:extLst>
                    <a:ext uri="{9D8B030D-6E8A-4147-A177-3AD203B41FA5}">
                      <a16:colId xmlns:a16="http://schemas.microsoft.com/office/drawing/2014/main" val="36819809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Git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GitHub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6563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Distributed Version Control System (DVCS)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Cloud-based platform for Git repositories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1411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Tracks changes in source code and files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Hosts Git repositories online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0867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Runs locally on your computer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Provides online storage and collaboration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026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Maintains complete version history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Helps teams manage projects and contributions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3324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Supports branching and merging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Provides Pull Requests, Issues, and Code Reviews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2440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Works offline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Enables collaboration from different locations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6079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Fast local operations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Provides web-based project management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3681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Used through commands/tools such as git commit, git branch, git merge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Provides a web interface and collaboration 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8128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Git is the version control technology</a:t>
                      </a:r>
                      <a:endParaRPr 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GitHub is a platform built around Git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92480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338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94B56-0D03-D162-9B3D-65281BF1E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Git Steps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0E91E2-6992-D7F5-5E15-EBE3709D6B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7751" y="222856"/>
            <a:ext cx="6949291" cy="6350763"/>
          </a:xfrm>
        </p:spPr>
      </p:pic>
    </p:spTree>
    <p:extLst>
      <p:ext uri="{BB962C8B-B14F-4D97-AF65-F5344CB8AC3E}">
        <p14:creationId xmlns:p14="http://schemas.microsoft.com/office/powerpoint/2010/main" val="1042054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A473A-9492-7F78-066B-DB7B9D5E6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Git Areas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2D73FA-3FBB-76E8-952D-B7F02E5F0D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5401"/>
            <a:ext cx="12192000" cy="4478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650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61B90-6B0D-4775-BDBF-E71B32353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a GitHub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061BF-8286-59C8-6075-1208B6B34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Go to https://github.com and log in to your account</a:t>
            </a:r>
          </a:p>
          <a:p>
            <a:r>
              <a:rPr lang="en-US" dirty="0"/>
              <a:t>Click the “+” icon at the top-right corner</a:t>
            </a:r>
          </a:p>
          <a:p>
            <a:r>
              <a:rPr lang="en-US" dirty="0"/>
              <a:t>Select New repository.</a:t>
            </a:r>
          </a:p>
          <a:p>
            <a:r>
              <a:rPr lang="en-US" dirty="0"/>
              <a:t>Enter the Repository name (example: demo)</a:t>
            </a:r>
          </a:p>
          <a:p>
            <a:r>
              <a:rPr lang="en-US" dirty="0"/>
              <a:t>Do not change anything else</a:t>
            </a:r>
          </a:p>
          <a:p>
            <a:r>
              <a:rPr lang="en-US" dirty="0"/>
              <a:t>GitHub will create the repository</a:t>
            </a:r>
          </a:p>
          <a:p>
            <a:r>
              <a:rPr lang="en-US" dirty="0"/>
              <a:t>We can now clone, add files, commit, and push code to this repository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5703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9F9E4-49E4-5FC9-33DA-11A3655CA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Local Repository – Two Commands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957DA55-8CC3-0F29-90AC-864AA6EE7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git </a:t>
            </a:r>
            <a:r>
              <a:rPr lang="en-US" b="1" dirty="0" err="1"/>
              <a:t>init</a:t>
            </a:r>
            <a:r>
              <a:rPr lang="en-US" b="1" dirty="0"/>
              <a:t> </a:t>
            </a:r>
            <a:r>
              <a:rPr lang="en-US" dirty="0"/>
              <a:t>command (Use to start a new project)</a:t>
            </a:r>
          </a:p>
          <a:p>
            <a:pPr lvl="1"/>
            <a:r>
              <a:rPr lang="en-US" dirty="0"/>
              <a:t>Creates a new, empty Git repository in an existing project directory</a:t>
            </a:r>
          </a:p>
          <a:p>
            <a:pPr lvl="1"/>
            <a:r>
              <a:rPr lang="en-US" dirty="0"/>
              <a:t>We start the project locally and then connect it to a remote repository if needed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git clone </a:t>
            </a:r>
            <a:r>
              <a:rPr lang="en-US" dirty="0"/>
              <a:t>command (Use for an existing project)</a:t>
            </a:r>
          </a:p>
          <a:p>
            <a:pPr lvl="1"/>
            <a:r>
              <a:rPr lang="en-US" dirty="0"/>
              <a:t>Creates a local copy of an existing remote repository, including its files and Git history</a:t>
            </a:r>
          </a:p>
          <a:p>
            <a:pPr lvl="1"/>
            <a:r>
              <a:rPr lang="en-US" dirty="0"/>
              <a:t>It also automatically sets up the remote repository as origin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6819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74571-748B-E61C-86DB-F6111929A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Set Up Git to Work With 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B23E0-D42F-AB97-E941-E01AF3891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Before using Git, tell Git who you are - This information is stored with every commit you create</a:t>
            </a:r>
            <a:endParaRPr lang="en-IN" sz="3200" dirty="0"/>
          </a:p>
          <a:p>
            <a:endParaRPr lang="en-IN" sz="3200" dirty="0"/>
          </a:p>
          <a:p>
            <a:r>
              <a:rPr lang="en-IN" sz="3200" dirty="0"/>
              <a:t>git   config   --global   user.name   “</a:t>
            </a:r>
            <a:r>
              <a:rPr lang="en-IN" sz="3200" dirty="0">
                <a:highlight>
                  <a:srgbClr val="FFFF00"/>
                </a:highlight>
              </a:rPr>
              <a:t>Atul Kahate</a:t>
            </a:r>
            <a:r>
              <a:rPr lang="en-IN" sz="3200" dirty="0"/>
              <a:t>“</a:t>
            </a:r>
          </a:p>
          <a:p>
            <a:endParaRPr lang="en-IN" sz="3200" dirty="0"/>
          </a:p>
          <a:p>
            <a:r>
              <a:rPr lang="en-IN" sz="3200" dirty="0"/>
              <a:t>git   config   --global   </a:t>
            </a:r>
            <a:r>
              <a:rPr lang="en-IN" sz="3200" dirty="0" err="1"/>
              <a:t>user.email</a:t>
            </a:r>
            <a:r>
              <a:rPr lang="en-IN" sz="3200" dirty="0"/>
              <a:t>   “</a:t>
            </a:r>
            <a:r>
              <a:rPr lang="en-IN" sz="3200" dirty="0">
                <a:highlight>
                  <a:srgbClr val="FFFF00"/>
                </a:highlight>
              </a:rPr>
              <a:t>newdelthis@gmail.com</a:t>
            </a:r>
            <a:r>
              <a:rPr lang="en-IN" sz="3200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941166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F0225-A810-BA3C-4303-A36E6CA11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Generating a Personal Access Token (PAT)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F3228-12F7-D43E-3245-157C4834E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Log in to GitHub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Click on your profile icon (top-right corner)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Select Settings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 the left sidebar, click Developer settings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Click Personal access tokens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Select Tokens (classic)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Click Generate new token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Enter a token name (description)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Set the expiration period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Select required permissions (scopes) such as repo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Click Generate token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Copy and store the token immediately (it will not be shown again)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 this PAT instead of your GitHub password when performing operations like git push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7981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850D1-543B-0506-5954-64D6B13D4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On the Local Machine (Git) Terminal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503E9-07E7-B738-DF4D-022843902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cd ~</a:t>
            </a:r>
          </a:p>
          <a:p>
            <a:r>
              <a:rPr lang="en-IN" b="1" dirty="0"/>
              <a:t>git   clone   </a:t>
            </a:r>
            <a:r>
              <a:rPr lang="en-IN" b="1" dirty="0">
                <a:highlight>
                  <a:srgbClr val="FFFF00"/>
                </a:highlight>
              </a:rPr>
              <a:t>https://github.com/newdelthis/demo.git</a:t>
            </a:r>
          </a:p>
          <a:p>
            <a:r>
              <a:rPr lang="en-IN" b="1" dirty="0"/>
              <a:t>cd   demo</a:t>
            </a:r>
          </a:p>
          <a:p>
            <a:r>
              <a:rPr lang="en-IN" b="1" dirty="0"/>
              <a:t>nano   Hello.java</a:t>
            </a:r>
          </a:p>
          <a:p>
            <a:r>
              <a:rPr lang="en-IN" b="1" dirty="0"/>
              <a:t>git   status</a:t>
            </a:r>
          </a:p>
          <a:p>
            <a:r>
              <a:rPr lang="en-IN" b="1" dirty="0"/>
              <a:t>git   add    Hello.java</a:t>
            </a:r>
          </a:p>
          <a:p>
            <a:r>
              <a:rPr lang="en-US" b="1" dirty="0"/>
              <a:t>git   commit     -m           "Added Hello.java“</a:t>
            </a:r>
          </a:p>
          <a:p>
            <a:r>
              <a:rPr lang="en-IN" b="1" dirty="0"/>
              <a:t>git   push    origin     main</a:t>
            </a:r>
          </a:p>
        </p:txBody>
      </p:sp>
    </p:spTree>
    <p:extLst>
      <p:ext uri="{BB962C8B-B14F-4D97-AF65-F5344CB8AC3E}">
        <p14:creationId xmlns:p14="http://schemas.microsoft.com/office/powerpoint/2010/main" val="2328013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C28BA-7D4D-5B2C-9223-17C2627FF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95900"/>
          </a:xfrm>
        </p:spPr>
        <p:txBody>
          <a:bodyPr>
            <a:normAutofit fontScale="90000"/>
          </a:bodyPr>
          <a:lstStyle/>
          <a:p>
            <a:r>
              <a:rPr lang="en-IN" dirty="0"/>
              <a:t>Miscellaneous Git Commands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01ABF5C-CB16-8E63-CAE7-11164EC541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9971309"/>
              </p:ext>
            </p:extLst>
          </p:nvPr>
        </p:nvGraphicFramePr>
        <p:xfrm>
          <a:off x="460624" y="595901"/>
          <a:ext cx="11270751" cy="6203048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2198670">
                  <a:extLst>
                    <a:ext uri="{9D8B030D-6E8A-4147-A177-3AD203B41FA5}">
                      <a16:colId xmlns:a16="http://schemas.microsoft.com/office/drawing/2014/main" val="3338937749"/>
                    </a:ext>
                  </a:extLst>
                </a:gridCol>
                <a:gridCol w="5315164">
                  <a:extLst>
                    <a:ext uri="{9D8B030D-6E8A-4147-A177-3AD203B41FA5}">
                      <a16:colId xmlns:a16="http://schemas.microsoft.com/office/drawing/2014/main" val="1083856481"/>
                    </a:ext>
                  </a:extLst>
                </a:gridCol>
                <a:gridCol w="3756917">
                  <a:extLst>
                    <a:ext uri="{9D8B030D-6E8A-4147-A177-3AD203B41FA5}">
                      <a16:colId xmlns:a16="http://schemas.microsoft.com/office/drawing/2014/main" val="3354489648"/>
                    </a:ext>
                  </a:extLst>
                </a:gridCol>
              </a:tblGrid>
              <a:tr h="238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Command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Purpose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Example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1545858"/>
                  </a:ext>
                </a:extLst>
              </a:tr>
              <a:tr h="238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status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Show current state of repository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status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2713100"/>
                  </a:ext>
                </a:extLst>
              </a:tr>
              <a:tr h="238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log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Show commit history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log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8221279"/>
                  </a:ext>
                </a:extLst>
              </a:tr>
              <a:tr h="238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diff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Show differences between files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diff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3240345"/>
                  </a:ext>
                </a:extLst>
              </a:tr>
              <a:tr h="417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pull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Fetch and merge updates from remote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git pull origin main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1918129"/>
                  </a:ext>
                </a:extLst>
              </a:tr>
              <a:tr h="417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fetch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Download changes without merging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fetch origin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2855841"/>
                  </a:ext>
                </a:extLst>
              </a:tr>
              <a:tr h="238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remote -v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Show remote repositories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remote -v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8495552"/>
                  </a:ext>
                </a:extLst>
              </a:tr>
              <a:tr h="238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reset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Undo staging or commits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reset file1.txt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2388305"/>
                  </a:ext>
                </a:extLst>
              </a:tr>
              <a:tr h="238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git rm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Remove a file from repository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rm file1.txt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991661"/>
                  </a:ext>
                </a:extLst>
              </a:tr>
              <a:tr h="238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stash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Temporarily save changes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stash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1735115"/>
                  </a:ext>
                </a:extLst>
              </a:tr>
              <a:tr h="238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stash pop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Restore stashed changes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git stash pop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7743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28586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0B006-DEE6-334A-55B9-40BDA9F70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Branch and Merge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380EB5-57FB-69B8-A306-802C60B3F9A9}"/>
              </a:ext>
            </a:extLst>
          </p:cNvPr>
          <p:cNvSpPr txBox="1"/>
          <p:nvPr/>
        </p:nvSpPr>
        <p:spPr>
          <a:xfrm>
            <a:off x="5917914" y="490359"/>
            <a:ext cx="2239767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Original “main” Repository on GitHub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BB9F60-B672-6565-E80C-EE41BD515050}"/>
              </a:ext>
            </a:extLst>
          </p:cNvPr>
          <p:cNvSpPr txBox="1"/>
          <p:nvPr/>
        </p:nvSpPr>
        <p:spPr>
          <a:xfrm>
            <a:off x="2731213" y="2307173"/>
            <a:ext cx="1849349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Branch D-1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9A51C5-15C9-573A-58BB-97E71746594A}"/>
              </a:ext>
            </a:extLst>
          </p:cNvPr>
          <p:cNvSpPr txBox="1"/>
          <p:nvPr/>
        </p:nvSpPr>
        <p:spPr>
          <a:xfrm>
            <a:off x="8924817" y="2307173"/>
            <a:ext cx="1849349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Branch D-2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A850CE-6BBA-FC7D-24B7-71AF454B94CC}"/>
              </a:ext>
            </a:extLst>
          </p:cNvPr>
          <p:cNvSpPr txBox="1"/>
          <p:nvPr/>
        </p:nvSpPr>
        <p:spPr>
          <a:xfrm>
            <a:off x="6096000" y="3507537"/>
            <a:ext cx="1849349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Merge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206F87-F9A5-5F94-7230-6AD6B086DCE5}"/>
              </a:ext>
            </a:extLst>
          </p:cNvPr>
          <p:cNvSpPr txBox="1"/>
          <p:nvPr/>
        </p:nvSpPr>
        <p:spPr>
          <a:xfrm>
            <a:off x="6095999" y="4423062"/>
            <a:ext cx="1849349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Merge into “main” branch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9B9C018-8266-FFD3-C5AE-BC91F2EF4F1E}"/>
              </a:ext>
            </a:extLst>
          </p:cNvPr>
          <p:cNvCxnSpPr>
            <a:cxnSpLocks/>
          </p:cNvCxnSpPr>
          <p:nvPr/>
        </p:nvCxnSpPr>
        <p:spPr>
          <a:xfrm flipH="1">
            <a:off x="7037797" y="1680414"/>
            <a:ext cx="1" cy="4052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36CB433-1C6B-F96C-2744-1DF35D2977BB}"/>
              </a:ext>
            </a:extLst>
          </p:cNvPr>
          <p:cNvCxnSpPr/>
          <p:nvPr/>
        </p:nvCxnSpPr>
        <p:spPr>
          <a:xfrm>
            <a:off x="3760342" y="2075380"/>
            <a:ext cx="62569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14FD0FE-A29E-4F4D-4DA4-24235C1C7271}"/>
              </a:ext>
            </a:extLst>
          </p:cNvPr>
          <p:cNvCxnSpPr/>
          <p:nvPr/>
        </p:nvCxnSpPr>
        <p:spPr>
          <a:xfrm>
            <a:off x="3760342" y="2075380"/>
            <a:ext cx="0" cy="2317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F7D9F0B-C592-7335-CFD8-83522DA19725}"/>
              </a:ext>
            </a:extLst>
          </p:cNvPr>
          <p:cNvCxnSpPr/>
          <p:nvPr/>
        </p:nvCxnSpPr>
        <p:spPr>
          <a:xfrm>
            <a:off x="10017303" y="2075379"/>
            <a:ext cx="0" cy="2317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0A415CF-488A-A1C8-413F-8B9F8C268A04}"/>
              </a:ext>
            </a:extLst>
          </p:cNvPr>
          <p:cNvCxnSpPr>
            <a:cxnSpLocks/>
          </p:cNvCxnSpPr>
          <p:nvPr/>
        </p:nvCxnSpPr>
        <p:spPr>
          <a:xfrm>
            <a:off x="3738084" y="2751764"/>
            <a:ext cx="0" cy="3390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FE40329-E3E0-72E2-1F92-ADA2DAD168E1}"/>
              </a:ext>
            </a:extLst>
          </p:cNvPr>
          <p:cNvCxnSpPr/>
          <p:nvPr/>
        </p:nvCxnSpPr>
        <p:spPr>
          <a:xfrm>
            <a:off x="3738084" y="3090809"/>
            <a:ext cx="62569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B47E3DD-7F26-6E18-34CF-32D3647459DB}"/>
              </a:ext>
            </a:extLst>
          </p:cNvPr>
          <p:cNvCxnSpPr>
            <a:cxnSpLocks/>
          </p:cNvCxnSpPr>
          <p:nvPr/>
        </p:nvCxnSpPr>
        <p:spPr>
          <a:xfrm>
            <a:off x="10003607" y="2743203"/>
            <a:ext cx="0" cy="3390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8263131-0B8E-EF78-850C-859D379F3232}"/>
              </a:ext>
            </a:extLst>
          </p:cNvPr>
          <p:cNvCxnSpPr>
            <a:cxnSpLocks/>
          </p:cNvCxnSpPr>
          <p:nvPr/>
        </p:nvCxnSpPr>
        <p:spPr>
          <a:xfrm flipH="1">
            <a:off x="7037797" y="3106291"/>
            <a:ext cx="1" cy="4052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F44A006-6EC2-9B6E-6082-4E7A9BF84356}"/>
              </a:ext>
            </a:extLst>
          </p:cNvPr>
          <p:cNvCxnSpPr>
            <a:cxnSpLocks/>
          </p:cNvCxnSpPr>
          <p:nvPr/>
        </p:nvCxnSpPr>
        <p:spPr>
          <a:xfrm flipH="1">
            <a:off x="7037797" y="3997274"/>
            <a:ext cx="1" cy="4052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2811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50740-F3AB-D3B0-9D38-C36B76764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Branch and Merge Example – Basic Setup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F08140C-B830-8313-B278-DB5D50D7A1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69248655"/>
              </p:ext>
            </p:extLst>
          </p:nvPr>
        </p:nvGraphicFramePr>
        <p:xfrm>
          <a:off x="523987" y="1598310"/>
          <a:ext cx="11435132" cy="51205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832202">
                  <a:extLst>
                    <a:ext uri="{9D8B030D-6E8A-4147-A177-3AD203B41FA5}">
                      <a16:colId xmlns:a16="http://schemas.microsoft.com/office/drawing/2014/main" val="3279800205"/>
                    </a:ext>
                  </a:extLst>
                </a:gridCol>
                <a:gridCol w="1890445">
                  <a:extLst>
                    <a:ext uri="{9D8B030D-6E8A-4147-A177-3AD203B41FA5}">
                      <a16:colId xmlns:a16="http://schemas.microsoft.com/office/drawing/2014/main" val="3225141196"/>
                    </a:ext>
                  </a:extLst>
                </a:gridCol>
                <a:gridCol w="8712485">
                  <a:extLst>
                    <a:ext uri="{9D8B030D-6E8A-4147-A177-3AD203B41FA5}">
                      <a16:colId xmlns:a16="http://schemas.microsoft.com/office/drawing/2014/main" val="676223401"/>
                    </a:ext>
                  </a:extLst>
                </a:gridCol>
              </a:tblGrid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Step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Action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Command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979652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1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Create a new repo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In GitHub, create a new repo named branch-test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8147619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2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Clone it on the Linux machine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cd    ~</a:t>
                      </a:r>
                    </a:p>
                    <a:p>
                      <a:pPr>
                        <a:buNone/>
                      </a:pPr>
                      <a:r>
                        <a:rPr lang="en-IN" sz="2800" b="1" dirty="0"/>
                        <a:t>git clone </a:t>
                      </a:r>
                      <a:r>
                        <a:rPr lang="en-IN" sz="2800" b="1" dirty="0">
                          <a:hlinkClick r:id="rId2"/>
                        </a:rPr>
                        <a:t>https://github.com/</a:t>
                      </a:r>
                      <a:r>
                        <a:rPr lang="en-IN" sz="2800" b="1" dirty="0">
                          <a:highlight>
                            <a:srgbClr val="FFFF00"/>
                          </a:highlight>
                          <a:hlinkClick r:id="rId2"/>
                        </a:rPr>
                        <a:t>newdelthis</a:t>
                      </a:r>
                      <a:r>
                        <a:rPr lang="en-IN" sz="2800" b="1" dirty="0">
                          <a:hlinkClick r:id="rId2"/>
                        </a:rPr>
                        <a:t>/branch-test.git</a:t>
                      </a:r>
                      <a:endParaRPr lang="en-IN" sz="2800" b="1" dirty="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2302764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3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Create hello.py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cd    branch-test </a:t>
                      </a:r>
                    </a:p>
                    <a:p>
                      <a:pPr>
                        <a:buNone/>
                      </a:pPr>
                      <a:r>
                        <a:rPr lang="en-IN" sz="2800" b="1" dirty="0"/>
                        <a:t>n</a:t>
                      </a:r>
                      <a:r>
                        <a:rPr lang="en-IN" sz="2800" b="1"/>
                        <a:t>ano    </a:t>
                      </a:r>
                      <a:r>
                        <a:rPr lang="en-IN" sz="2800" b="1" dirty="0"/>
                        <a:t>hello.py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4140653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4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Push it to GitHub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git     add      .</a:t>
                      </a:r>
                    </a:p>
                    <a:p>
                      <a:pPr>
                        <a:buNone/>
                      </a:pPr>
                      <a:r>
                        <a:rPr lang="en-IN" sz="2800" b="1" dirty="0"/>
                        <a:t>git      commit       -m        “Branch test – First commit”</a:t>
                      </a:r>
                    </a:p>
                    <a:p>
                      <a:pPr>
                        <a:buNone/>
                      </a:pPr>
                      <a:r>
                        <a:rPr lang="en-IN" sz="2800" b="1" dirty="0"/>
                        <a:t>git     push           origin             main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3269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60802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22173-E481-463F-7268-653ADBA4C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29464"/>
          </a:xfrm>
        </p:spPr>
        <p:txBody>
          <a:bodyPr/>
          <a:lstStyle/>
          <a:p>
            <a:r>
              <a:rPr lang="en-IN" dirty="0"/>
              <a:t>Branch and Merge Example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38E263E-37A2-A9F8-FCFA-A1EBBDF8FD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2221818"/>
              </p:ext>
            </p:extLst>
          </p:nvPr>
        </p:nvGraphicFramePr>
        <p:xfrm>
          <a:off x="359601" y="729465"/>
          <a:ext cx="11178279" cy="497424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881000">
                  <a:extLst>
                    <a:ext uri="{9D8B030D-6E8A-4147-A177-3AD203B41FA5}">
                      <a16:colId xmlns:a16="http://schemas.microsoft.com/office/drawing/2014/main" val="3279800205"/>
                    </a:ext>
                  </a:extLst>
                </a:gridCol>
                <a:gridCol w="3547156">
                  <a:extLst>
                    <a:ext uri="{9D8B030D-6E8A-4147-A177-3AD203B41FA5}">
                      <a16:colId xmlns:a16="http://schemas.microsoft.com/office/drawing/2014/main" val="3225141196"/>
                    </a:ext>
                  </a:extLst>
                </a:gridCol>
                <a:gridCol w="6750123">
                  <a:extLst>
                    <a:ext uri="{9D8B030D-6E8A-4147-A177-3AD203B41FA5}">
                      <a16:colId xmlns:a16="http://schemas.microsoft.com/office/drawing/2014/main" val="676223401"/>
                    </a:ext>
                  </a:extLst>
                </a:gridCol>
              </a:tblGrid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Step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Action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Command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979652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1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Create branches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(-b means create)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git   checkout    -b       d-1</a:t>
                      </a:r>
                    </a:p>
                    <a:p>
                      <a:pPr>
                        <a:buNone/>
                      </a:pPr>
                      <a:r>
                        <a:rPr lang="en-IN" sz="2800" b="1" dirty="0"/>
                        <a:t>git   checkout    -b       d-2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2302764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2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Switch to d-1 branch and complete developer 1’s work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/>
                        <a:t>git   checkout         d-1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/>
                        <a:t>nano   hello.py   </a:t>
                      </a:r>
                      <a:r>
                        <a:rPr lang="en-IN" sz="2800" b="0" dirty="0">
                          <a:solidFill>
                            <a:srgbClr val="7030A0"/>
                          </a:solidFill>
                        </a:rPr>
                        <a:t>Edit the line and add a line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/>
                        <a:t>git    add     hello.py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git   commit   -m   "Developer-1 hello.py"</a:t>
                      </a:r>
                      <a:endParaRPr lang="en-IN" sz="2800" b="1" dirty="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153457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3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Repeat for Developer 2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/>
                        <a:t>git   checkout         d-2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/>
                        <a:t>nano   hello.py   </a:t>
                      </a:r>
                      <a:r>
                        <a:rPr lang="en-IN" sz="2800" b="0" dirty="0">
                          <a:solidFill>
                            <a:srgbClr val="7030A0"/>
                          </a:solidFill>
                        </a:rPr>
                        <a:t>Edit the line and add a line</a:t>
                      </a:r>
                      <a:endParaRPr lang="en-IN" sz="2800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/>
                        <a:t>git    add     hello.py 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git   commit   -m   "Developer-2 hello.py"</a:t>
                      </a:r>
                      <a:endParaRPr lang="en-IN" sz="2800" b="1" dirty="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41406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81068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7C698-F8C6-DE23-A16C-BFDB777DD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7F3D5-351C-2BCB-F080-2C59839EB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468"/>
            <a:ext cx="10515600" cy="739740"/>
          </a:xfrm>
        </p:spPr>
        <p:txBody>
          <a:bodyPr/>
          <a:lstStyle/>
          <a:p>
            <a:r>
              <a:rPr lang="en-IN" dirty="0"/>
              <a:t>Branch and Merge Example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E058A5F-915D-B107-A966-764EB539F9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7144808"/>
              </p:ext>
            </p:extLst>
          </p:nvPr>
        </p:nvGraphicFramePr>
        <p:xfrm>
          <a:off x="184935" y="752092"/>
          <a:ext cx="11763910" cy="569976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1004750">
                  <a:extLst>
                    <a:ext uri="{9D8B030D-6E8A-4147-A177-3AD203B41FA5}">
                      <a16:colId xmlns:a16="http://schemas.microsoft.com/office/drawing/2014/main" val="1532268951"/>
                    </a:ext>
                  </a:extLst>
                </a:gridCol>
                <a:gridCol w="4759052">
                  <a:extLst>
                    <a:ext uri="{9D8B030D-6E8A-4147-A177-3AD203B41FA5}">
                      <a16:colId xmlns:a16="http://schemas.microsoft.com/office/drawing/2014/main" val="1004746342"/>
                    </a:ext>
                  </a:extLst>
                </a:gridCol>
                <a:gridCol w="6000108">
                  <a:extLst>
                    <a:ext uri="{9D8B030D-6E8A-4147-A177-3AD203B41FA5}">
                      <a16:colId xmlns:a16="http://schemas.microsoft.com/office/drawing/2014/main" val="40563562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Commands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431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Try merging d-1 branch into d-2 branch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git   merge   d-1      </a:t>
                      </a:r>
                      <a:r>
                        <a:rPr lang="en-US" sz="2800" b="1" dirty="0">
                          <a:solidFill>
                            <a:srgbClr val="FF0000"/>
                          </a:solidFill>
                        </a:rPr>
                        <a:t>ERROR!</a:t>
                      </a:r>
                    </a:p>
                    <a:p>
                      <a:pPr>
                        <a:buNone/>
                      </a:pPr>
                      <a:endParaRPr lang="en-US" sz="2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979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Edit </a:t>
                      </a:r>
                      <a:r>
                        <a:rPr lang="en-IN" sz="2400"/>
                        <a:t>hello.py </a:t>
                      </a:r>
                      <a:r>
                        <a:rPr lang="en-IN" sz="2400" dirty="0"/>
                        <a:t>and resolve conflicts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nano hello.py    </a:t>
                      </a:r>
                      <a:r>
                        <a:rPr lang="en-US" sz="2800" b="0" dirty="0"/>
                        <a:t>and resolve conflicts</a:t>
                      </a:r>
                      <a:endParaRPr lang="en-US" sz="28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4488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Again add and commit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/>
                        <a:t>git   add   hello.py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git   commit -m “Conflict handled”</a:t>
                      </a:r>
                      <a:endParaRPr lang="en-US" sz="2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744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Try merging again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git   merge   d-1        </a:t>
                      </a:r>
                      <a:r>
                        <a:rPr lang="en-US" sz="2800" b="1" dirty="0">
                          <a:solidFill>
                            <a:srgbClr val="FF0000"/>
                          </a:solidFill>
                        </a:rPr>
                        <a:t>OK!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4383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Switch to main and merge branch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git   checkout   main</a:t>
                      </a:r>
                    </a:p>
                    <a:p>
                      <a:pPr>
                        <a:buNone/>
                      </a:pPr>
                      <a:r>
                        <a:rPr lang="en-US" sz="2800" b="1" dirty="0"/>
                        <a:t>git   merge   d-2</a:t>
                      </a:r>
                    </a:p>
                    <a:p>
                      <a:pPr>
                        <a:buNone/>
                      </a:pPr>
                      <a:r>
                        <a:rPr lang="en-US" sz="2800" b="1" dirty="0"/>
                        <a:t>git   push  origin   main</a:t>
                      </a:r>
                      <a:endParaRPr lang="en-US" sz="2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7482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Remove other branches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git   branch   -d   d-1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/>
                        <a:t>git   branch   -d   d-2</a:t>
                      </a:r>
                      <a:endParaRPr lang="en-US" sz="2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7918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6358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D2406-3500-D26B-AE60-03FAC6891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Branch and Merge Commands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A22C238-A758-C9B0-D9FB-B1629F47E6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3146391"/>
              </p:ext>
            </p:extLst>
          </p:nvPr>
        </p:nvGraphicFramePr>
        <p:xfrm>
          <a:off x="285964" y="1561238"/>
          <a:ext cx="11620071" cy="4742046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873357">
                  <a:extLst>
                    <a:ext uri="{9D8B030D-6E8A-4147-A177-3AD203B41FA5}">
                      <a16:colId xmlns:a16="http://schemas.microsoft.com/office/drawing/2014/main" val="2575282651"/>
                    </a:ext>
                  </a:extLst>
                </a:gridCol>
                <a:gridCol w="4049418">
                  <a:extLst>
                    <a:ext uri="{9D8B030D-6E8A-4147-A177-3AD203B41FA5}">
                      <a16:colId xmlns:a16="http://schemas.microsoft.com/office/drawing/2014/main" val="1733471545"/>
                    </a:ext>
                  </a:extLst>
                </a:gridCol>
                <a:gridCol w="3697296">
                  <a:extLst>
                    <a:ext uri="{9D8B030D-6E8A-4147-A177-3AD203B41FA5}">
                      <a16:colId xmlns:a16="http://schemas.microsoft.com/office/drawing/2014/main" val="1099916551"/>
                    </a:ext>
                  </a:extLst>
                </a:gridCol>
              </a:tblGrid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Command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Purpose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Example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7906496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git branch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List all branches in the repository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git branch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5692765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git branch branch_name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Create a new branch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git branch feature1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26326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git checkout branch_name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Switch to an existing branch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git checkout feature1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6366141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git checkout -b branch_name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Create and switch to a new branch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git checkout -b feature2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026504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git merge branch_name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Merge another branch into the current branch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git merge feature1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3973288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000"/>
                        <a:t>git branch -d branch_name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Delete a local branch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git branch -d feature1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8830508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git push origin branch_name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Push a branch to remote repository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git push origin feature1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8448975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git push origin --delete branch_name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Delete a remote branch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git push origin --delete feature1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80655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27614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787B6-56DF-A9ED-18E5-A12620D93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Alternative: switch Command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C62E513-D815-B07C-CD8E-7C0E882EC1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5770573"/>
              </p:ext>
            </p:extLst>
          </p:nvPr>
        </p:nvGraphicFramePr>
        <p:xfrm>
          <a:off x="663539" y="1690688"/>
          <a:ext cx="11131194" cy="49377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710398">
                  <a:extLst>
                    <a:ext uri="{9D8B030D-6E8A-4147-A177-3AD203B41FA5}">
                      <a16:colId xmlns:a16="http://schemas.microsoft.com/office/drawing/2014/main" val="3307439558"/>
                    </a:ext>
                  </a:extLst>
                </a:gridCol>
                <a:gridCol w="3710398">
                  <a:extLst>
                    <a:ext uri="{9D8B030D-6E8A-4147-A177-3AD203B41FA5}">
                      <a16:colId xmlns:a16="http://schemas.microsoft.com/office/drawing/2014/main" val="1045560456"/>
                    </a:ext>
                  </a:extLst>
                </a:gridCol>
                <a:gridCol w="3710398">
                  <a:extLst>
                    <a:ext uri="{9D8B030D-6E8A-4147-A177-3AD203B41FA5}">
                      <a16:colId xmlns:a16="http://schemas.microsoft.com/office/drawing/2014/main" val="32749105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8532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git switch branch_name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Switch to an existing branch (modern alternative to checkout)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git switch feature1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779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git switch -c branch_name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Create a new branch and switch to 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git switch -c feature2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0688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git switch main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Switch back to the main branch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git switch main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8233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git switch 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Switch to the previously used branch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git switch 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0448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git switch --detach commit_id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Switch to a specific commit (detached HEAD state)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git switch --detach a1b2c3d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8332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48018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0C9FE-DA4E-44D6-2BE2-FA0D06978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Real-life GitHub Branch -&gt; Pull Request -&gt; Merge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A9C23-F39C-5196-8803-4775AD498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Assumptions</a:t>
            </a:r>
          </a:p>
          <a:p>
            <a:pPr lvl="1"/>
            <a:r>
              <a:rPr lang="en-US" dirty="0"/>
              <a:t>main = stable production code</a:t>
            </a:r>
          </a:p>
          <a:p>
            <a:pPr lvl="1"/>
            <a:r>
              <a:rPr lang="en-US" dirty="0"/>
              <a:t>Developer 1 works on feature-login</a:t>
            </a:r>
          </a:p>
          <a:p>
            <a:pPr lvl="1"/>
            <a:r>
              <a:rPr lang="en-US" dirty="0"/>
              <a:t>Developer 2 works on feature-report</a:t>
            </a:r>
          </a:p>
          <a:p>
            <a:pPr lvl="1"/>
            <a:r>
              <a:rPr lang="en-US" dirty="0"/>
              <a:t>GitHub is the central remote repository</a:t>
            </a:r>
          </a:p>
          <a:p>
            <a:endParaRPr lang="en-US" dirty="0"/>
          </a:p>
          <a:p>
            <a:r>
              <a:rPr lang="en-US" dirty="0"/>
              <a:t>Step 1: Create a GitHub repo, e.g. my-project</a:t>
            </a:r>
          </a:p>
          <a:p>
            <a:pPr lvl="1"/>
            <a:r>
              <a:rPr lang="en-US" dirty="0"/>
              <a:t>Initial state</a:t>
            </a:r>
          </a:p>
          <a:p>
            <a:pPr lvl="2"/>
            <a:r>
              <a:rPr lang="en-US" dirty="0"/>
              <a:t>GitHub Repository</a:t>
            </a:r>
          </a:p>
          <a:p>
            <a:pPr lvl="2"/>
            <a:r>
              <a:rPr lang="en-US" dirty="0"/>
              <a:t>└── main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67419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FFC1B-F8F2-30D3-44D7-CECA86E16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1E432-C670-13CC-F77F-CD692A489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GitHub Branch -&gt; Pull Request -&gt; Merge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C529F-9C92-8856-F72B-F2A38567A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Step 2: Each developer clones the repository</a:t>
            </a:r>
          </a:p>
          <a:p>
            <a:pPr lvl="1"/>
            <a:r>
              <a:rPr lang="en-IN" dirty="0"/>
              <a:t>Developer 1</a:t>
            </a:r>
          </a:p>
          <a:p>
            <a:pPr lvl="2"/>
            <a:r>
              <a:rPr lang="en-US" dirty="0"/>
              <a:t>git clone https://github.com/user/my-project.git</a:t>
            </a:r>
          </a:p>
          <a:p>
            <a:pPr lvl="2"/>
            <a:r>
              <a:rPr lang="en-US" dirty="0"/>
              <a:t>cd my-project</a:t>
            </a:r>
          </a:p>
          <a:p>
            <a:pPr lvl="1"/>
            <a:r>
              <a:rPr lang="en-US" dirty="0"/>
              <a:t>Developer 2</a:t>
            </a:r>
          </a:p>
          <a:p>
            <a:pPr lvl="2"/>
            <a:r>
              <a:rPr lang="en-US" dirty="0"/>
              <a:t>git clone https://github.com/user/my-project.git</a:t>
            </a:r>
          </a:p>
          <a:p>
            <a:pPr lvl="2"/>
            <a:r>
              <a:rPr lang="en-US" dirty="0"/>
              <a:t>cd my-project</a:t>
            </a:r>
          </a:p>
          <a:p>
            <a:pPr lvl="1"/>
            <a:r>
              <a:rPr lang="en-US" dirty="0"/>
              <a:t>Now both have a local copy</a:t>
            </a:r>
          </a:p>
          <a:p>
            <a:pPr lvl="1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5BF382-639E-EA45-5063-9E080EF17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7586" y="4233459"/>
            <a:ext cx="5067538" cy="2484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7382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A8A49-B29D-8A56-D86E-C1CD9A807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DB38B-5511-6E6D-2E3B-2E310FAE0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GitHub Branch -&gt; Pull Request -&gt; Merge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04978-27F2-81C5-4CBA-C8EE52948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Step 3: Developer 1 creates a new branch</a:t>
            </a:r>
          </a:p>
          <a:p>
            <a:pPr lvl="1"/>
            <a:r>
              <a:rPr lang="en-IN" dirty="0"/>
              <a:t>Developer 1</a:t>
            </a:r>
          </a:p>
          <a:p>
            <a:pPr lvl="2"/>
            <a:r>
              <a:rPr lang="en-US" dirty="0"/>
              <a:t>git switch -c feature-login</a:t>
            </a:r>
          </a:p>
          <a:p>
            <a:pPr lvl="2"/>
            <a:endParaRPr lang="en-US" dirty="0"/>
          </a:p>
          <a:p>
            <a:pPr lvl="2"/>
            <a:r>
              <a:rPr lang="en-IN" dirty="0"/>
              <a:t># Edits files and  commits</a:t>
            </a:r>
          </a:p>
          <a:p>
            <a:pPr lvl="2"/>
            <a:r>
              <a:rPr lang="en-US" dirty="0"/>
              <a:t>git add .</a:t>
            </a:r>
          </a:p>
          <a:p>
            <a:pPr lvl="2"/>
            <a:r>
              <a:rPr lang="en-US" dirty="0"/>
              <a:t>git commit -m "Add login feature“	-&gt; Only exists in local repo of Developer 1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Pushes to GitHub</a:t>
            </a:r>
          </a:p>
          <a:p>
            <a:pPr lvl="2"/>
            <a:r>
              <a:rPr lang="en-US" dirty="0"/>
              <a:t>git push -u origin feature-login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Creates a </a:t>
            </a:r>
            <a:r>
              <a:rPr lang="en-US" b="1" dirty="0"/>
              <a:t>pull request</a:t>
            </a:r>
            <a:r>
              <a:rPr lang="en-US" dirty="0"/>
              <a:t>, meaning: my work is done, please review and merge in main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08A334-1F6F-0E88-E796-9799CBCD4C71}"/>
              </a:ext>
            </a:extLst>
          </p:cNvPr>
          <p:cNvSpPr txBox="1"/>
          <p:nvPr/>
        </p:nvSpPr>
        <p:spPr>
          <a:xfrm>
            <a:off x="5401638" y="2240437"/>
            <a:ext cx="60977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Repository</a:t>
            </a:r>
          </a:p>
          <a:p>
            <a:r>
              <a:rPr lang="en-IN" dirty="0"/>
              <a:t>├── main</a:t>
            </a:r>
          </a:p>
          <a:p>
            <a:r>
              <a:rPr lang="en-IN" dirty="0"/>
              <a:t>└── feature-login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DB0039-21F0-8274-06B3-EEFCE9266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8789" y="4441883"/>
            <a:ext cx="2124923" cy="97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4384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A84FF-7857-B24E-9421-64ACDB743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GitHub Branch -&gt; Pull Request -&gt; Merge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B3186-37A3-D8C4-E262-056F1FE30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Step 4: Other developers review</a:t>
            </a:r>
          </a:p>
          <a:p>
            <a:pPr lvl="1"/>
            <a:r>
              <a:rPr lang="en-IN" dirty="0"/>
              <a:t>They might suggest changes, e.g. </a:t>
            </a:r>
            <a:r>
              <a:rPr lang="en-US" dirty="0"/>
              <a:t>Developer 2: "Please fix the password validation"</a:t>
            </a:r>
            <a:r>
              <a:rPr lang="en-IN" dirty="0"/>
              <a:t> 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Developer 1 may make local code changes and</a:t>
            </a:r>
          </a:p>
          <a:p>
            <a:pPr lvl="2"/>
            <a:r>
              <a:rPr lang="en-IN" dirty="0"/>
              <a:t>git add .</a:t>
            </a:r>
          </a:p>
          <a:p>
            <a:pPr lvl="2"/>
            <a:r>
              <a:rPr lang="en-IN" dirty="0"/>
              <a:t>git commit -m "Fix password validation"</a:t>
            </a:r>
          </a:p>
          <a:p>
            <a:pPr lvl="2"/>
            <a:r>
              <a:rPr lang="en-IN" dirty="0"/>
              <a:t>git push</a:t>
            </a:r>
          </a:p>
          <a:p>
            <a:pPr lvl="1"/>
            <a:r>
              <a:rPr lang="en-IN" dirty="0"/>
              <a:t>No new PR is needed – the previous one is fine</a:t>
            </a:r>
          </a:p>
          <a:p>
            <a:pPr lvl="1"/>
            <a:r>
              <a:rPr lang="en-IN" dirty="0"/>
              <a:t>GitHub checks and informs if there is a merge conflict, if yes, need to resolve it</a:t>
            </a:r>
          </a:p>
          <a:p>
            <a:pPr lvl="1"/>
            <a:r>
              <a:rPr lang="en-IN" dirty="0"/>
              <a:t>After approval, the reviewer clicks: Merge pull request</a:t>
            </a:r>
          </a:p>
          <a:p>
            <a:pPr lvl="1"/>
            <a:r>
              <a:rPr lang="en-IN" dirty="0"/>
              <a:t>GitHub performs the merge, so that we only have the main branch</a:t>
            </a:r>
          </a:p>
          <a:p>
            <a:pPr lvl="1"/>
            <a:r>
              <a:rPr lang="en-IN" dirty="0"/>
              <a:t>Now the GitHub and local branches can be deleted (</a:t>
            </a:r>
            <a:r>
              <a:rPr lang="en-US" dirty="0"/>
              <a:t>git switch main and git branch -d feature-login)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2443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1549</TotalTime>
  <Words>1608</Words>
  <Application>Microsoft Office PowerPoint</Application>
  <PresentationFormat>Widescreen</PresentationFormat>
  <Paragraphs>328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Git and GitHub</vt:lpstr>
      <vt:lpstr>Version Control</vt:lpstr>
      <vt:lpstr>How Version Control Works</vt:lpstr>
      <vt:lpstr>Without Version Control</vt:lpstr>
      <vt:lpstr>With Version Control</vt:lpstr>
      <vt:lpstr>Centralized vs Distributed Version Control</vt:lpstr>
      <vt:lpstr>Git and GitHub</vt:lpstr>
      <vt:lpstr>Git Steps</vt:lpstr>
      <vt:lpstr>Git Areas</vt:lpstr>
      <vt:lpstr>Creating a GitHub Repository</vt:lpstr>
      <vt:lpstr>Local Repository – Two Commands</vt:lpstr>
      <vt:lpstr>Set Up Git to Work With GitHub</vt:lpstr>
      <vt:lpstr>Generating a Personal Access Token (PAT)</vt:lpstr>
      <vt:lpstr>On the Local Machine (Git) Terminal</vt:lpstr>
      <vt:lpstr>Miscellaneous Git Commands</vt:lpstr>
      <vt:lpstr>Branch and Merge</vt:lpstr>
      <vt:lpstr>Branch and Merge Example – Basic Setup</vt:lpstr>
      <vt:lpstr>Branch and Merge Example</vt:lpstr>
      <vt:lpstr>Branch and Merge Example</vt:lpstr>
      <vt:lpstr>Branch and Merge Commands</vt:lpstr>
      <vt:lpstr>Alternative: switch Command</vt:lpstr>
      <vt:lpstr>Real-life GitHub Branch -&gt; Pull Request -&gt; Merge</vt:lpstr>
      <vt:lpstr>GitHub Branch -&gt; Pull Request -&gt; Merge</vt:lpstr>
      <vt:lpstr>GitHub Branch -&gt; Pull Request -&gt; Merge</vt:lpstr>
      <vt:lpstr>GitHub Branch -&gt; Pull Request -&gt; Merge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26</cp:revision>
  <dcterms:created xsi:type="dcterms:W3CDTF">2026-03-06T09:43:41Z</dcterms:created>
  <dcterms:modified xsi:type="dcterms:W3CDTF">2026-09-07T09:50:44Z</dcterms:modified>
</cp:coreProperties>
</file>