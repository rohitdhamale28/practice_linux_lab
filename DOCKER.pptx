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553" r:id="rId2"/>
    <p:sldId id="1070" r:id="rId3"/>
    <p:sldId id="1071" r:id="rId4"/>
    <p:sldId id="1065" r:id="rId5"/>
    <p:sldId id="919" r:id="rId6"/>
    <p:sldId id="793" r:id="rId7"/>
    <p:sldId id="792" r:id="rId8"/>
    <p:sldId id="1059" r:id="rId9"/>
    <p:sldId id="1017" r:id="rId10"/>
    <p:sldId id="743" r:id="rId11"/>
    <p:sldId id="746" r:id="rId12"/>
    <p:sldId id="748" r:id="rId13"/>
    <p:sldId id="1018" r:id="rId14"/>
    <p:sldId id="771" r:id="rId15"/>
    <p:sldId id="1034" r:id="rId16"/>
    <p:sldId id="1068" r:id="rId17"/>
    <p:sldId id="1066" r:id="rId18"/>
    <p:sldId id="1067" r:id="rId19"/>
    <p:sldId id="10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37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DDB-C2EE-4B1A-8318-09887331214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759E4-98F9-4C7A-99FC-408580FC0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60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D0C7F-1438-5429-6B71-9C23B4C09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358B7-7717-1344-A39B-B1DEC1106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62264-C45E-1478-FD00-BECF9A59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4AAC-6EEA-2271-30F1-DE1F433A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2F3D8-D143-7E27-C98A-EF6ECF924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43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11EE-7530-F00F-6A75-E4E00698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DCEB2-A925-1FC6-2549-3362FA6D2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86396-3427-29EF-44EB-8307E473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094CE-90C2-199A-019C-9DB1C12E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C4FE1-1B2B-CAFD-DED3-9E9BB6BE0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155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FC121-88C3-10D7-3B30-265B8BA6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6AB09-AC17-3284-44A4-4263FAAE6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9801D-B783-CBB4-D6BE-DC8EC45D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E7BE5-5F58-9295-2562-5C4F425F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21412-9855-F651-193B-278428C6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92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AD2A-5C82-D459-8481-7EC7448E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1F55A-6371-5913-3FE4-994ECBB2A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06DC1-CDE5-55AA-3028-F9974765C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9F2E5-AE84-8198-4959-F40BB039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2D72C-5DE0-DF94-EA82-B44AE573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4D9EC-2F9E-34AD-FAB2-7BB8367A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559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5C3C-6773-1C31-182B-B93988B03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C6456-DE37-1C8D-250D-522D25B3E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7B10F-8B84-851A-0F23-5DDC36A5B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DD026B-931D-1E28-AC8E-E868A9C9E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EBA0C-B951-9117-A994-FC57443282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074EC-7B91-D6B1-CE97-923DD44C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7FCE26-49CF-3882-68AB-0D69629A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B8F687-C42A-A20B-C3E6-8FC595CA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80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30F6-1427-E52D-2250-DE026D2C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3664A-9EA1-727D-4F17-D7955EAFD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E893E-A0A8-5CD7-1F9F-3CC3E776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B90BD-4360-545F-24A8-3D9121D93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857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F027B-9C27-DB34-D5ED-B31AA774C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39331-A473-3698-8990-F35A9FF2D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BBB24-553E-037C-1558-855092B9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24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A6CA8-B6FA-0BF9-2036-3B23DDAC9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25DE3-7F06-36E8-F00A-ABFC993E1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BCCBA-D257-FA3B-9670-F39AC5FDE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D355D-F40F-1185-D086-89C81138E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C1275-9D8D-65B6-036D-0DCA1DA5A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1BDEB-F633-E188-2140-D5994EFE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33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7DBED-C90B-098D-4F7A-4B11F5F8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65557C-5084-E589-98C9-DA174B493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6CE3F-0889-259D-1E26-1BE363170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E0CD7-031C-E327-F16E-88A0530A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CE54A-F5C7-7F75-6684-7F3DFD91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569A3-C4A5-9BB3-08E7-D6E278AF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97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6101A-875F-F19A-A5B7-4D6A39C7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3215A-B84D-70B7-8B5D-F17DFBE3F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F90F6-F6C3-002D-7C89-B3FC7FE3E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51D2F-3BD7-1C67-1E51-DD5A2341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77908-91FD-9FFA-3E8F-7A31DB6B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747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41CD9C-B31E-1136-F370-3A47D12B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E48D8-E005-72EA-D286-E9C9E1678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28F50-537C-0EE4-A474-EDC0CACA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1C02C-DAA0-FEAF-93E9-0510BFE8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A5522-8259-68ED-E4E7-AF34E666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677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D67628-6EA6-ECAF-5EFC-20477F7E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FA65A-D2C8-4378-1F3C-5E2D91003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12767-631E-C982-C831-293ADB34C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5151F-5DB0-41F9-A0A2-96133768CBBE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902EA-5C29-2A87-C7A1-172ADFF2E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D55EE-A703-D440-A990-C0EBF658B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27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pack-box-karton-container-offen-14842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0450C2-A066-A03C-F129-580F476E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Docker: Containerization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2C6CD-195F-B211-190F-B02EFD70D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366083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9BADC8E-4C91-CB0B-1515-6BFBE796C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DevOps Lifecycle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E74E995-3829-15BE-0527-A61BFD9A7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261887"/>
              </p:ext>
            </p:extLst>
          </p:nvPr>
        </p:nvGraphicFramePr>
        <p:xfrm>
          <a:off x="503434" y="1898174"/>
          <a:ext cx="10850366" cy="466344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318970">
                  <a:extLst>
                    <a:ext uri="{9D8B030D-6E8A-4147-A177-3AD203B41FA5}">
                      <a16:colId xmlns:a16="http://schemas.microsoft.com/office/drawing/2014/main" val="520269468"/>
                    </a:ext>
                  </a:extLst>
                </a:gridCol>
                <a:gridCol w="3335223">
                  <a:extLst>
                    <a:ext uri="{9D8B030D-6E8A-4147-A177-3AD203B41FA5}">
                      <a16:colId xmlns:a16="http://schemas.microsoft.com/office/drawing/2014/main" val="3131278162"/>
                    </a:ext>
                  </a:extLst>
                </a:gridCol>
                <a:gridCol w="6196173">
                  <a:extLst>
                    <a:ext uri="{9D8B030D-6E8A-4147-A177-3AD203B41FA5}">
                      <a16:colId xmlns:a16="http://schemas.microsoft.com/office/drawing/2014/main" val="38487842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Typical Activities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723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Plan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Define what needs to be developed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Requirements, features, priorities, release planning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150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Code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Develop the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Coding, Git, code review, collaboration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380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Build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Create a deployable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Install dependencies, package application, build Docker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28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Test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Verify application 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Unit testing, integration testing, API testing, automated 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460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Deploy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Release the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Deploy to development, staging, or production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79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Monitor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Observe the running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Logs, performance, errors, availability, anomaly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7363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706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72B1-4A95-CD97-6661-CC6015A80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Agile versus DevOps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FE4B21-F90B-7F9A-B50C-189C0C129A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266118"/>
              </p:ext>
            </p:extLst>
          </p:nvPr>
        </p:nvGraphicFramePr>
        <p:xfrm>
          <a:off x="838200" y="1876598"/>
          <a:ext cx="10515600" cy="384048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0435048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62768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Agile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DevOps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614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Focuses on </a:t>
                      </a:r>
                      <a:r>
                        <a:rPr lang="en-IN" sz="2400" b="1"/>
                        <a:t>software development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Focuses on </a:t>
                      </a:r>
                      <a:r>
                        <a:rPr lang="en-IN" sz="2400" b="1"/>
                        <a:t>development + operations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67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Uses </a:t>
                      </a:r>
                      <a:r>
                        <a:rPr lang="en-IN" sz="2400" b="1"/>
                        <a:t>short iterations/sprints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Uses </a:t>
                      </a:r>
                      <a:r>
                        <a:rPr lang="en-US" sz="2400" b="1"/>
                        <a:t>continuous delivery and deployment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494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Emphasizes </a:t>
                      </a:r>
                      <a:r>
                        <a:rPr lang="en-IN" sz="2400" b="1"/>
                        <a:t>customer feedback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Emphasizes </a:t>
                      </a:r>
                      <a:r>
                        <a:rPr lang="en-US" sz="2400" b="1"/>
                        <a:t>automation and continuous monitoring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005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Frequent software releases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Continuous/frequent releases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5220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Collaboration between development team members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Collaboration between </a:t>
                      </a:r>
                      <a:r>
                        <a:rPr lang="en-US" sz="2400" b="1" dirty="0"/>
                        <a:t>Dev + Ops + QA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136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233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85467DE-5D6F-7C25-054B-C8608F22D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657"/>
            <a:ext cx="12192000" cy="67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91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1AFC7B-A758-5485-0B44-CD2BC4DEC12E}"/>
              </a:ext>
            </a:extLst>
          </p:cNvPr>
          <p:cNvSpPr/>
          <p:nvPr/>
        </p:nvSpPr>
        <p:spPr>
          <a:xfrm>
            <a:off x="8209908" y="474449"/>
            <a:ext cx="3143892" cy="35959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6A1D060-FA66-2442-74E5-BD8DCB2B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Docker?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9B785D-6F8A-A276-5F22-8393B87B8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noProof="0" dirty="0"/>
              <a:t>Docker: </a:t>
            </a:r>
            <a:r>
              <a:rPr lang="en-US" b="1" noProof="0" dirty="0">
                <a:solidFill>
                  <a:srgbClr val="FF0000"/>
                </a:solidFill>
              </a:rPr>
              <a:t>Container </a:t>
            </a:r>
            <a:r>
              <a:rPr lang="en-US" noProof="0" dirty="0"/>
              <a:t>technology</a:t>
            </a:r>
          </a:p>
          <a:p>
            <a:r>
              <a:rPr lang="en-US" noProof="0" dirty="0"/>
              <a:t>Container = Complete and isolated software</a:t>
            </a:r>
          </a:p>
          <a:p>
            <a:r>
              <a:rPr lang="en-US" noProof="0" dirty="0"/>
              <a:t>Runs an application in a sandbox</a:t>
            </a:r>
          </a:p>
          <a:p>
            <a:r>
              <a:rPr lang="en-US" noProof="0" dirty="0"/>
              <a:t>Portable</a:t>
            </a:r>
          </a:p>
          <a:p>
            <a:r>
              <a:rPr lang="en-US" noProof="0" dirty="0"/>
              <a:t>Contains all dependencies</a:t>
            </a:r>
          </a:p>
          <a:p>
            <a:r>
              <a:rPr lang="en-US" noProof="0" dirty="0"/>
              <a:t>We can run several containers on a machine at the same time</a:t>
            </a:r>
          </a:p>
          <a:p>
            <a:r>
              <a:rPr lang="en-US" noProof="0" dirty="0"/>
              <a:t>Self-contained: Do not alter the host system they run on</a:t>
            </a:r>
          </a:p>
          <a:p>
            <a:r>
              <a:rPr lang="en-US" noProof="0" dirty="0"/>
              <a:t>Docker is light-weight, unlike VM</a:t>
            </a:r>
          </a:p>
          <a:p>
            <a:r>
              <a:rPr lang="en-US" noProof="0" dirty="0"/>
              <a:t>If something works in Development, it will work in Production, too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7DC1835-8C28-10B5-CB26-6B255A327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204" y="3235611"/>
            <a:ext cx="2242974" cy="54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Docker and why it is used?">
            <a:extLst>
              <a:ext uri="{FF2B5EF4-FFF2-40B4-BE49-F238E27FC236}">
                <a16:creationId xmlns:a16="http://schemas.microsoft.com/office/drawing/2014/main" id="{C08AD15E-10FA-B3AE-D431-A4DB529CC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425" y="2074394"/>
            <a:ext cx="1240801" cy="102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n ultimate guide to Java Runtime Environment | TechGig">
            <a:extLst>
              <a:ext uri="{FF2B5EF4-FFF2-40B4-BE49-F238E27FC236}">
                <a16:creationId xmlns:a16="http://schemas.microsoft.com/office/drawing/2014/main" id="{C52AC06B-9320-383A-FD63-7A0CE4368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552" y="1093854"/>
            <a:ext cx="1743182" cy="98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F1E453-0CFB-6F64-5F02-3CE21DC4C31F}"/>
              </a:ext>
            </a:extLst>
          </p:cNvPr>
          <p:cNvSpPr txBox="1"/>
          <p:nvPr/>
        </p:nvSpPr>
        <p:spPr>
          <a:xfrm>
            <a:off x="8874306" y="626262"/>
            <a:ext cx="1917626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>
                <a:solidFill>
                  <a:schemeClr val="bg1"/>
                </a:solidFill>
              </a:rPr>
              <a:t>HelloWorld.class</a:t>
            </a:r>
            <a:endParaRPr lang="en-US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243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62BA-E2B2-6C8D-5758-BAD98FCF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Image and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5A47E-28A4-5017-9A4F-3719F30D7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Build</a:t>
            </a:r>
            <a:r>
              <a:rPr lang="en-US" noProof="0" dirty="0"/>
              <a:t>: Create an </a:t>
            </a:r>
            <a:r>
              <a:rPr lang="en-US" b="1" noProof="0" dirty="0">
                <a:solidFill>
                  <a:srgbClr val="FF0000"/>
                </a:solidFill>
              </a:rPr>
              <a:t>image</a:t>
            </a:r>
          </a:p>
          <a:p>
            <a:r>
              <a:rPr lang="en-US" b="1" noProof="0" dirty="0"/>
              <a:t>Run</a:t>
            </a:r>
            <a:r>
              <a:rPr lang="en-US" noProof="0" dirty="0"/>
              <a:t>: Run the image as a </a:t>
            </a:r>
            <a:r>
              <a:rPr lang="en-US" b="1" noProof="0" dirty="0">
                <a:solidFill>
                  <a:srgbClr val="FF0000"/>
                </a:solidFill>
              </a:rPr>
              <a:t>container</a:t>
            </a:r>
          </a:p>
          <a:p>
            <a:endParaRPr lang="en-US" b="1" noProof="0" dirty="0">
              <a:solidFill>
                <a:srgbClr val="FF0000"/>
              </a:solidFill>
            </a:endParaRPr>
          </a:p>
          <a:p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4030A-F34A-5BA3-3BE0-32DDB5344CBB}"/>
              </a:ext>
            </a:extLst>
          </p:cNvPr>
          <p:cNvSpPr txBox="1"/>
          <p:nvPr/>
        </p:nvSpPr>
        <p:spPr>
          <a:xfrm>
            <a:off x="650930" y="34025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docker build </a:t>
            </a:r>
            <a:r>
              <a:rPr lang="en-US" sz="2000" noProof="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437E808-4348-802E-9AEC-D381C0A76A5C}"/>
              </a:ext>
            </a:extLst>
          </p:cNvPr>
          <p:cNvSpPr/>
          <p:nvPr/>
        </p:nvSpPr>
        <p:spPr>
          <a:xfrm>
            <a:off x="3166712" y="36479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835B861D-3DA3-26B3-6ECF-957DE349C907}"/>
              </a:ext>
            </a:extLst>
          </p:cNvPr>
          <p:cNvSpPr/>
          <p:nvPr/>
        </p:nvSpPr>
        <p:spPr>
          <a:xfrm>
            <a:off x="3859731" y="3241522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Image</a:t>
            </a: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6A505BBD-7D5B-56C5-C46B-6267703E564C}"/>
              </a:ext>
            </a:extLst>
          </p:cNvPr>
          <p:cNvSpPr/>
          <p:nvPr/>
        </p:nvSpPr>
        <p:spPr>
          <a:xfrm>
            <a:off x="838200" y="5635500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0215F-B3D4-77AB-F9A3-1910C24B82D1}"/>
              </a:ext>
            </a:extLst>
          </p:cNvPr>
          <p:cNvSpPr txBox="1"/>
          <p:nvPr/>
        </p:nvSpPr>
        <p:spPr>
          <a:xfrm>
            <a:off x="3166712" y="58483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docker run </a:t>
            </a:r>
            <a:r>
              <a:rPr lang="en-US" sz="2000" noProof="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78A1A6-68C7-2E71-45E2-D7B878F953EA}"/>
              </a:ext>
            </a:extLst>
          </p:cNvPr>
          <p:cNvSpPr/>
          <p:nvPr/>
        </p:nvSpPr>
        <p:spPr>
          <a:xfrm>
            <a:off x="5682494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9274187-CC3A-B156-56A0-0F2A7BEFC5BD}"/>
              </a:ext>
            </a:extLst>
          </p:cNvPr>
          <p:cNvSpPr/>
          <p:nvPr/>
        </p:nvSpPr>
        <p:spPr>
          <a:xfrm>
            <a:off x="2422949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C562BF-2EBA-69E8-8831-FD3B66EC2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79770" y="5381439"/>
            <a:ext cx="1622543" cy="14246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4FD265-E5E6-DB65-61D1-29000CC0212B}"/>
              </a:ext>
            </a:extLst>
          </p:cNvPr>
          <p:cNvSpPr txBox="1"/>
          <p:nvPr/>
        </p:nvSpPr>
        <p:spPr>
          <a:xfrm>
            <a:off x="6533965" y="5607505"/>
            <a:ext cx="1114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Container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FF9D40-4529-D6D6-D250-57352791A8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639" y="711643"/>
            <a:ext cx="4217244" cy="395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51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301B-66A5-768C-1196-FE40D8B0C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Container versus Virtual Machine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4AD2A77-6E16-6548-DC3D-425787CD6CBD}"/>
              </a:ext>
            </a:extLst>
          </p:cNvPr>
          <p:cNvGrpSpPr/>
          <p:nvPr/>
        </p:nvGrpSpPr>
        <p:grpSpPr>
          <a:xfrm>
            <a:off x="394528" y="1521940"/>
            <a:ext cx="5245768" cy="4062651"/>
            <a:chOff x="548640" y="2387065"/>
            <a:chExt cx="5245768" cy="406265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A119987-334B-E094-3A97-BEAAC27D1A92}"/>
                </a:ext>
              </a:extLst>
            </p:cNvPr>
            <p:cNvSpPr txBox="1"/>
            <p:nvPr/>
          </p:nvSpPr>
          <p:spPr>
            <a:xfrm>
              <a:off x="548640" y="2387065"/>
              <a:ext cx="5245768" cy="406265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FF0000"/>
                  </a:solidFill>
                </a:rPr>
                <a:t>Containers</a:t>
              </a:r>
              <a:endParaRPr lang="en-US" b="1" noProof="0" dirty="0">
                <a:solidFill>
                  <a:srgbClr val="FF0000"/>
                </a:solidFill>
              </a:endParaRPr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9CEE7CA-5EF1-7F03-A06A-C0A059E2D5F1}"/>
                </a:ext>
              </a:extLst>
            </p:cNvPr>
            <p:cNvGrpSpPr/>
            <p:nvPr/>
          </p:nvGrpSpPr>
          <p:grpSpPr>
            <a:xfrm>
              <a:off x="762785" y="3091423"/>
              <a:ext cx="1566528" cy="1477328"/>
              <a:chOff x="1003417" y="2870041"/>
              <a:chExt cx="1566528" cy="1477328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B371D2-401B-ED49-C8B8-34FBEF29D924}"/>
                  </a:ext>
                </a:extLst>
              </p:cNvPr>
              <p:cNvSpPr txBox="1"/>
              <p:nvPr/>
            </p:nvSpPr>
            <p:spPr>
              <a:xfrm>
                <a:off x="1003417" y="2870041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Container A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D9B7C7-95A5-07C9-6194-AE1C134976D1}"/>
                  </a:ext>
                </a:extLst>
              </p:cNvPr>
              <p:cNvSpPr txBox="1"/>
              <p:nvPr/>
            </p:nvSpPr>
            <p:spPr>
              <a:xfrm>
                <a:off x="1185445" y="3379029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App A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086FC4-9F54-FB85-4DB7-7CE483950A1E}"/>
                  </a:ext>
                </a:extLst>
              </p:cNvPr>
              <p:cNvSpPr txBox="1"/>
              <p:nvPr/>
            </p:nvSpPr>
            <p:spPr>
              <a:xfrm>
                <a:off x="1185445" y="3880680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75454FE-113C-02FD-50B5-55B70529CE78}"/>
                </a:ext>
              </a:extLst>
            </p:cNvPr>
            <p:cNvGrpSpPr/>
            <p:nvPr/>
          </p:nvGrpSpPr>
          <p:grpSpPr>
            <a:xfrm>
              <a:off x="2368666" y="3091423"/>
              <a:ext cx="1566528" cy="1477328"/>
              <a:chOff x="1003417" y="2870041"/>
              <a:chExt cx="1566528" cy="147732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C6F9E7-DA85-FC1F-909D-C01E6CF6288A}"/>
                  </a:ext>
                </a:extLst>
              </p:cNvPr>
              <p:cNvSpPr txBox="1"/>
              <p:nvPr/>
            </p:nvSpPr>
            <p:spPr>
              <a:xfrm>
                <a:off x="1003417" y="2870041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Container B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DD2162-A708-A086-80FB-F5342BA5BE03}"/>
                  </a:ext>
                </a:extLst>
              </p:cNvPr>
              <p:cNvSpPr txBox="1"/>
              <p:nvPr/>
            </p:nvSpPr>
            <p:spPr>
              <a:xfrm>
                <a:off x="1185445" y="3379029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App B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F8AE59-356F-E859-6980-D20BA4ECAFF0}"/>
                  </a:ext>
                </a:extLst>
              </p:cNvPr>
              <p:cNvSpPr txBox="1"/>
              <p:nvPr/>
            </p:nvSpPr>
            <p:spPr>
              <a:xfrm>
                <a:off x="1185445" y="3880680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1C15796-0909-EF9F-4102-89AF7F7B6640}"/>
                </a:ext>
              </a:extLst>
            </p:cNvPr>
            <p:cNvGrpSpPr/>
            <p:nvPr/>
          </p:nvGrpSpPr>
          <p:grpSpPr>
            <a:xfrm>
              <a:off x="4004534" y="3091423"/>
              <a:ext cx="1566528" cy="1477328"/>
              <a:chOff x="1003417" y="2870041"/>
              <a:chExt cx="1566528" cy="1477328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008B8C-A805-1818-BAB5-0D233B38070E}"/>
                  </a:ext>
                </a:extLst>
              </p:cNvPr>
              <p:cNvSpPr txBox="1"/>
              <p:nvPr/>
            </p:nvSpPr>
            <p:spPr>
              <a:xfrm>
                <a:off x="1003417" y="2870041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Container C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2260BF-ABF8-BA6D-FF11-F3F4FE787AE3}"/>
                  </a:ext>
                </a:extLst>
              </p:cNvPr>
              <p:cNvSpPr txBox="1"/>
              <p:nvPr/>
            </p:nvSpPr>
            <p:spPr>
              <a:xfrm>
                <a:off x="1185445" y="3379029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App C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722EBCE-1F4D-A8E8-0B8B-37DB915E7526}"/>
                  </a:ext>
                </a:extLst>
              </p:cNvPr>
              <p:cNvSpPr txBox="1"/>
              <p:nvPr/>
            </p:nvSpPr>
            <p:spPr>
              <a:xfrm>
                <a:off x="1185445" y="3880680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CA2763A-C686-57B1-1EF1-394E8733A6FC}"/>
                </a:ext>
              </a:extLst>
            </p:cNvPr>
            <p:cNvSpPr txBox="1"/>
            <p:nvPr/>
          </p:nvSpPr>
          <p:spPr>
            <a:xfrm>
              <a:off x="762785" y="4668255"/>
              <a:ext cx="4808277" cy="369332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Docker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1ACA9DE-B52F-8AA5-FB79-4CB3EE010FBF}"/>
                </a:ext>
              </a:extLst>
            </p:cNvPr>
            <p:cNvSpPr txBox="1"/>
            <p:nvPr/>
          </p:nvSpPr>
          <p:spPr>
            <a:xfrm>
              <a:off x="762785" y="5127109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Host Operating System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F0F8D0B-1004-FDCF-12E0-E3566190E408}"/>
                </a:ext>
              </a:extLst>
            </p:cNvPr>
            <p:cNvSpPr txBox="1"/>
            <p:nvPr/>
          </p:nvSpPr>
          <p:spPr>
            <a:xfrm>
              <a:off x="747791" y="5584592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Hardware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4A984B9-C2A4-D434-15B4-EAE19282A9E0}"/>
              </a:ext>
            </a:extLst>
          </p:cNvPr>
          <p:cNvGrpSpPr/>
          <p:nvPr/>
        </p:nvGrpSpPr>
        <p:grpSpPr>
          <a:xfrm>
            <a:off x="5874164" y="1540535"/>
            <a:ext cx="5245768" cy="4062651"/>
            <a:chOff x="6172200" y="2387064"/>
            <a:chExt cx="5245768" cy="406265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9B798AF-A833-A555-B9B0-7C819926A819}"/>
                </a:ext>
              </a:extLst>
            </p:cNvPr>
            <p:cNvSpPr txBox="1"/>
            <p:nvPr/>
          </p:nvSpPr>
          <p:spPr>
            <a:xfrm>
              <a:off x="6172200" y="2387064"/>
              <a:ext cx="5245768" cy="406265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FF0000"/>
                  </a:solidFill>
                </a:rPr>
                <a:t>Virtual Machines</a:t>
              </a: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b="1" noProof="0" dirty="0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1D8D066-6A1F-1F21-2912-D5B125AC5E17}"/>
                </a:ext>
              </a:extLst>
            </p:cNvPr>
            <p:cNvGrpSpPr/>
            <p:nvPr/>
          </p:nvGrpSpPr>
          <p:grpSpPr>
            <a:xfrm>
              <a:off x="6386345" y="3091422"/>
              <a:ext cx="1566528" cy="1477328"/>
              <a:chOff x="6386345" y="3091422"/>
              <a:chExt cx="1566528" cy="1477328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EAB4BB3-7410-5430-401D-0E9E49DF3ED9}"/>
                  </a:ext>
                </a:extLst>
              </p:cNvPr>
              <p:cNvSpPr txBox="1"/>
              <p:nvPr/>
            </p:nvSpPr>
            <p:spPr>
              <a:xfrm>
                <a:off x="6386345" y="3091422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VM A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FF7195B-17BD-0141-456F-83F22D4ECC27}"/>
                  </a:ext>
                </a:extLst>
              </p:cNvPr>
              <p:cNvSpPr txBox="1"/>
              <p:nvPr/>
            </p:nvSpPr>
            <p:spPr>
              <a:xfrm>
                <a:off x="6550889" y="3417973"/>
                <a:ext cx="1202472" cy="307777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noProof="0" dirty="0">
                    <a:solidFill>
                      <a:schemeClr val="bg1"/>
                    </a:solidFill>
                  </a:rPr>
                  <a:t>App A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E02DE35-E71C-5A6E-AC08-7C49C2EBF5FC}"/>
                  </a:ext>
                </a:extLst>
              </p:cNvPr>
              <p:cNvSpPr txBox="1"/>
              <p:nvPr/>
            </p:nvSpPr>
            <p:spPr>
              <a:xfrm>
                <a:off x="6543031" y="3811135"/>
                <a:ext cx="1202472" cy="307777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DCF4FE9-E90B-D3A7-090C-EC668916587B}"/>
                </a:ext>
              </a:extLst>
            </p:cNvPr>
            <p:cNvSpPr txBox="1"/>
            <p:nvPr/>
          </p:nvSpPr>
          <p:spPr>
            <a:xfrm>
              <a:off x="7992226" y="3091422"/>
              <a:ext cx="1566528" cy="147732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VM B</a:t>
              </a:r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ED220AD-9407-AA79-BA2C-07387F3C222C}"/>
                </a:ext>
              </a:extLst>
            </p:cNvPr>
            <p:cNvSpPr txBox="1"/>
            <p:nvPr/>
          </p:nvSpPr>
          <p:spPr>
            <a:xfrm>
              <a:off x="9628094" y="3091422"/>
              <a:ext cx="1566528" cy="147732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VM C</a:t>
              </a:r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E19087C-EF74-387D-2B70-F7753E4EE896}"/>
                </a:ext>
              </a:extLst>
            </p:cNvPr>
            <p:cNvSpPr txBox="1"/>
            <p:nvPr/>
          </p:nvSpPr>
          <p:spPr>
            <a:xfrm>
              <a:off x="6386345" y="4668254"/>
              <a:ext cx="4808277" cy="369332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Hypervisor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E7D3391-DC3A-DACB-2AA8-F0891D0E2F93}"/>
                </a:ext>
              </a:extLst>
            </p:cNvPr>
            <p:cNvSpPr txBox="1"/>
            <p:nvPr/>
          </p:nvSpPr>
          <p:spPr>
            <a:xfrm>
              <a:off x="6386345" y="5127108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Host Operating System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3D1EAB8-0061-C2BC-775E-79A05C00C032}"/>
                </a:ext>
              </a:extLst>
            </p:cNvPr>
            <p:cNvSpPr txBox="1"/>
            <p:nvPr/>
          </p:nvSpPr>
          <p:spPr>
            <a:xfrm>
              <a:off x="6371351" y="5584591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Hardware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CB59BC0-17C1-FF95-29E4-AF67ECC0D564}"/>
              </a:ext>
            </a:extLst>
          </p:cNvPr>
          <p:cNvSpPr txBox="1"/>
          <p:nvPr/>
        </p:nvSpPr>
        <p:spPr>
          <a:xfrm>
            <a:off x="6564966" y="4185308"/>
            <a:ext cx="1202472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Guest OS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27D062-18AA-529B-A1AE-688D44C9AED3}"/>
              </a:ext>
            </a:extLst>
          </p:cNvPr>
          <p:cNvSpPr txBox="1"/>
          <p:nvPr/>
        </p:nvSpPr>
        <p:spPr>
          <a:xfrm>
            <a:off x="8194466" y="3417973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App 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E41FE1-C379-1B4F-F470-C4873D16A324}"/>
              </a:ext>
            </a:extLst>
          </p:cNvPr>
          <p:cNvSpPr txBox="1"/>
          <p:nvPr/>
        </p:nvSpPr>
        <p:spPr>
          <a:xfrm>
            <a:off x="8186608" y="3811135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Libs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32EB63-4E57-B07B-ED71-37637FBCCA82}"/>
              </a:ext>
            </a:extLst>
          </p:cNvPr>
          <p:cNvSpPr txBox="1"/>
          <p:nvPr/>
        </p:nvSpPr>
        <p:spPr>
          <a:xfrm>
            <a:off x="8208543" y="4185308"/>
            <a:ext cx="1202472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Guest OS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BF0B89-4DEF-FFE5-9597-FABFF6743F3E}"/>
              </a:ext>
            </a:extLst>
          </p:cNvPr>
          <p:cNvSpPr txBox="1"/>
          <p:nvPr/>
        </p:nvSpPr>
        <p:spPr>
          <a:xfrm>
            <a:off x="9831192" y="3425165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App C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0A2503-3439-8959-F7F7-D77BCB2E9E88}"/>
              </a:ext>
            </a:extLst>
          </p:cNvPr>
          <p:cNvSpPr txBox="1"/>
          <p:nvPr/>
        </p:nvSpPr>
        <p:spPr>
          <a:xfrm>
            <a:off x="9823334" y="3818327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Libs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AC8395-6174-86D0-99C7-DE73BD1EFD5A}"/>
              </a:ext>
            </a:extLst>
          </p:cNvPr>
          <p:cNvSpPr txBox="1"/>
          <p:nvPr/>
        </p:nvSpPr>
        <p:spPr>
          <a:xfrm>
            <a:off x="9845269" y="4192500"/>
            <a:ext cx="1202472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Guest OS</a:t>
            </a:r>
          </a:p>
        </p:txBody>
      </p:sp>
    </p:spTree>
    <p:extLst>
      <p:ext uri="{BB962C8B-B14F-4D97-AF65-F5344CB8AC3E}">
        <p14:creationId xmlns:p14="http://schemas.microsoft.com/office/powerpoint/2010/main" val="2410751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4D05-1CBF-60AE-DF13-3220941A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Docker on Ubuntu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A9A590-D052-E12B-9A21-6F41E97AB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308605"/>
              </p:ext>
            </p:extLst>
          </p:nvPr>
        </p:nvGraphicFramePr>
        <p:xfrm>
          <a:off x="410966" y="1852454"/>
          <a:ext cx="11445412" cy="4572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449545">
                  <a:extLst>
                    <a:ext uri="{9D8B030D-6E8A-4147-A177-3AD203B41FA5}">
                      <a16:colId xmlns:a16="http://schemas.microsoft.com/office/drawing/2014/main" val="3123818881"/>
                    </a:ext>
                  </a:extLst>
                </a:gridCol>
                <a:gridCol w="9995867">
                  <a:extLst>
                    <a:ext uri="{9D8B030D-6E8A-4147-A177-3AD203B41FA5}">
                      <a16:colId xmlns:a16="http://schemas.microsoft.com/office/drawing/2014/main" val="15911585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Command /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061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Go to https://docs.docker.com/engine/install/ubuntu/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405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Copy all commands together from </a:t>
                      </a:r>
                      <a:r>
                        <a:rPr lang="en-US" sz="2800" b="1" dirty="0"/>
                        <a:t>“1. Set up Docker's apt repository”</a:t>
                      </a:r>
                      <a:r>
                        <a:rPr lang="en-US" sz="2800" dirty="0"/>
                        <a:t> and run in terminal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7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Copy the command from </a:t>
                      </a:r>
                      <a:r>
                        <a:rPr lang="en-US" sz="2800" b="1"/>
                        <a:t>“2. Install the Docker packages”</a:t>
                      </a:r>
                      <a:r>
                        <a:rPr lang="en-US" sz="2800"/>
                        <a:t> and 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96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 err="1"/>
                        <a:t>sudo</a:t>
                      </a:r>
                      <a:r>
                        <a:rPr lang="en-IN" sz="2800" b="1" dirty="0"/>
                        <a:t>    </a:t>
                      </a:r>
                      <a:r>
                        <a:rPr lang="en-IN" sz="2800" b="1" dirty="0" err="1"/>
                        <a:t>groupadd</a:t>
                      </a:r>
                      <a:r>
                        <a:rPr lang="en-IN" sz="2800" b="1" dirty="0"/>
                        <a:t>   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77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800" b="1" dirty="0"/>
                        <a:t>sudo     usermod    -aG    docker    $(whoami)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806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 err="1"/>
                        <a:t>sudo</a:t>
                      </a:r>
                      <a:r>
                        <a:rPr lang="en-IN" sz="2800" b="1" dirty="0"/>
                        <a:t>     reboot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730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</a:t>
                      </a:r>
                      <a:r>
                        <a:rPr lang="en-IN" sz="2800" b="1" dirty="0" err="1"/>
                        <a:t>ps</a:t>
                      </a:r>
                      <a:endParaRPr lang="en-IN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824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668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7B50-FF2F-9EE7-443D-5EEB90F10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Ready Docker Images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069680-D39E-5B84-6ED3-48FF76D34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5368278"/>
              </p:ext>
            </p:extLst>
          </p:nvPr>
        </p:nvGraphicFramePr>
        <p:xfrm>
          <a:off x="663539" y="1543716"/>
          <a:ext cx="11151742" cy="35356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791434">
                  <a:extLst>
                    <a:ext uri="{9D8B030D-6E8A-4147-A177-3AD203B41FA5}">
                      <a16:colId xmlns:a16="http://schemas.microsoft.com/office/drawing/2014/main" val="2026088405"/>
                    </a:ext>
                  </a:extLst>
                </a:gridCol>
                <a:gridCol w="2168398">
                  <a:extLst>
                    <a:ext uri="{9D8B030D-6E8A-4147-A177-3AD203B41FA5}">
                      <a16:colId xmlns:a16="http://schemas.microsoft.com/office/drawing/2014/main" val="1747056632"/>
                    </a:ext>
                  </a:extLst>
                </a:gridCol>
                <a:gridCol w="7191910">
                  <a:extLst>
                    <a:ext uri="{9D8B030D-6E8A-4147-A177-3AD203B41FA5}">
                      <a16:colId xmlns:a16="http://schemas.microsoft.com/office/drawing/2014/main" val="25950978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Image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Use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Example Command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662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Base 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-it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219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Web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-d -p 80:80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333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 err="1"/>
                        <a:t>mysql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-d -e MYSQL_ROOT_PASSWORD=1234 </a:t>
                      </a:r>
                      <a:r>
                        <a:rPr lang="en-US" sz="2800" noProof="0" dirty="0" err="1"/>
                        <a:t>mysql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46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mongo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NoSQL 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-d -p 27017:27017 mongo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4558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Runtime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-it 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509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040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9590E-F714-9987-8FA7-7848D1C9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Run a Container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C14919-6C22-92C9-E36B-0FF6F7DEB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011645"/>
              </p:ext>
            </p:extLst>
          </p:nvPr>
        </p:nvGraphicFramePr>
        <p:xfrm>
          <a:off x="256853" y="1463040"/>
          <a:ext cx="11568701" cy="502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373385">
                  <a:extLst>
                    <a:ext uri="{9D8B030D-6E8A-4147-A177-3AD203B41FA5}">
                      <a16:colId xmlns:a16="http://schemas.microsoft.com/office/drawing/2014/main" val="466853833"/>
                    </a:ext>
                  </a:extLst>
                </a:gridCol>
                <a:gridCol w="6195316">
                  <a:extLst>
                    <a:ext uri="{9D8B030D-6E8A-4147-A177-3AD203B41FA5}">
                      <a16:colId xmlns:a16="http://schemas.microsoft.com/office/drawing/2014/main" val="326105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Syntax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Description / Behavior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294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-d -it &lt;container name&gt;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a container in detached mode with interactive terminal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112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Starts a container but it immediately stops (no interactive process running)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985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Lists all currently running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605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-it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container in interactive mode; stays active until you exit the 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613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</a:t>
                      </a:r>
                      <a:r>
                        <a:rPr lang="en-US" sz="2400" b="1" noProof="0" dirty="0" err="1"/>
                        <a:t>dit</a:t>
                      </a:r>
                      <a:r>
                        <a:rPr lang="en-US" sz="2400" b="1" noProof="0" dirty="0"/>
                        <a:t>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container in background (detached mode); continues running even after exiting 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916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-it &lt;container id&gt; /bin/bash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Opens an interactive terminal inside a running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781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807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E46BF-C54C-4D5C-D36E-39BD20BD5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67819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 Container Lifecycle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4FF5A6-6A69-F75E-596A-EDB534714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281948"/>
              </p:ext>
            </p:extLst>
          </p:nvPr>
        </p:nvGraphicFramePr>
        <p:xfrm>
          <a:off x="243155" y="565079"/>
          <a:ext cx="11705689" cy="627925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349712">
                  <a:extLst>
                    <a:ext uri="{9D8B030D-6E8A-4147-A177-3AD203B41FA5}">
                      <a16:colId xmlns:a16="http://schemas.microsoft.com/office/drawing/2014/main" val="2732759339"/>
                    </a:ext>
                  </a:extLst>
                </a:gridCol>
                <a:gridCol w="3242323">
                  <a:extLst>
                    <a:ext uri="{9D8B030D-6E8A-4147-A177-3AD203B41FA5}">
                      <a16:colId xmlns:a16="http://schemas.microsoft.com/office/drawing/2014/main" val="59698115"/>
                    </a:ext>
                  </a:extLst>
                </a:gridCol>
                <a:gridCol w="4113654">
                  <a:extLst>
                    <a:ext uri="{9D8B030D-6E8A-4147-A177-3AD203B41FA5}">
                      <a16:colId xmlns:a16="http://schemas.microsoft.com/office/drawing/2014/main" val="385360713"/>
                    </a:ext>
                  </a:extLst>
                </a:gridCol>
              </a:tblGrid>
              <a:tr h="252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Syntax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2993899"/>
                  </a:ext>
                </a:extLst>
              </a:tr>
              <a:tr h="822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&lt;image&gt;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and stop a container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 run   ubuntu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docker   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900212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-it &lt;image&gt;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a container and directly open an interactive terminal in it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run    -it    ubuntu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exit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docker   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587428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</a:t>
                      </a:r>
                      <a:r>
                        <a:rPr lang="en-US" sz="2400" noProof="0" dirty="0" err="1"/>
                        <a:t>dit</a:t>
                      </a:r>
                      <a:r>
                        <a:rPr lang="en-US" sz="2400" noProof="0" dirty="0"/>
                        <a:t> &lt;image&gt;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in detached mode, so container is running in the background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</a:t>
                      </a:r>
                      <a:r>
                        <a:rPr lang="en-US" sz="2400" b="1" noProof="0" dirty="0" err="1"/>
                        <a:t>dit</a:t>
                      </a:r>
                      <a:r>
                        <a:rPr lang="en-US" sz="2400" b="1" noProof="0" dirty="0"/>
                        <a:t> ubuntu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704680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exec -it &lt;</a:t>
                      </a:r>
                      <a:r>
                        <a:rPr lang="en-US" sz="2400" noProof="0" dirty="0" err="1"/>
                        <a:t>container_id</a:t>
                      </a:r>
                      <a:r>
                        <a:rPr lang="en-US" sz="2400" noProof="0" dirty="0"/>
                        <a:t>&gt; /bin/bash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Access container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-it b3 /bin/bash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673474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stop &lt;</a:t>
                      </a:r>
                      <a:r>
                        <a:rPr lang="en-US" sz="2400" noProof="0" dirty="0" err="1"/>
                        <a:t>container_id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 (by ID)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stop b3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399982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stop &lt;</a:t>
                      </a:r>
                      <a:r>
                        <a:rPr lang="en-US" sz="2400" noProof="0" dirty="0" err="1"/>
                        <a:t>container_name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 (by name)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stop </a:t>
                      </a:r>
                      <a:r>
                        <a:rPr lang="en-US" sz="2400" b="1" noProof="0" dirty="0" err="1"/>
                        <a:t>beautiful_joe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202185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ps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running containers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874312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ps</a:t>
                      </a:r>
                      <a:r>
                        <a:rPr lang="en-US" sz="2400" noProof="0" dirty="0"/>
                        <a:t> -a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all containers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r>
                        <a:rPr lang="en-US" sz="2400" b="1" noProof="0" dirty="0"/>
                        <a:t> -a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915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589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EC63-4179-62B7-6C31-761CBBBF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Image Commands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0C144E-4827-3635-D377-020B2BB80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929108"/>
              </p:ext>
            </p:extLst>
          </p:nvPr>
        </p:nvGraphicFramePr>
        <p:xfrm>
          <a:off x="838200" y="1444108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004335">
                  <a:extLst>
                    <a:ext uri="{9D8B030D-6E8A-4147-A177-3AD203B41FA5}">
                      <a16:colId xmlns:a16="http://schemas.microsoft.com/office/drawing/2014/main" val="1001396243"/>
                    </a:ext>
                  </a:extLst>
                </a:gridCol>
                <a:gridCol w="4479532">
                  <a:extLst>
                    <a:ext uri="{9D8B030D-6E8A-4147-A177-3AD203B41FA5}">
                      <a16:colId xmlns:a16="http://schemas.microsoft.com/office/drawing/2014/main" val="2416615505"/>
                    </a:ext>
                  </a:extLst>
                </a:gridCol>
                <a:gridCol w="3031733">
                  <a:extLst>
                    <a:ext uri="{9D8B030D-6E8A-4147-A177-3AD203B41FA5}">
                      <a16:colId xmlns:a16="http://schemas.microsoft.com/office/drawing/2014/main" val="9773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733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pull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Download image from Docker 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pull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037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all downloaded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02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rmi</a:t>
                      </a:r>
                      <a:r>
                        <a:rPr lang="en-US" sz="2400" noProof="0" dirty="0"/>
                        <a:t>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an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rmi</a:t>
                      </a:r>
                      <a:r>
                        <a:rPr lang="en-US" sz="2400" noProof="0" dirty="0"/>
                        <a:t>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497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24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EC5B-C361-9F7D-5715-A8A42C75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prune – Containers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02F8239-9C0E-6157-44BD-12997C408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443599"/>
              </p:ext>
            </p:extLst>
          </p:nvPr>
        </p:nvGraphicFramePr>
        <p:xfrm>
          <a:off x="458056" y="1690688"/>
          <a:ext cx="11449692" cy="35661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078593">
                  <a:extLst>
                    <a:ext uri="{9D8B030D-6E8A-4147-A177-3AD203B41FA5}">
                      <a16:colId xmlns:a16="http://schemas.microsoft.com/office/drawing/2014/main" val="2436726710"/>
                    </a:ext>
                  </a:extLst>
                </a:gridCol>
                <a:gridCol w="5336762">
                  <a:extLst>
                    <a:ext uri="{9D8B030D-6E8A-4147-A177-3AD203B41FA5}">
                      <a16:colId xmlns:a16="http://schemas.microsoft.com/office/drawing/2014/main" val="691696311"/>
                    </a:ext>
                  </a:extLst>
                </a:gridCol>
                <a:gridCol w="5034337">
                  <a:extLst>
                    <a:ext uri="{9D8B030D-6E8A-4147-A177-3AD203B41FA5}">
                      <a16:colId xmlns:a16="http://schemas.microsoft.com/office/drawing/2014/main" val="1673311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641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docker   run   -d  --name   c1  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Container c1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713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docker   run   -d  --name   c2  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Container c2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536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stop   c1   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Both containers stopped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622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</a:t>
                      </a:r>
                      <a:r>
                        <a:rPr lang="en-IN" sz="2800" b="1" dirty="0" err="1"/>
                        <a:t>ps</a:t>
                      </a:r>
                      <a:r>
                        <a:rPr lang="en-IN" sz="2800" b="1" dirty="0"/>
                        <a:t>  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Shows c1, c2 (stopped)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59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container   prune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Deletes </a:t>
                      </a:r>
                      <a:r>
                        <a:rPr lang="en-IN" sz="2400" b="1" dirty="0"/>
                        <a:t>ALL stopped containers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13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docker   </a:t>
                      </a:r>
                      <a:r>
                        <a:rPr lang="en-IN" sz="2800" b="1" dirty="0" err="1"/>
                        <a:t>ps</a:t>
                      </a:r>
                      <a:r>
                        <a:rPr lang="en-IN" sz="2800" b="1" dirty="0"/>
                        <a:t>  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 stopped containers should appear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011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15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8587-B24E-5D95-42ED-AE05F512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 Image Using </a:t>
            </a:r>
            <a:r>
              <a:rPr lang="en-US" noProof="0" dirty="0" err="1"/>
              <a:t>Dockerfile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1F3E0-7F1D-5F3F-1062-2667122E8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 err="1"/>
              <a:t>Dockerfile</a:t>
            </a:r>
            <a:r>
              <a:rPr lang="en-US" noProof="0" dirty="0"/>
              <a:t>: Contains instructions that we want to give to Docker for building an image … Main instructions 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403F16-F9F3-62A2-8119-C8C86343F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959396"/>
              </p:ext>
            </p:extLst>
          </p:nvPr>
        </p:nvGraphicFramePr>
        <p:xfrm>
          <a:off x="455596" y="2796540"/>
          <a:ext cx="11280808" cy="3606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30667">
                  <a:extLst>
                    <a:ext uri="{9D8B030D-6E8A-4147-A177-3AD203B41FA5}">
                      <a16:colId xmlns:a16="http://schemas.microsoft.com/office/drawing/2014/main" val="75763021"/>
                    </a:ext>
                  </a:extLst>
                </a:gridCol>
                <a:gridCol w="9750141">
                  <a:extLst>
                    <a:ext uri="{9D8B030D-6E8A-4147-A177-3AD203B41FA5}">
                      <a16:colId xmlns:a16="http://schemas.microsoft.com/office/drawing/2014/main" val="1170328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Instruction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612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FROM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Set the base 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843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CMD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Command to be executed when the image is run as a container (Or pass options to ENTRYPOINT)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29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RUN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Executes a command to help build our 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56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EXPOSE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Opens network ports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9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VOLUME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Sets a disk share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04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COPY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Copies files from the local disk to the 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179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ENV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 an environment variable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95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ENTRYPOINT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Determines which executable runs when a container starts (Use CMD to pass options to the executable)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12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169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2E5B-4875-0CB9-A62D-92A5BF25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Python “Hello World”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9A73BD-E7A4-E926-4DEF-3E6F8655B8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801134"/>
              </p:ext>
            </p:extLst>
          </p:nvPr>
        </p:nvGraphicFramePr>
        <p:xfrm>
          <a:off x="452063" y="1690688"/>
          <a:ext cx="10901737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60689">
                  <a:extLst>
                    <a:ext uri="{9D8B030D-6E8A-4147-A177-3AD203B41FA5}">
                      <a16:colId xmlns:a16="http://schemas.microsoft.com/office/drawing/2014/main" val="3202612486"/>
                    </a:ext>
                  </a:extLst>
                </a:gridCol>
                <a:gridCol w="2460480">
                  <a:extLst>
                    <a:ext uri="{9D8B030D-6E8A-4147-A177-3AD203B41FA5}">
                      <a16:colId xmlns:a16="http://schemas.microsoft.com/office/drawing/2014/main" val="818856933"/>
                    </a:ext>
                  </a:extLst>
                </a:gridCol>
                <a:gridCol w="4955134">
                  <a:extLst>
                    <a:ext uri="{9D8B030D-6E8A-4147-A177-3AD203B41FA5}">
                      <a16:colId xmlns:a16="http://schemas.microsoft.com/office/drawing/2014/main" val="1401476892"/>
                    </a:ext>
                  </a:extLst>
                </a:gridCol>
                <a:gridCol w="2725434">
                  <a:extLst>
                    <a:ext uri="{9D8B030D-6E8A-4147-A177-3AD203B41FA5}">
                      <a16:colId xmlns:a16="http://schemas.microsoft.com/office/drawing/2014/main" val="28992815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Content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389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mkdir</a:t>
                      </a:r>
                      <a:r>
                        <a:rPr lang="en-US" sz="2400" noProof="0" dirty="0"/>
                        <a:t>   ~/</a:t>
                      </a:r>
                      <a:r>
                        <a:rPr lang="en-US" sz="2400" noProof="0" dirty="0" err="1"/>
                        <a:t>docker_python_hello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Project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168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Python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hello.py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print("Hello World")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386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</a:t>
                      </a:r>
                      <a:r>
                        <a:rPr lang="en-US" sz="2400" noProof="0" dirty="0" err="1"/>
                        <a:t>Dockerfile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Dockerfile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Next slide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4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Build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build   -t   my-hello-python  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Build Docker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98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run   my-hello-python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Executes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744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747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17AE54-8A21-346F-BCFD-D361B7078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6E21F8-C7C6-3033-5E95-85D60AAFE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hello.py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85FCD-A185-0776-9362-60C8D969DE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print("Hello World from Python!")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6A57FB5-8A24-30F0-7513-3E55109FB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 err="1"/>
              <a:t>Dockerfile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02AB112-02E8-B5DC-A106-8A8F081ED80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FROM   python:3.11-slim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WORKDIR   /app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COPY    hello.py    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CMD ["python", "hello.py"]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2C9841-3D36-9580-233E-FA3F3C207312}"/>
              </a:ext>
            </a:extLst>
          </p:cNvPr>
          <p:cNvSpPr txBox="1"/>
          <p:nvPr/>
        </p:nvSpPr>
        <p:spPr>
          <a:xfrm>
            <a:off x="336514" y="3429000"/>
            <a:ext cx="5835686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dirty="0"/>
              <a:t>After creating these files, run the following commands</a:t>
            </a:r>
          </a:p>
          <a:p>
            <a:endParaRPr lang="en-IN" sz="2800" dirty="0"/>
          </a:p>
          <a:p>
            <a:r>
              <a:rPr lang="en-IN" sz="2800" b="1" dirty="0">
                <a:solidFill>
                  <a:srgbClr val="FF0000"/>
                </a:solidFill>
              </a:rPr>
              <a:t>docker    build     -t     hello-python   .</a:t>
            </a:r>
          </a:p>
          <a:p>
            <a:endParaRPr lang="en-IN" sz="2800" b="1" dirty="0">
              <a:solidFill>
                <a:srgbClr val="FF0000"/>
              </a:solidFill>
            </a:endParaRPr>
          </a:p>
          <a:p>
            <a:r>
              <a:rPr lang="en-IN" sz="2800" b="1" dirty="0">
                <a:solidFill>
                  <a:srgbClr val="FF0000"/>
                </a:solidFill>
              </a:rPr>
              <a:t>docker    run     hello-python</a:t>
            </a:r>
          </a:p>
        </p:txBody>
      </p:sp>
    </p:spTree>
    <p:extLst>
      <p:ext uri="{BB962C8B-B14F-4D97-AF65-F5344CB8AC3E}">
        <p14:creationId xmlns:p14="http://schemas.microsoft.com/office/powerpoint/2010/main" val="2995998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D3224-F34E-7633-287E-C283B489A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Python-Flask Hello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95E10-1329-2BD0-2F16-1B2F1FB32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app.py</a:t>
            </a:r>
          </a:p>
          <a:p>
            <a:r>
              <a:rPr lang="en-US" dirty="0"/>
              <a:t>from flask import Flask</a:t>
            </a:r>
          </a:p>
          <a:p>
            <a:endParaRPr lang="en-US" dirty="0"/>
          </a:p>
          <a:p>
            <a:r>
              <a:rPr lang="en-US" dirty="0"/>
              <a:t>app = Flask(__name__)</a:t>
            </a:r>
          </a:p>
          <a:p>
            <a:endParaRPr lang="en-US" dirty="0"/>
          </a:p>
          <a:p>
            <a:r>
              <a:rPr lang="en-US" dirty="0"/>
              <a:t>@app.route("/")</a:t>
            </a:r>
          </a:p>
          <a:p>
            <a:r>
              <a:rPr lang="en-US" dirty="0"/>
              <a:t>def hello():</a:t>
            </a:r>
          </a:p>
          <a:p>
            <a:r>
              <a:rPr lang="en-US" dirty="0"/>
              <a:t>    return "Hello World from Flask in Docker!"</a:t>
            </a:r>
          </a:p>
          <a:p>
            <a:endParaRPr lang="en-US" dirty="0"/>
          </a:p>
          <a:p>
            <a:r>
              <a:rPr lang="en-US" dirty="0"/>
              <a:t>if __name__ == "__main__":</a:t>
            </a:r>
          </a:p>
          <a:p>
            <a:r>
              <a:rPr lang="en-US" dirty="0"/>
              <a:t>    </a:t>
            </a:r>
            <a:r>
              <a:rPr lang="en-US" dirty="0" err="1"/>
              <a:t>app.run</a:t>
            </a:r>
            <a:r>
              <a:rPr lang="en-US" dirty="0"/>
              <a:t>(host="0.0.0.0", port=5000)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209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C6C96-73D9-F44A-2442-6A1368324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4F74-4CD9-6FE4-0204-D9BB10E8D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Python-Flask Hello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3B186-CA23-DA26-F908-AE80BDD2D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 err="1"/>
              <a:t>Dockerfile</a:t>
            </a:r>
            <a:endParaRPr lang="en-IN" dirty="0"/>
          </a:p>
          <a:p>
            <a:r>
              <a:rPr lang="en-US" dirty="0"/>
              <a:t>FROM    python:3.11-slim</a:t>
            </a:r>
          </a:p>
          <a:p>
            <a:endParaRPr lang="en-US" dirty="0"/>
          </a:p>
          <a:p>
            <a:r>
              <a:rPr lang="en-US" dirty="0"/>
              <a:t>WORKDIR     /app</a:t>
            </a:r>
          </a:p>
          <a:p>
            <a:endParaRPr lang="en-US" dirty="0"/>
          </a:p>
          <a:p>
            <a:r>
              <a:rPr lang="en-US" dirty="0"/>
              <a:t>COPY     app.py     .</a:t>
            </a:r>
          </a:p>
          <a:p>
            <a:endParaRPr lang="en-US" dirty="0"/>
          </a:p>
          <a:p>
            <a:r>
              <a:rPr lang="en-US" dirty="0"/>
              <a:t>RUN    pip     install     flask</a:t>
            </a:r>
          </a:p>
          <a:p>
            <a:endParaRPr lang="en-US" dirty="0"/>
          </a:p>
          <a:p>
            <a:r>
              <a:rPr lang="en-US" dirty="0"/>
              <a:t>EXPOSE     5000</a:t>
            </a:r>
          </a:p>
          <a:p>
            <a:endParaRPr lang="en-US" dirty="0"/>
          </a:p>
          <a:p>
            <a:r>
              <a:rPr lang="en-US" dirty="0"/>
              <a:t>CMD     ["python",  "app.py"]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326E1-89CA-5986-DCE2-E88EA3DD7A0D}"/>
              </a:ext>
            </a:extLst>
          </p:cNvPr>
          <p:cNvSpPr txBox="1"/>
          <p:nvPr/>
        </p:nvSpPr>
        <p:spPr>
          <a:xfrm>
            <a:off x="4962417" y="2062537"/>
            <a:ext cx="6583167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dirty="0"/>
              <a:t>After creating these files, run the following commands</a:t>
            </a:r>
          </a:p>
          <a:p>
            <a:endParaRPr lang="en-IN" sz="2800" dirty="0"/>
          </a:p>
          <a:p>
            <a:r>
              <a:rPr lang="sv-SE" sz="2800" b="1" dirty="0">
                <a:solidFill>
                  <a:srgbClr val="FF0000"/>
                </a:solidFill>
              </a:rPr>
              <a:t>docker   build   -t    flask-hello    .</a:t>
            </a:r>
          </a:p>
          <a:p>
            <a:endParaRPr lang="sv-SE" sz="2800" b="1" dirty="0">
              <a:solidFill>
                <a:srgbClr val="FF0000"/>
              </a:solidFill>
            </a:endParaRPr>
          </a:p>
          <a:p>
            <a:r>
              <a:rPr lang="sv-SE" sz="2800" b="1" dirty="0">
                <a:solidFill>
                  <a:srgbClr val="FF0000"/>
                </a:solidFill>
              </a:rPr>
              <a:t>docker   run   -p   5000:5000    flask-hello</a:t>
            </a:r>
          </a:p>
          <a:p>
            <a:endParaRPr lang="sv-SE" sz="2800" b="1" dirty="0">
              <a:solidFill>
                <a:srgbClr val="FF0000"/>
              </a:solidFill>
            </a:endParaRPr>
          </a:p>
          <a:p>
            <a:r>
              <a:rPr lang="en-IN" sz="2800" dirty="0"/>
              <a:t>Open browser and try </a:t>
            </a:r>
            <a:r>
              <a:rPr lang="en-IN" sz="2800" b="1" dirty="0">
                <a:solidFill>
                  <a:srgbClr val="FF0000"/>
                </a:solidFill>
              </a:rPr>
              <a:t>localhost:5000</a:t>
            </a:r>
          </a:p>
          <a:p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224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A63A-549B-373F-E19F-6102649F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Pushing Image to </a:t>
            </a:r>
            <a:r>
              <a:rPr lang="en-IN" dirty="0" err="1"/>
              <a:t>DockerHub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D60BC-A56C-E7CB-037D-4F7AAA8AB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an ID for yourself on </a:t>
            </a:r>
            <a:r>
              <a:rPr lang="en-IN" dirty="0" err="1"/>
              <a:t>DockerHub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docker   tag     </a:t>
            </a:r>
            <a:r>
              <a:rPr lang="sv-SE" b="1" dirty="0"/>
              <a:t>flask-hello</a:t>
            </a:r>
            <a:r>
              <a:rPr lang="en-IN" b="1" dirty="0"/>
              <a:t>      </a:t>
            </a:r>
            <a:r>
              <a:rPr lang="en-IN" b="1" dirty="0" err="1"/>
              <a:t>yourdockerusername</a:t>
            </a:r>
            <a:r>
              <a:rPr lang="en-IN" b="1" dirty="0"/>
              <a:t>/flask-hello:1.0</a:t>
            </a:r>
          </a:p>
          <a:p>
            <a:endParaRPr lang="en-IN" b="1" dirty="0"/>
          </a:p>
          <a:p>
            <a:r>
              <a:rPr lang="en-IN" b="1" dirty="0"/>
              <a:t>docker   push     </a:t>
            </a:r>
            <a:r>
              <a:rPr lang="en-IN" b="1" dirty="0" err="1"/>
              <a:t>yourdockerusername</a:t>
            </a:r>
            <a:r>
              <a:rPr lang="en-IN" b="1" dirty="0"/>
              <a:t>/flask-hello:1.0</a:t>
            </a:r>
          </a:p>
          <a:p>
            <a:endParaRPr lang="en-IN" dirty="0"/>
          </a:p>
          <a:p>
            <a:r>
              <a:rPr lang="en-IN" dirty="0"/>
              <a:t>To test: </a:t>
            </a:r>
            <a:r>
              <a:rPr lang="en-IN" b="1" dirty="0"/>
              <a:t>docker   run    </a:t>
            </a:r>
            <a:r>
              <a:rPr lang="en-IN" b="1" dirty="0" err="1"/>
              <a:t>yourdockerusername</a:t>
            </a:r>
            <a:r>
              <a:rPr lang="en-IN" b="1" dirty="0"/>
              <a:t>/flask-hello:1.0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37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9802</TotalTime>
  <Words>1164</Words>
  <Application>Microsoft Office PowerPoint</Application>
  <PresentationFormat>Widescreen</PresentationFormat>
  <Paragraphs>336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Docker: Containerization</vt:lpstr>
      <vt:lpstr>DevOps Lifecycle</vt:lpstr>
      <vt:lpstr>Agile versus DevOps</vt:lpstr>
      <vt:lpstr>PowerPoint Presentation</vt:lpstr>
      <vt:lpstr>What is Docker?</vt:lpstr>
      <vt:lpstr>Image and Container</vt:lpstr>
      <vt:lpstr>Container versus Virtual Machine</vt:lpstr>
      <vt:lpstr>Installing Docker on Ubuntu</vt:lpstr>
      <vt:lpstr>Ready Docker Images</vt:lpstr>
      <vt:lpstr>Run a Container</vt:lpstr>
      <vt:lpstr>Docker Container Lifecycle</vt:lpstr>
      <vt:lpstr>Docker Image Commands</vt:lpstr>
      <vt:lpstr>docker prune – Containers</vt:lpstr>
      <vt:lpstr>Build Image Using Dockerfile</vt:lpstr>
      <vt:lpstr>Python “Hello World”</vt:lpstr>
      <vt:lpstr>Files</vt:lpstr>
      <vt:lpstr>Python-Flask Hello World</vt:lpstr>
      <vt:lpstr>Python-Flask Hello World</vt:lpstr>
      <vt:lpstr>Pushing Image to DockerHub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88</cp:revision>
  <dcterms:created xsi:type="dcterms:W3CDTF">2024-11-17T11:29:29Z</dcterms:created>
  <dcterms:modified xsi:type="dcterms:W3CDTF">2026-09-10T05:54:54Z</dcterms:modified>
</cp:coreProperties>
</file>