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223" r:id="rId2"/>
    <p:sldId id="599" r:id="rId3"/>
    <p:sldId id="1163" r:id="rId4"/>
    <p:sldId id="1190" r:id="rId5"/>
    <p:sldId id="600" r:id="rId6"/>
    <p:sldId id="1191" r:id="rId7"/>
    <p:sldId id="601" r:id="rId8"/>
    <p:sldId id="1192" r:id="rId9"/>
    <p:sldId id="1193" r:id="rId10"/>
    <p:sldId id="602" r:id="rId11"/>
    <p:sldId id="1166" r:id="rId12"/>
    <p:sldId id="913" r:id="rId13"/>
    <p:sldId id="1169" r:id="rId14"/>
    <p:sldId id="1170" r:id="rId15"/>
    <p:sldId id="885" r:id="rId16"/>
    <p:sldId id="915" r:id="rId17"/>
    <p:sldId id="1194" r:id="rId18"/>
    <p:sldId id="1195" r:id="rId19"/>
    <p:sldId id="1167" r:id="rId20"/>
    <p:sldId id="1313" r:id="rId21"/>
    <p:sldId id="1211" r:id="rId22"/>
    <p:sldId id="1210" r:id="rId23"/>
    <p:sldId id="1196" r:id="rId24"/>
    <p:sldId id="1197" r:id="rId25"/>
    <p:sldId id="1198" r:id="rId26"/>
    <p:sldId id="1199" r:id="rId27"/>
    <p:sldId id="1200" r:id="rId28"/>
    <p:sldId id="1201" r:id="rId29"/>
    <p:sldId id="1222" r:id="rId30"/>
    <p:sldId id="1203" r:id="rId31"/>
    <p:sldId id="1204" r:id="rId32"/>
    <p:sldId id="1205" r:id="rId33"/>
    <p:sldId id="1259" r:id="rId34"/>
    <p:sldId id="1260" r:id="rId35"/>
    <p:sldId id="1212" r:id="rId36"/>
    <p:sldId id="1213" r:id="rId37"/>
    <p:sldId id="1214" r:id="rId38"/>
    <p:sldId id="1215" r:id="rId39"/>
    <p:sldId id="1312" r:id="rId40"/>
    <p:sldId id="1216" r:id="rId41"/>
    <p:sldId id="1217" r:id="rId42"/>
    <p:sldId id="1277" r:id="rId43"/>
    <p:sldId id="1278" r:id="rId44"/>
    <p:sldId id="1206" r:id="rId45"/>
    <p:sldId id="1207" r:id="rId46"/>
    <p:sldId id="1188" r:id="rId47"/>
    <p:sldId id="1208" r:id="rId48"/>
    <p:sldId id="1218" r:id="rId49"/>
    <p:sldId id="1219" r:id="rId50"/>
    <p:sldId id="1261" r:id="rId51"/>
    <p:sldId id="1262" r:id="rId52"/>
    <p:sldId id="1263" r:id="rId53"/>
    <p:sldId id="1264" r:id="rId54"/>
    <p:sldId id="1279" r:id="rId55"/>
    <p:sldId id="1317" r:id="rId56"/>
    <p:sldId id="1314" r:id="rId57"/>
    <p:sldId id="1315" r:id="rId58"/>
    <p:sldId id="1316" r:id="rId59"/>
    <p:sldId id="1220" r:id="rId60"/>
    <p:sldId id="1221" r:id="rId61"/>
    <p:sldId id="1224" r:id="rId62"/>
    <p:sldId id="1249" r:id="rId63"/>
    <p:sldId id="1250" r:id="rId64"/>
    <p:sldId id="1244" r:id="rId65"/>
    <p:sldId id="1245" r:id="rId66"/>
    <p:sldId id="1247" r:id="rId67"/>
    <p:sldId id="1246" r:id="rId68"/>
    <p:sldId id="1248" r:id="rId69"/>
    <p:sldId id="1225" r:id="rId70"/>
    <p:sldId id="1226" r:id="rId71"/>
    <p:sldId id="1227" r:id="rId72"/>
    <p:sldId id="1228" r:id="rId73"/>
    <p:sldId id="1300" r:id="rId74"/>
    <p:sldId id="1294" r:id="rId75"/>
    <p:sldId id="1303" r:id="rId76"/>
    <p:sldId id="1302" r:id="rId77"/>
    <p:sldId id="1301" r:id="rId78"/>
    <p:sldId id="1304" r:id="rId79"/>
    <p:sldId id="1305" r:id="rId80"/>
    <p:sldId id="1319" r:id="rId81"/>
    <p:sldId id="1281" r:id="rId82"/>
    <p:sldId id="1282" r:id="rId83"/>
    <p:sldId id="1283" r:id="rId84"/>
    <p:sldId id="1286" r:id="rId85"/>
    <p:sldId id="1320" r:id="rId86"/>
    <p:sldId id="1321" r:id="rId87"/>
    <p:sldId id="1295" r:id="rId88"/>
    <p:sldId id="1296" r:id="rId89"/>
    <p:sldId id="1297" r:id="rId90"/>
    <p:sldId id="1298" r:id="rId91"/>
    <p:sldId id="1299" r:id="rId92"/>
    <p:sldId id="1284" r:id="rId93"/>
    <p:sldId id="1285" r:id="rId94"/>
    <p:sldId id="1280" r:id="rId95"/>
    <p:sldId id="1231" r:id="rId96"/>
    <p:sldId id="1232" r:id="rId97"/>
    <p:sldId id="1233" r:id="rId98"/>
    <p:sldId id="1229" r:id="rId99"/>
    <p:sldId id="1230" r:id="rId100"/>
    <p:sldId id="1287" r:id="rId101"/>
    <p:sldId id="1288" r:id="rId102"/>
    <p:sldId id="1237" r:id="rId103"/>
    <p:sldId id="1322" r:id="rId104"/>
    <p:sldId id="1289" r:id="rId105"/>
    <p:sldId id="1323" r:id="rId106"/>
    <p:sldId id="1324" r:id="rId107"/>
    <p:sldId id="1290" r:id="rId108"/>
    <p:sldId id="1291" r:id="rId109"/>
    <p:sldId id="1238" r:id="rId110"/>
    <p:sldId id="1292" r:id="rId111"/>
    <p:sldId id="1239" r:id="rId112"/>
    <p:sldId id="1306" r:id="rId113"/>
    <p:sldId id="1241" r:id="rId114"/>
    <p:sldId id="1293" r:id="rId115"/>
    <p:sldId id="1240" r:id="rId116"/>
    <p:sldId id="1242" r:id="rId117"/>
    <p:sldId id="1234" r:id="rId118"/>
    <p:sldId id="1235" r:id="rId119"/>
    <p:sldId id="1269" r:id="rId120"/>
    <p:sldId id="1236" r:id="rId121"/>
    <p:sldId id="1309" r:id="rId122"/>
    <p:sldId id="1325" r:id="rId123"/>
    <p:sldId id="1326" r:id="rId124"/>
    <p:sldId id="1243" r:id="rId125"/>
    <p:sldId id="1270" r:id="rId126"/>
    <p:sldId id="1271" r:id="rId127"/>
    <p:sldId id="1251" r:id="rId128"/>
    <p:sldId id="1252" r:id="rId129"/>
    <p:sldId id="1253" r:id="rId130"/>
    <p:sldId id="1327" r:id="rId131"/>
    <p:sldId id="1254" r:id="rId132"/>
    <p:sldId id="1255" r:id="rId133"/>
    <p:sldId id="1328" r:id="rId134"/>
    <p:sldId id="1329" r:id="rId135"/>
    <p:sldId id="1330" r:id="rId136"/>
    <p:sldId id="1332" r:id="rId137"/>
    <p:sldId id="1333" r:id="rId138"/>
    <p:sldId id="1331" r:id="rId139"/>
    <p:sldId id="1334" r:id="rId140"/>
    <p:sldId id="1257" r:id="rId141"/>
    <p:sldId id="1310" r:id="rId142"/>
    <p:sldId id="1311" r:id="rId143"/>
    <p:sldId id="1258" r:id="rId144"/>
    <p:sldId id="1256" r:id="rId145"/>
    <p:sldId id="1272" r:id="rId146"/>
    <p:sldId id="1307" r:id="rId147"/>
    <p:sldId id="1273" r:id="rId148"/>
    <p:sldId id="1308" r:id="rId149"/>
    <p:sldId id="1274" r:id="rId150"/>
    <p:sldId id="1275" r:id="rId151"/>
    <p:sldId id="1276" r:id="rId152"/>
    <p:sldId id="1318" r:id="rId153"/>
    <p:sldId id="1335" r:id="rId154"/>
    <p:sldId id="1265" r:id="rId155"/>
    <p:sldId id="1266" r:id="rId156"/>
    <p:sldId id="1267" r:id="rId157"/>
    <p:sldId id="1268" r:id="rId1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8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presProps" Target="presProp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0C5E8-7C39-2D3E-65CC-CCAFC38B98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CABAC9-B779-364B-ED51-2F1030F96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7BEC2-FB67-A8D2-C499-7DF13A75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C147-AD92-D46B-B8F3-683AD3F7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FFE8A-0853-CCAB-415D-B1627FC7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7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0994-D006-194B-B38A-95591BA2E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74FC3-276D-0161-485C-D3A86537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F2F4A-D173-125C-8951-962BB182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0008-F577-7903-7327-98EA4C9A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3B504-1CD2-C193-E922-D557F832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20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4726-766B-D8B1-1C51-FE90D372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624E2-AD57-909D-C109-450DA499C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CA50-8F0A-6494-6D7A-26F7CD70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9333-81D5-4C24-3E98-5DA4DD5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D9DAA-DC73-3C41-DD27-85CFD96C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2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3EE5F-FE02-23BE-1055-9EBACBFA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8411A-9AEA-6443-38EB-9D38FB840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C55F5-A964-FC53-1A2D-3C4952C26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C925D-268E-51F0-27FC-AE50706E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DF30C-9D8B-1F15-A261-0CF3A6C3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BA17D-DFF1-E226-5F1E-9B374C75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74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C582-D947-0859-23E1-B265F26C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9BD4E-540E-A702-21D3-9FDEB2F84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F748D-5673-E1C4-A60C-15F3DDE89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E63DB3-5052-7BAF-7E2E-52D8FBAAF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74406-A77A-7D54-C57F-709D4FA95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BCEE2-4ADA-633F-3CCF-60543434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29C171-3C32-C2E5-3E10-C72E641D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F61CA-3097-B78D-A401-59FA9465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7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171B-B007-53AE-509C-9A21DA233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4A8B0-497A-56B0-CB2E-9EAA830C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167CD-8AB1-3219-E476-6E35AA74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3BBE2-8446-AB09-1497-8EC01B14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01F533-A42B-9896-0A4E-1B35F367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7EE8E-6571-6EF9-62C6-F5305239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62B7-9E82-853C-6428-7FDCDBFC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22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77C6-0B4D-E2DE-AFA6-BF52BFB4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6757C-E6E6-46E1-B3AB-321F8166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33463-3E04-5C92-84F8-06C46819A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03027-00E3-2CBE-9403-521FBE18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4F682-6F0F-829D-942F-1196E0BFB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9D59D-9551-E761-D8B9-754A4138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740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CFAB-1258-93DE-8249-8673A733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573542-A08E-DD53-C03D-1122556A8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43306A-274A-C8F8-99E9-9DA9B9D8B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2311B-1F44-EC04-AE70-8C5836A6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5F7BC-9968-C2C8-1AED-A0A82127A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6C8E9-D8F2-DC38-5EAD-1326D6E8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7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A1878-930B-0DDB-6637-49B87B12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2C5586-A97F-4684-0518-2C88CD27A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3FA6A-02A8-D3F2-79EC-48CCFD48D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84F4-62FB-1A2A-0048-A93510CE6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7FF31-5CA7-1838-C1AE-4742305D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65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4AC48-B3DE-5256-B8F4-30AF6B693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5770D-9F51-18B8-7962-B066E37B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790C6-EC97-AD51-14DC-AC853A2B7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D290-436C-5D7F-A96E-7DB07A15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D060B-50CD-F8AE-00E8-B88250954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78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DB386B-1BEC-B124-1A6C-FCEA745BA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085FA-CCE0-E8AB-1C0A-BC7591FA9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15AD2-FE30-4397-E041-D7896D3D4F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CD8F9-ADBF-4D72-AC53-0F33E84027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AADD3-F280-3856-F1F3-6DA9E67FCC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9324F-EDED-826B-9561-452F58902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C9105E-59F8-43E1-9C42-558F4725C3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64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6237-D6CB-FC9C-79C4-AAD99973C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Linux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01FCC-F773-1EAC-BD02-94EE5133B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28497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BA07-0576-DA18-14F1-A4B7923C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18FF0-ABDE-5B93-E425-B245C8D72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Linux: World’s most widely used kernel</a:t>
            </a:r>
          </a:p>
          <a:p>
            <a:r>
              <a:rPr lang="en-IN" dirty="0"/>
              <a:t>Origins in UNIX: Ken Thompson – 1969</a:t>
            </a:r>
          </a:p>
          <a:p>
            <a:r>
              <a:rPr lang="en-IN" dirty="0"/>
              <a:t>Richard Stallman created GNU (1984): Free software alternative to UNIX, created UNIX utilities, but kernel was missing</a:t>
            </a:r>
          </a:p>
          <a:p>
            <a:r>
              <a:rPr lang="en-IN" dirty="0"/>
              <a:t>Linux kernel: Created by Linus Torvalds in 1991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326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FD98A-3A4E-91DC-F24D-068DDEDDD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7972-156B-D3BC-EB86-0209CB40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Kernel = Core of the Operating System</a:t>
            </a:r>
          </a:p>
          <a:p>
            <a:r>
              <a:rPr lang="en-US" dirty="0"/>
              <a:t>Applications -&gt; Kernel -&gt; Hardware</a:t>
            </a:r>
          </a:p>
          <a:p>
            <a:r>
              <a:rPr lang="en-US" dirty="0"/>
              <a:t>Manages system resources and provides services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FD6ED-0110-E20D-289C-94C2D620F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418100"/>
              </p:ext>
            </p:extLst>
          </p:nvPr>
        </p:nvGraphicFramePr>
        <p:xfrm>
          <a:off x="714910" y="389130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64623">
                  <a:extLst>
                    <a:ext uri="{9D8B030D-6E8A-4147-A177-3AD203B41FA5}">
                      <a16:colId xmlns:a16="http://schemas.microsoft.com/office/drawing/2014/main" val="4220453709"/>
                    </a:ext>
                  </a:extLst>
                </a:gridCol>
                <a:gridCol w="6750977">
                  <a:extLst>
                    <a:ext uri="{9D8B030D-6E8A-4147-A177-3AD203B41FA5}">
                      <a16:colId xmlns:a16="http://schemas.microsoft.com/office/drawing/2014/main" val="7672170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057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Process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Controls running programs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37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Memory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Allocates RAM to programs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939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Device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Communicates with hardware devices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94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 System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Manages files and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292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System Calls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Interface between applications and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003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835D9-F3C1-43F3-23F9-3F81E281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Kernel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CD5B9-FA3C-4508-9FAA-47CAC813E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Linux = </a:t>
            </a:r>
            <a:r>
              <a:rPr lang="en-GB" b="1" dirty="0"/>
              <a:t>Monolithic kernel</a:t>
            </a:r>
            <a:r>
              <a:rPr lang="en-GB" dirty="0"/>
              <a:t> — all core services run in kernel space, giving high performance and direct hardware access.</a:t>
            </a:r>
          </a:p>
          <a:p>
            <a:pPr lvl="0"/>
            <a:r>
              <a:rPr lang="en-GB" dirty="0"/>
              <a:t>Flow: </a:t>
            </a:r>
            <a:r>
              <a:rPr lang="en-GB" b="1" dirty="0"/>
              <a:t>User programs → System calls → Kernel → Hardware</a:t>
            </a:r>
            <a:endParaRPr lang="en-GB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DFBE4E-02A2-D4F6-5F35-D3C7A21A9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915036"/>
              </p:ext>
            </p:extLst>
          </p:nvPr>
        </p:nvGraphicFramePr>
        <p:xfrm>
          <a:off x="838200" y="3360516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72302406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240550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651981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User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Kernel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652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Runs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Apps (Firefox, Python)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Kernel code (scheduler, drivers)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137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Hardware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None (indirect)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31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Restricted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Privileged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625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179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70C5-3C5F-9FAD-6955-2134DB3D6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Distribution (“Distro”)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D97D-7003-0935-170A-19BBEE5BA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Linux Distribution (Distro)</a:t>
            </a:r>
            <a:r>
              <a:rPr lang="en-US" dirty="0"/>
              <a:t>: Complete operating system built around the </a:t>
            </a:r>
            <a:r>
              <a:rPr lang="en-US" b="1" dirty="0"/>
              <a:t>Linux kernel</a:t>
            </a:r>
          </a:p>
          <a:p>
            <a:r>
              <a:rPr lang="en-US" dirty="0"/>
              <a:t>Linux Distribution = </a:t>
            </a:r>
            <a:r>
              <a:rPr lang="en-US" b="1" dirty="0"/>
              <a:t>Kernel + Software + Tools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8897DA-8FE0-88F5-2BB1-C068F39CE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138768"/>
              </p:ext>
            </p:extLst>
          </p:nvPr>
        </p:nvGraphicFramePr>
        <p:xfrm>
          <a:off x="838200" y="3429000"/>
          <a:ext cx="10515600" cy="23774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1566367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0616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 Distribution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7496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Desktop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318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Enterprise servers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Red Hat Enterprise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740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Security testing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Kali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629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Lightweight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Lubuntu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487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Fedora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622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14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2EF6-DC6E-D9D2-CF49-BF88939A5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Distribution Families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D4AF80-807D-BB9F-385A-0C9A2F115D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455985"/>
              </p:ext>
            </p:extLst>
          </p:nvPr>
        </p:nvGraphicFramePr>
        <p:xfrm>
          <a:off x="838200" y="1422481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7236462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328365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Family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 Distributions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92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Debian-based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Ubuntu, Linux Mint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303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Red Hat-based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Fedora, CentOS, RHEL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337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Arch-based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Arch Linux, Manjaro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379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SUSE-based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openSUSE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0164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DF1159A-AD35-8F1F-CF69-B2DB307D9D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46057"/>
              </p:ext>
            </p:extLst>
          </p:nvPr>
        </p:nvGraphicFramePr>
        <p:xfrm>
          <a:off x="838200" y="388005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2781254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75616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Ubuntu: an example - 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645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Linux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999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Desktop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GNOME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800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Package Manager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0418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950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Installer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Ubiquity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3630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42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4545-2DC8-2C4B-3A90-C0F7D83B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72D8-7B06-3A80-D7DB-91C2D7DBA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 line interface (CLI) is provided by a </a:t>
            </a:r>
            <a:r>
              <a:rPr lang="en-US" b="1" dirty="0"/>
              <a:t>Shell</a:t>
            </a:r>
            <a:endParaRPr lang="en-IN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7D87E1-7CD5-DDCF-84D4-B2E1E2B51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18889"/>
              </p:ext>
            </p:extLst>
          </p:nvPr>
        </p:nvGraphicFramePr>
        <p:xfrm>
          <a:off x="838200" y="2355374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31724">
                  <a:extLst>
                    <a:ext uri="{9D8B030D-6E8A-4147-A177-3AD203B41FA5}">
                      <a16:colId xmlns:a16="http://schemas.microsoft.com/office/drawing/2014/main" val="4280444757"/>
                    </a:ext>
                  </a:extLst>
                </a:gridCol>
                <a:gridCol w="2126750">
                  <a:extLst>
                    <a:ext uri="{9D8B030D-6E8A-4147-A177-3AD203B41FA5}">
                      <a16:colId xmlns:a16="http://schemas.microsoft.com/office/drawing/2014/main" val="2936802096"/>
                    </a:ext>
                  </a:extLst>
                </a:gridCol>
                <a:gridCol w="5857126">
                  <a:extLst>
                    <a:ext uri="{9D8B030D-6E8A-4147-A177-3AD203B41FA5}">
                      <a16:colId xmlns:a16="http://schemas.microsoft.com/office/drawing/2014/main" val="2703934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Program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905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Bourne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Original UNIX shell developed at AT&amp;T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95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Shell developed as part of BSD UNIX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028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TC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tcsh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Enhanced version of csh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51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Korn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Improved Bourne shell developed at AT&amp;T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364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Bourne Again 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Default shell in most Linux distributions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642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185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487F-433F-C463-4D2F-05AB1003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Various Aspects of Linux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43DCDC-4590-2FBA-C766-8246AFB8A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256989"/>
              </p:ext>
            </p:extLst>
          </p:nvPr>
        </p:nvGraphicFramePr>
        <p:xfrm>
          <a:off x="684087" y="1690688"/>
          <a:ext cx="10515600" cy="4480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10484">
                  <a:extLst>
                    <a:ext uri="{9D8B030D-6E8A-4147-A177-3AD203B41FA5}">
                      <a16:colId xmlns:a16="http://schemas.microsoft.com/office/drawing/2014/main" val="2542772067"/>
                    </a:ext>
                  </a:extLst>
                </a:gridCol>
                <a:gridCol w="3147316">
                  <a:extLst>
                    <a:ext uri="{9D8B030D-6E8A-4147-A177-3AD203B41FA5}">
                      <a16:colId xmlns:a16="http://schemas.microsoft.com/office/drawing/2014/main" val="3288990149"/>
                    </a:ext>
                  </a:extLst>
                </a:gridCol>
                <a:gridCol w="3027452">
                  <a:extLst>
                    <a:ext uri="{9D8B030D-6E8A-4147-A177-3AD203B41FA5}">
                      <a16:colId xmlns:a16="http://schemas.microsoft.com/office/drawing/2014/main" val="1542259731"/>
                    </a:ext>
                  </a:extLst>
                </a:gridCol>
                <a:gridCol w="2230348">
                  <a:extLst>
                    <a:ext uri="{9D8B030D-6E8A-4147-A177-3AD203B41FA5}">
                      <a16:colId xmlns:a16="http://schemas.microsoft.com/office/drawing/2014/main" val="4091359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Role in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891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Terminal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 program that provides a text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Lets users type 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GNOME Terminal, xterm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965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Shell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command interpreter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Reads commands and sends requests to the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bash, sh, zsh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943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Command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Instruction given by the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Performs a task using shell and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ls, pwd, 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662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Kernel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Core of the operating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Manages hardware and system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Linux 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8434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09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FA6-ABBD-C48A-B1AA-C8A77B75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 User Command is Processed? (e.g. ls)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B8448D-22A0-3029-193E-25534383E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165038"/>
              </p:ext>
            </p:extLst>
          </p:nvPr>
        </p:nvGraphicFramePr>
        <p:xfrm>
          <a:off x="118663" y="1987559"/>
          <a:ext cx="3915865" cy="2793132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89050">
                  <a:extLst>
                    <a:ext uri="{9D8B030D-6E8A-4147-A177-3AD203B41FA5}">
                      <a16:colId xmlns:a16="http://schemas.microsoft.com/office/drawing/2014/main" val="4286999359"/>
                    </a:ext>
                  </a:extLst>
                </a:gridCol>
                <a:gridCol w="2526815">
                  <a:extLst>
                    <a:ext uri="{9D8B030D-6E8A-4147-A177-3AD203B41FA5}">
                      <a16:colId xmlns:a16="http://schemas.microsoft.com/office/drawing/2014/main" val="3782677107"/>
                    </a:ext>
                  </a:extLst>
                </a:gridCol>
              </a:tblGrid>
              <a:tr h="50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981045"/>
                  </a:ext>
                </a:extLst>
              </a:tr>
              <a:tr h="50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Accepts the typed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612738"/>
                  </a:ext>
                </a:extLst>
              </a:tr>
              <a:tr h="50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Interprets the command 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276508"/>
                  </a:ext>
                </a:extLst>
              </a:tr>
              <a:tr h="50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Kernel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Accesses the filesystem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0079477"/>
                  </a:ext>
                </a:extLst>
              </a:tr>
              <a:tr h="50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Displays the list of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488372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7BB4E44-5584-3CF3-4DBE-44BADF2EE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506" y="1640335"/>
            <a:ext cx="7881831" cy="443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0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4545-2DC8-2C4B-3A90-C0F7D83B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Shell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A72D8-7B06-3A80-D7DB-91C2D7DBA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Format: </a:t>
            </a:r>
            <a:r>
              <a:rPr lang="en-GB" dirty="0" err="1"/>
              <a:t>username@machine:directory</a:t>
            </a:r>
            <a:r>
              <a:rPr lang="en-GB" dirty="0"/>
              <a:t>$</a:t>
            </a:r>
            <a:endParaRPr lang="en-IN" dirty="0"/>
          </a:p>
          <a:p>
            <a:r>
              <a:rPr lang="en-IN" dirty="0"/>
              <a:t>Example: </a:t>
            </a:r>
            <a:r>
              <a:rPr lang="en-IN" dirty="0" err="1"/>
              <a:t>atul@lubuntu</a:t>
            </a:r>
            <a:r>
              <a:rPr lang="en-IN" dirty="0"/>
              <a:t>:~$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GB" dirty="0"/>
              <a:t>Summary: the prompt tells you </a:t>
            </a:r>
            <a:r>
              <a:rPr lang="en-GB" b="1" dirty="0"/>
              <a:t>who</a:t>
            </a:r>
            <a:r>
              <a:rPr lang="en-GB" dirty="0"/>
              <a:t> you are, </a:t>
            </a:r>
            <a:r>
              <a:rPr lang="en-GB" b="1" dirty="0"/>
              <a:t>where</a:t>
            </a:r>
            <a:r>
              <a:rPr lang="en-GB" dirty="0"/>
              <a:t> you are, and </a:t>
            </a:r>
            <a:r>
              <a:rPr lang="en-GB" b="1" dirty="0"/>
              <a:t>what power</a:t>
            </a:r>
            <a:r>
              <a:rPr lang="en-GB" dirty="0"/>
              <a:t> you have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9F0748-D95F-680D-3865-2CB1210AD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07675"/>
              </p:ext>
            </p:extLst>
          </p:nvPr>
        </p:nvGraphicFramePr>
        <p:xfrm>
          <a:off x="789339" y="2971023"/>
          <a:ext cx="1051560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8795332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37118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Symbol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814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Normal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36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Root user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5235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344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1DB7-A994-AC98-3ACB-9714025E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 and Invalid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6A30-BEAC-8DFC-FD7E-8302A4BC8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Common mistake: Forgetting to close a quote</a:t>
            </a:r>
          </a:p>
          <a:p>
            <a:pPr lvl="1"/>
            <a:r>
              <a:rPr lang="en-US" dirty="0"/>
              <a:t>echo “Hello C-DAC</a:t>
            </a:r>
          </a:p>
          <a:p>
            <a:r>
              <a:rPr lang="en-GB" dirty="0"/>
              <a:t>The shell thinks the command isn't finished (waiting for the closing "), so the prompt won't return</a:t>
            </a:r>
          </a:p>
          <a:p>
            <a:r>
              <a:rPr lang="en-GB" dirty="0"/>
              <a:t>Fix: Press </a:t>
            </a:r>
            <a:r>
              <a:rPr lang="en-GB" dirty="0" err="1"/>
              <a:t>Ctrl+C</a:t>
            </a:r>
            <a:r>
              <a:rPr lang="en-GB" dirty="0"/>
              <a:t> to cancel and get your prompt back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000A7F-520E-233C-EC99-2782FB16B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08623"/>
              </p:ext>
            </p:extLst>
          </p:nvPr>
        </p:nvGraphicFramePr>
        <p:xfrm>
          <a:off x="838200" y="1690688"/>
          <a:ext cx="10515600" cy="1188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7675">
                  <a:extLst>
                    <a:ext uri="{9D8B030D-6E8A-4147-A177-3AD203B41FA5}">
                      <a16:colId xmlns:a16="http://schemas.microsoft.com/office/drawing/2014/main" val="2903612133"/>
                    </a:ext>
                  </a:extLst>
                </a:gridCol>
                <a:gridCol w="5751646">
                  <a:extLst>
                    <a:ext uri="{9D8B030D-6E8A-4147-A177-3AD203B41FA5}">
                      <a16:colId xmlns:a16="http://schemas.microsoft.com/office/drawing/2014/main" val="1156830755"/>
                    </a:ext>
                  </a:extLst>
                </a:gridCol>
                <a:gridCol w="3096279">
                  <a:extLst>
                    <a:ext uri="{9D8B030D-6E8A-4147-A177-3AD203B41FA5}">
                      <a16:colId xmlns:a16="http://schemas.microsoft.com/office/drawing/2014/main" val="3721626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2616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Correct syntax, runs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ls, </a:t>
                      </a:r>
                      <a:r>
                        <a:rPr lang="en-GB" sz="2000" b="1" dirty="0" err="1"/>
                        <a:t>pwd</a:t>
                      </a:r>
                      <a:r>
                        <a:rPr lang="en-GB" sz="2000" b="1" dirty="0"/>
                        <a:t>, 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670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/>
                        <a:t>Invalid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Wrong syntax or unknown command → shows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 err="1"/>
                        <a:t>lss</a:t>
                      </a:r>
                      <a:r>
                        <a:rPr lang="en-GB" sz="2000" b="1" dirty="0"/>
                        <a:t>, password, abc123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6734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0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C7F5-B08A-41AE-068C-BCA73DAF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date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05AE1-8D64-5D2B-E6AA-B25D4C765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 dirty="0"/>
              <a:t>Show current date/time: </a:t>
            </a:r>
            <a:r>
              <a:rPr lang="en-GB" b="1" dirty="0"/>
              <a:t>date</a:t>
            </a:r>
            <a:endParaRPr lang="en-GB" dirty="0"/>
          </a:p>
          <a:p>
            <a:pPr lvl="0"/>
            <a:r>
              <a:rPr lang="en-GB" dirty="0"/>
              <a:t>Custom format: </a:t>
            </a:r>
            <a:r>
              <a:rPr lang="en-GB" b="1" dirty="0"/>
              <a:t>date +"%A, %d %B %y"</a:t>
            </a:r>
            <a:r>
              <a:rPr lang="en-GB" dirty="0"/>
              <a:t> → </a:t>
            </a:r>
            <a:r>
              <a:rPr lang="en-GB" i="1" dirty="0"/>
              <a:t>Tuesday, 17 March 26</a:t>
            </a:r>
          </a:p>
          <a:p>
            <a:pPr lvl="0"/>
            <a:endParaRPr lang="en-GB" i="1" dirty="0"/>
          </a:p>
          <a:p>
            <a:pPr lvl="0"/>
            <a:endParaRPr lang="en-GB" i="1" dirty="0"/>
          </a:p>
          <a:p>
            <a:pPr lvl="0"/>
            <a:endParaRPr lang="en-GB" i="1" dirty="0"/>
          </a:p>
          <a:p>
            <a:pPr lvl="0"/>
            <a:endParaRPr lang="en-GB" i="1" dirty="0"/>
          </a:p>
          <a:p>
            <a:pPr lvl="0"/>
            <a:r>
              <a:rPr lang="en-GB" dirty="0"/>
              <a:t>More examples</a:t>
            </a:r>
          </a:p>
          <a:p>
            <a:pPr lvl="1"/>
            <a:r>
              <a:rPr lang="en-GB" dirty="0"/>
              <a:t>date +"%d-%m-%Y" # 17-03-2026 </a:t>
            </a:r>
          </a:p>
          <a:p>
            <a:pPr lvl="1"/>
            <a:r>
              <a:rPr lang="en-GB" dirty="0"/>
              <a:t>date +"%d %b %Y" # 17 March 2026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E3F507-1C5F-DCC6-F023-A09361A37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482133"/>
              </p:ext>
            </p:extLst>
          </p:nvPr>
        </p:nvGraphicFramePr>
        <p:xfrm>
          <a:off x="942902" y="2858294"/>
          <a:ext cx="10515600" cy="1981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9334193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53592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238142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Specifier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647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%A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Full weekday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Tuesday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95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%d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Day of month (01–31)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154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%B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Full month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7867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%y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Year (last 2 digits)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08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329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9B764-CC1D-D49E-68C6-623B3320E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Manual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035F3-9B9D-0542-4653-985CE3CC0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man</a:t>
            </a:r>
            <a:r>
              <a:rPr lang="en-IN" dirty="0"/>
              <a:t> command</a:t>
            </a:r>
          </a:p>
          <a:p>
            <a:pPr lvl="1"/>
            <a:r>
              <a:rPr lang="en-US" dirty="0"/>
              <a:t>Provides documentation/help for Linux commands</a:t>
            </a:r>
          </a:p>
          <a:p>
            <a:pPr lvl="1"/>
            <a:r>
              <a:rPr lang="en-US" dirty="0"/>
              <a:t>Shows detailed information about command usage</a:t>
            </a:r>
          </a:p>
          <a:p>
            <a:r>
              <a:rPr lang="en-US" dirty="0"/>
              <a:t>Syntax: man command</a:t>
            </a:r>
          </a:p>
          <a:p>
            <a:r>
              <a:rPr lang="en-US" dirty="0"/>
              <a:t>Example: man sort</a:t>
            </a:r>
          </a:p>
          <a:p>
            <a:r>
              <a:rPr lang="en-US" dirty="0"/>
              <a:t>q to quit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25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FA735-B975-AC56-EB66-84C6DE4BE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which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1A441-7E7F-E329-6F03-5BC17ACB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which </a:t>
            </a:r>
            <a:r>
              <a:rPr lang="en-US" dirty="0"/>
              <a:t>command</a:t>
            </a:r>
          </a:p>
          <a:p>
            <a:pPr lvl="1"/>
            <a:r>
              <a:rPr lang="en-US" dirty="0"/>
              <a:t>Finds the location (path) of a command’s executable file</a:t>
            </a:r>
          </a:p>
          <a:p>
            <a:pPr lvl="1"/>
            <a:r>
              <a:rPr lang="en-US" dirty="0"/>
              <a:t>Searches in directories listed in the PATH variable	</a:t>
            </a:r>
          </a:p>
          <a:p>
            <a:r>
              <a:rPr lang="en-US" dirty="0"/>
              <a:t>Syntax: which command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which clear</a:t>
            </a:r>
          </a:p>
          <a:p>
            <a:pPr lvl="1"/>
            <a:r>
              <a:rPr lang="en-US" dirty="0"/>
              <a:t>which python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30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E740-FEF6-84B8-BE3D-29E99A83D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BB9028-FE0E-E7B0-25E5-7BA67A32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Editors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A33EEAA-AF27-3F50-2537-D7FB1BD63D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73064"/>
              </p:ext>
            </p:extLst>
          </p:nvPr>
        </p:nvGraphicFramePr>
        <p:xfrm>
          <a:off x="766280" y="1413910"/>
          <a:ext cx="11110645" cy="4534505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518874">
                  <a:extLst>
                    <a:ext uri="{9D8B030D-6E8A-4147-A177-3AD203B41FA5}">
                      <a16:colId xmlns:a16="http://schemas.microsoft.com/office/drawing/2014/main" val="3669937314"/>
                    </a:ext>
                  </a:extLst>
                </a:gridCol>
                <a:gridCol w="2925384">
                  <a:extLst>
                    <a:ext uri="{9D8B030D-6E8A-4147-A177-3AD203B41FA5}">
                      <a16:colId xmlns:a16="http://schemas.microsoft.com/office/drawing/2014/main" val="853843374"/>
                    </a:ext>
                  </a:extLst>
                </a:gridCol>
                <a:gridCol w="2522575">
                  <a:extLst>
                    <a:ext uri="{9D8B030D-6E8A-4147-A177-3AD203B41FA5}">
                      <a16:colId xmlns:a16="http://schemas.microsoft.com/office/drawing/2014/main" val="3158839300"/>
                    </a:ext>
                  </a:extLst>
                </a:gridCol>
                <a:gridCol w="2294465">
                  <a:extLst>
                    <a:ext uri="{9D8B030D-6E8A-4147-A177-3AD203B41FA5}">
                      <a16:colId xmlns:a16="http://schemas.microsoft.com/office/drawing/2014/main" val="3148421054"/>
                    </a:ext>
                  </a:extLst>
                </a:gridCol>
                <a:gridCol w="1849347">
                  <a:extLst>
                    <a:ext uri="{9D8B030D-6E8A-4147-A177-3AD203B41FA5}">
                      <a16:colId xmlns:a16="http://schemas.microsoft.com/office/drawing/2014/main" val="2910412637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Editor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Description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Key Features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Installation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Start Command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848217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vi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Original Linux editor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Lightweight, available on all systems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Pre-installed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 filename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397046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vim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Improved version of vi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Syntax highlighting, better usability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Usually pre-installed / sudo apt install vim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vim filename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361053"/>
                  </a:ext>
                </a:extLst>
              </a:tr>
              <a:tr h="1105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emacs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Highly customizable editor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Can be configured for different programming languages, extensible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sudo apt install emacs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emacs filename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078025"/>
                  </a:ext>
                </a:extLst>
              </a:tr>
              <a:tr h="897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nano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Simple and user-friendly editor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Easy for beginners, on-screen shortcuts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/>
                        <a:t>sudo</a:t>
                      </a:r>
                      <a:r>
                        <a:rPr lang="en-US" sz="2000" dirty="0"/>
                        <a:t> apt-get update</a:t>
                      </a:r>
                      <a:br>
                        <a:rPr lang="en-US" sz="2000" dirty="0"/>
                      </a:br>
                      <a:r>
                        <a:rPr lang="en-US" sz="2000" dirty="0" err="1"/>
                        <a:t>sudo</a:t>
                      </a:r>
                      <a:r>
                        <a:rPr lang="en-US" sz="2000" dirty="0"/>
                        <a:t> apt-get install nano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nano filename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931321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VS Code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Modern GUI-based editor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Extensions, debugging, Git integration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sudo snap install --classic code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code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932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9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5A703-955A-7B08-45EC-B0031B35E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vi: Create a Document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EF4BCA-22B3-A8C0-EEE0-A5645611B5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122833"/>
              </p:ext>
            </p:extLst>
          </p:nvPr>
        </p:nvGraphicFramePr>
        <p:xfrm>
          <a:off x="673813" y="1829337"/>
          <a:ext cx="10515600" cy="4632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535131">
                  <a:extLst>
                    <a:ext uri="{9D8B030D-6E8A-4147-A177-3AD203B41FA5}">
                      <a16:colId xmlns:a16="http://schemas.microsoft.com/office/drawing/2014/main" val="2420302827"/>
                    </a:ext>
                  </a:extLst>
                </a:gridCol>
                <a:gridCol w="3996647">
                  <a:extLst>
                    <a:ext uri="{9D8B030D-6E8A-4147-A177-3AD203B41FA5}">
                      <a16:colId xmlns:a16="http://schemas.microsoft.com/office/drawing/2014/main" val="114597374"/>
                    </a:ext>
                  </a:extLst>
                </a:gridCol>
                <a:gridCol w="4983822">
                  <a:extLst>
                    <a:ext uri="{9D8B030D-6E8A-4147-A177-3AD203B41FA5}">
                      <a16:colId xmlns:a16="http://schemas.microsoft.com/office/drawing/2014/main" val="1572832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Keys /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076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Open/Create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vi myfile.txt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02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Enter insert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Press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209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Type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Hello Linux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837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Exit insert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Press 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938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Save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:w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15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Quit editor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:q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728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/>
                        <a:t>(Shortcut) Save &amp; quit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/>
                        <a:t>:</a:t>
                      </a:r>
                      <a:r>
                        <a:rPr lang="en-IN" sz="3200" dirty="0" err="1"/>
                        <a:t>wq</a:t>
                      </a:r>
                      <a:r>
                        <a:rPr lang="en-IN" sz="3200" dirty="0"/>
                        <a:t>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15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17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44F2-8F4F-2D44-BF66-5B865FF9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vi: Edit File Contents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D44A87-1FFE-3428-FA9E-4086D0EB0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388746"/>
              </p:ext>
            </p:extLst>
          </p:nvPr>
        </p:nvGraphicFramePr>
        <p:xfrm>
          <a:off x="735458" y="1383438"/>
          <a:ext cx="10515600" cy="50292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1360470">
                  <a:extLst>
                    <a:ext uri="{9D8B030D-6E8A-4147-A177-3AD203B41FA5}">
                      <a16:colId xmlns:a16="http://schemas.microsoft.com/office/drawing/2014/main" val="3922013824"/>
                    </a:ext>
                  </a:extLst>
                </a:gridCol>
                <a:gridCol w="3688422">
                  <a:extLst>
                    <a:ext uri="{9D8B030D-6E8A-4147-A177-3AD203B41FA5}">
                      <a16:colId xmlns:a16="http://schemas.microsoft.com/office/drawing/2014/main" val="472269134"/>
                    </a:ext>
                  </a:extLst>
                </a:gridCol>
                <a:gridCol w="5466708">
                  <a:extLst>
                    <a:ext uri="{9D8B030D-6E8A-4147-A177-3AD203B41FA5}">
                      <a16:colId xmlns:a16="http://schemas.microsoft.com/office/drawing/2014/main" val="1344581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Keys /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55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Open existing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 myfile.txt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276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Move cursor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Arrow keys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9801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Enter insert mode to edit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Press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13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Modify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(edit as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15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Exit insert 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Press Esc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35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a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Press 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069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a full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Press 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4078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Save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:w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189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Quit editor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:q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871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(Shortcut) Save &amp; quit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:</a:t>
                      </a:r>
                      <a:r>
                        <a:rPr lang="en-IN" sz="2400" dirty="0" err="1"/>
                        <a:t>wq</a:t>
                      </a:r>
                      <a:r>
                        <a:rPr lang="en-IN" sz="2400" dirty="0"/>
                        <a:t> + Enter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707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305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A6C2-3234-BC0D-7EF8-BFB15AF4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vi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FD5E45-1991-4BF3-8EA6-0E6E319B1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491093"/>
              </p:ext>
            </p:extLst>
          </p:nvPr>
        </p:nvGraphicFramePr>
        <p:xfrm>
          <a:off x="532543" y="1444586"/>
          <a:ext cx="11126913" cy="523311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08971">
                  <a:extLst>
                    <a:ext uri="{9D8B030D-6E8A-4147-A177-3AD203B41FA5}">
                      <a16:colId xmlns:a16="http://schemas.microsoft.com/office/drawing/2014/main" val="623428738"/>
                    </a:ext>
                  </a:extLst>
                </a:gridCol>
                <a:gridCol w="3708971">
                  <a:extLst>
                    <a:ext uri="{9D8B030D-6E8A-4147-A177-3AD203B41FA5}">
                      <a16:colId xmlns:a16="http://schemas.microsoft.com/office/drawing/2014/main" val="3838914027"/>
                    </a:ext>
                  </a:extLst>
                </a:gridCol>
                <a:gridCol w="3708971">
                  <a:extLst>
                    <a:ext uri="{9D8B030D-6E8A-4147-A177-3AD203B41FA5}">
                      <a16:colId xmlns:a16="http://schemas.microsoft.com/office/drawing/2014/main" val="2061073789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Action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Keys / Command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91249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left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h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cursor left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74221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right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l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cursor right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50364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up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cursor up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092486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down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j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Move cursor down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8412703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 to beginning of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Move to start of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325769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 to end of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$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Move to end of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883800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Insert at cursor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Start typing at cursor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53029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Insert at beginning of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Start typing at start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90272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Append after cursor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Insert after cursor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59147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Open new line below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o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New line below and insert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9771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Copy (yank) a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yy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Copy current line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23883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Paste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Paste copied text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423102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Undo last change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Undo previous action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67420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Redo (in Vim)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Ctrl + r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Redo undone action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805534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Search word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/word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Search forward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273907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Next search result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Move to next match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193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2940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C36A0-643B-2AA1-6CF5-3EB7ACF8B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dirty="0"/>
              <a:t>Linux Command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7605B-02D0-E9F7-ECED-B78B04C9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6100"/>
            <a:ext cx="10515600" cy="5630863"/>
          </a:xfrm>
        </p:spPr>
        <p:txBody>
          <a:bodyPr>
            <a:normAutofit/>
          </a:bodyPr>
          <a:lstStyle/>
          <a:p>
            <a:r>
              <a:rPr lang="en-US" dirty="0"/>
              <a:t>General format: command    -option    argument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Options can be short or long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	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1752DD-268E-07F8-83B0-ED291799F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213941"/>
              </p:ext>
            </p:extLst>
          </p:nvPr>
        </p:nvGraphicFramePr>
        <p:xfrm>
          <a:off x="838200" y="1003300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94726">
                  <a:extLst>
                    <a:ext uri="{9D8B030D-6E8A-4147-A177-3AD203B41FA5}">
                      <a16:colId xmlns:a16="http://schemas.microsoft.com/office/drawing/2014/main" val="1131244038"/>
                    </a:ext>
                  </a:extLst>
                </a:gridCol>
                <a:gridCol w="4767209">
                  <a:extLst>
                    <a:ext uri="{9D8B030D-6E8A-4147-A177-3AD203B41FA5}">
                      <a16:colId xmlns:a16="http://schemas.microsoft.com/office/drawing/2014/main" val="1699794990"/>
                    </a:ext>
                  </a:extLst>
                </a:gridCol>
                <a:gridCol w="3853665">
                  <a:extLst>
                    <a:ext uri="{9D8B030D-6E8A-4147-A177-3AD203B41FA5}">
                      <a16:colId xmlns:a16="http://schemas.microsoft.com/office/drawing/2014/main" val="1913557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855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Command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Name of the command to execute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date, ls, 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277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Option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Modifies command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-l, -a, --help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742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Argument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Input given to the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filename,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5435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83821D-1292-FF56-9C73-8BE035E68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256"/>
              </p:ext>
            </p:extLst>
          </p:nvPr>
        </p:nvGraphicFramePr>
        <p:xfrm>
          <a:off x="838200" y="3011011"/>
          <a:ext cx="10515600" cy="11887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752381078"/>
                    </a:ext>
                  </a:extLst>
                </a:gridCol>
                <a:gridCol w="4767209">
                  <a:extLst>
                    <a:ext uri="{9D8B030D-6E8A-4147-A177-3AD203B41FA5}">
                      <a16:colId xmlns:a16="http://schemas.microsoft.com/office/drawing/2014/main" val="3968347086"/>
                    </a:ext>
                  </a:extLst>
                </a:gridCol>
                <a:gridCol w="3843391">
                  <a:extLst>
                    <a:ext uri="{9D8B030D-6E8A-4147-A177-3AD203B41FA5}">
                      <a16:colId xmlns:a16="http://schemas.microsoft.com/office/drawing/2014/main" val="2598655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615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Short 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Single hyphen, single letter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69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Long 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--iso-8601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Double hyphen, full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20242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D83640-1D34-F312-A45C-188D1B520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124102"/>
              </p:ext>
            </p:extLst>
          </p:nvPr>
        </p:nvGraphicFramePr>
        <p:xfrm>
          <a:off x="838200" y="5138102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620784">
                  <a:extLst>
                    <a:ext uri="{9D8B030D-6E8A-4147-A177-3AD203B41FA5}">
                      <a16:colId xmlns:a16="http://schemas.microsoft.com/office/drawing/2014/main" val="3105886121"/>
                    </a:ext>
                  </a:extLst>
                </a:gridCol>
                <a:gridCol w="6894816">
                  <a:extLst>
                    <a:ext uri="{9D8B030D-6E8A-4147-A177-3AD203B41FA5}">
                      <a16:colId xmlns:a16="http://schemas.microsoft.com/office/drawing/2014/main" val="840217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42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 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Displays date in ISO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97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date --iso-8601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Same as above (long option)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203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date -r /path/to/file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Shows last modified date of a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138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654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C90499-5001-9520-17AE-40B054181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124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DFBFB-6A11-A226-FDF4-B4449BC24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20756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Linux File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32D9B-44F1-6B4F-97F3-5BA983058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120757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Tree-like structure starting from the root directory (/)</a:t>
            </a:r>
          </a:p>
          <a:p>
            <a:r>
              <a:rPr lang="en-US" dirty="0"/>
              <a:t>This structure ensures that users and software can reliably find files across different Linux distributions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F7166F-00A1-5DD6-2F25-B9A413A45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162179"/>
              </p:ext>
            </p:extLst>
          </p:nvPr>
        </p:nvGraphicFramePr>
        <p:xfrm>
          <a:off x="3102794" y="565057"/>
          <a:ext cx="9000162" cy="5611906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986319">
                  <a:extLst>
                    <a:ext uri="{9D8B030D-6E8A-4147-A177-3AD203B41FA5}">
                      <a16:colId xmlns:a16="http://schemas.microsoft.com/office/drawing/2014/main" val="155286875"/>
                    </a:ext>
                  </a:extLst>
                </a:gridCol>
                <a:gridCol w="1535110">
                  <a:extLst>
                    <a:ext uri="{9D8B030D-6E8A-4147-A177-3AD203B41FA5}">
                      <a16:colId xmlns:a16="http://schemas.microsoft.com/office/drawing/2014/main" val="685548588"/>
                    </a:ext>
                  </a:extLst>
                </a:gridCol>
                <a:gridCol w="6478733">
                  <a:extLst>
                    <a:ext uri="{9D8B030D-6E8A-4147-A177-3AD203B41FA5}">
                      <a16:colId xmlns:a16="http://schemas.microsoft.com/office/drawing/2014/main" val="2630550527"/>
                    </a:ext>
                  </a:extLst>
                </a:gridCol>
              </a:tblGrid>
              <a:tr h="1440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Directory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Key Contents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851902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Root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The primary directory that contains all other directories and files.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832317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/bin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User Binaries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Essential command binaries for all users (e.g.,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ls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cp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ping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583501"/>
                  </a:ext>
                </a:extLst>
              </a:tr>
              <a:tr h="309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/boot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Boot Files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Static files of the boot loader, including the Linux kernel and Grub configuration.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891826"/>
                  </a:ext>
                </a:extLst>
              </a:tr>
              <a:tr h="309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/dev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Device Files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Representation of hardware components as files (e.g.,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/dev/sda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for a disk).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225268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/etc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Configuration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System-wide configuration files and startup scripts for services.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4047301"/>
                  </a:ext>
                </a:extLst>
              </a:tr>
              <a:tr h="309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/home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User Home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Personal directories for users to store documents and settings (e.g.,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/home/atul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640970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/lib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System Libraries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Shared library files required by binaries in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/bin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and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/sbin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878739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/media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Removable Media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Mount points for removable devices like USB drives or CD-ROMs.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329374"/>
                  </a:ext>
                </a:extLst>
              </a:tr>
              <a:tr h="30949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/mnt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Mount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A temporary mount point for filesystem installations or external drives.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5819504"/>
                  </a:ext>
                </a:extLst>
              </a:tr>
              <a:tr h="22676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444746"/>
                          </a:solidFill>
                          <a:effectLst/>
                        </a:rPr>
                        <a:t>/opt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Optional Software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2982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Add-on application software packages from third-party vendors.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579" marR="27579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1903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1046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44CD-9347-8591-217D-B93AD0B7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91"/>
            <a:ext cx="10515600" cy="465286"/>
          </a:xfrm>
        </p:spPr>
        <p:txBody>
          <a:bodyPr>
            <a:normAutofit fontScale="90000"/>
          </a:bodyPr>
          <a:lstStyle/>
          <a:p>
            <a:r>
              <a:rPr lang="en-IN" dirty="0"/>
              <a:t>Directory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F020FE-0D69-1D79-AF6F-A8402EE302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549021"/>
              </p:ext>
            </p:extLst>
          </p:nvPr>
        </p:nvGraphicFramePr>
        <p:xfrm>
          <a:off x="496584" y="739740"/>
          <a:ext cx="11534454" cy="590982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74005">
                  <a:extLst>
                    <a:ext uri="{9D8B030D-6E8A-4147-A177-3AD203B41FA5}">
                      <a16:colId xmlns:a16="http://schemas.microsoft.com/office/drawing/2014/main" val="1723120469"/>
                    </a:ext>
                  </a:extLst>
                </a:gridCol>
                <a:gridCol w="6647380">
                  <a:extLst>
                    <a:ext uri="{9D8B030D-6E8A-4147-A177-3AD203B41FA5}">
                      <a16:colId xmlns:a16="http://schemas.microsoft.com/office/drawing/2014/main" val="1252434530"/>
                    </a:ext>
                  </a:extLst>
                </a:gridCol>
                <a:gridCol w="3113069">
                  <a:extLst>
                    <a:ext uri="{9D8B030D-6E8A-4147-A177-3AD203B41FA5}">
                      <a16:colId xmlns:a16="http://schemas.microsoft.com/office/drawing/2014/main" val="4107868381"/>
                    </a:ext>
                  </a:extLst>
                </a:gridCol>
              </a:tblGrid>
              <a:tr h="3485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8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2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3940156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pwd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</a:rPr>
                        <a:t>Print Working Directory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</a:rPr>
                        <a:t>: Shows exactly where you are.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rgbClr val="444746"/>
                          </a:solidFill>
                          <a:effectLst/>
                        </a:rPr>
                        <a:t>pwd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449752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ls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List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Shows files and folders in your current spot.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ls -l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</a:rPr>
                        <a:t> (long format)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572626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cd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Change Directory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Moves you to a new folder.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cd /home/user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909117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mkdir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Make Directory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Creates a new folder.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mkdir new_folder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9618347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rmdir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Remove Directory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Deletes an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empty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folder.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rmdir old_folder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551744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rm -r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Remove Recursive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Deletes a folder and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everything inside it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rm -r project_dir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957965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mv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Move/Rename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Moves a folder or changes its name.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mv folder1 folder2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859000"/>
                  </a:ext>
                </a:extLst>
              </a:tr>
              <a:tr h="54875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cp -r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Copy Recursive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: Copies a folder and its entire contents.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51072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dirty="0">
                          <a:solidFill>
                            <a:srgbClr val="444746"/>
                          </a:solidFill>
                          <a:effectLst/>
                        </a:rPr>
                        <a:t>cp -r source backup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61286" marR="61286" marT="68096" marB="6809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822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478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06D62-D4C5-2677-F691-3D9D2FAD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Creation and Viewing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A608C4-AC49-8ECF-DBAC-602599320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201019"/>
              </p:ext>
            </p:extLst>
          </p:nvPr>
        </p:nvGraphicFramePr>
        <p:xfrm>
          <a:off x="642991" y="1897147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5216347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979392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8305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05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touch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empty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touch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20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Display file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cat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9369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View file page by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406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10 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head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318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Last 10 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tail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36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0291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D722-E548-198F-4E64-4184F004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Editing and Copying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B41087-9D20-239F-FFD4-6DF5E4D60B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2285850"/>
              </p:ext>
            </p:extLst>
          </p:nvPr>
        </p:nvGraphicFramePr>
        <p:xfrm>
          <a:off x="642991" y="1843721"/>
          <a:ext cx="10515600" cy="22860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017773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769612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84692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913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Copy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cp file.txt backup.txt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38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Move or rename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mv file.txt newfile.txt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55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Edit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574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Edit file (easy)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nano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2423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5910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BFD0-862B-C036-7046-7CF0C6F0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Deletion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12BFD4-DD26-AAF4-576B-DC8034BD6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3600633"/>
              </p:ext>
            </p:extLst>
          </p:nvPr>
        </p:nvGraphicFramePr>
        <p:xfrm>
          <a:off x="756006" y="1965960"/>
          <a:ext cx="10515600" cy="1828800"/>
        </p:xfrm>
        <a:graphic>
          <a:graphicData uri="http://schemas.openxmlformats.org/drawingml/2006/table">
            <a:tbl>
              <a:tblPr firstRow="1">
                <a:tableStyleId>{793D81CF-94F2-401A-BA57-92F5A7B2D0C5}</a:tableStyleId>
              </a:tblPr>
              <a:tblGrid>
                <a:gridCol w="3045432">
                  <a:extLst>
                    <a:ext uri="{9D8B030D-6E8A-4147-A177-3AD203B41FA5}">
                      <a16:colId xmlns:a16="http://schemas.microsoft.com/office/drawing/2014/main" val="2700732738"/>
                    </a:ext>
                  </a:extLst>
                </a:gridCol>
                <a:gridCol w="3964968">
                  <a:extLst>
                    <a:ext uri="{9D8B030D-6E8A-4147-A177-3AD203B41FA5}">
                      <a16:colId xmlns:a16="http://schemas.microsoft.com/office/drawing/2014/main" val="92016276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4863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57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878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 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with confirmation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 -i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30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 -r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directory recursively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rm -r </a:t>
                      </a:r>
                      <a:r>
                        <a:rPr lang="en-IN" sz="2400" dirty="0" err="1"/>
                        <a:t>myfolder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6965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68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7728-E5E5-5A7F-25F8-C290F2A15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263FB23-D400-5C4F-7D11-7AEB3E64A8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655440"/>
              </p:ext>
            </p:extLst>
          </p:nvPr>
        </p:nvGraphicFramePr>
        <p:xfrm>
          <a:off x="653265" y="1802625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740909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27522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53379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847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List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46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ls -l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Detailed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ls -l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778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Detailed file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stat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264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file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9994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1804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39C8-9E35-D720-6E0C-00E6EA3F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Directory Operations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01148-E97C-DEA4-8EFB-FE05CDF33E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844470"/>
              </p:ext>
            </p:extLst>
          </p:nvPr>
        </p:nvGraphicFramePr>
        <p:xfrm>
          <a:off x="766281" y="16002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830467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458781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103711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81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mkdir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mkdir mydir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376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Remove empty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rmdir mydir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263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Change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cd mydir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924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Show current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pwd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14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80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9723-BFF2-68AF-6870-EE81BCA7A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193"/>
            <a:ext cx="10515600" cy="575353"/>
          </a:xfrm>
        </p:spPr>
        <p:txBody>
          <a:bodyPr>
            <a:normAutofit fontScale="90000"/>
          </a:bodyPr>
          <a:lstStyle/>
          <a:p>
            <a:r>
              <a:rPr lang="en-IN" dirty="0"/>
              <a:t>Exercise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A340230-0371-0440-2B94-F4D3049D2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6011889"/>
              </p:ext>
            </p:extLst>
          </p:nvPr>
        </p:nvGraphicFramePr>
        <p:xfrm>
          <a:off x="678304" y="626723"/>
          <a:ext cx="10383329" cy="565983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82596">
                  <a:extLst>
                    <a:ext uri="{9D8B030D-6E8A-4147-A177-3AD203B41FA5}">
                      <a16:colId xmlns:a16="http://schemas.microsoft.com/office/drawing/2014/main" val="3511310427"/>
                    </a:ext>
                  </a:extLst>
                </a:gridCol>
                <a:gridCol w="8700733">
                  <a:extLst>
                    <a:ext uri="{9D8B030D-6E8A-4147-A177-3AD203B41FA5}">
                      <a16:colId xmlns:a16="http://schemas.microsoft.com/office/drawing/2014/main" val="40095614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Step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67518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Display current directory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4451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a directory named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417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Move into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7706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a file named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1162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Open the file and add some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57915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Display the file contents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131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Copy file1.txt to file2.txt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46982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Rename file2.txt to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99998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List all files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5762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Display detailed file information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49528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Show file type of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1093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7286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 back to parent directory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87042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Delete the directory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236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8918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4AEEC9-C358-E79F-7F9F-CF365EC146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1430904"/>
              </p:ext>
            </p:extLst>
          </p:nvPr>
        </p:nvGraphicFramePr>
        <p:xfrm>
          <a:off x="205692" y="76959"/>
          <a:ext cx="10797929" cy="657423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52027">
                  <a:extLst>
                    <a:ext uri="{9D8B030D-6E8A-4147-A177-3AD203B41FA5}">
                      <a16:colId xmlns:a16="http://schemas.microsoft.com/office/drawing/2014/main" val="3511310427"/>
                    </a:ext>
                  </a:extLst>
                </a:gridCol>
                <a:gridCol w="4922951">
                  <a:extLst>
                    <a:ext uri="{9D8B030D-6E8A-4147-A177-3AD203B41FA5}">
                      <a16:colId xmlns:a16="http://schemas.microsoft.com/office/drawing/2014/main" val="4009561418"/>
                    </a:ext>
                  </a:extLst>
                </a:gridCol>
                <a:gridCol w="4922951">
                  <a:extLst>
                    <a:ext uri="{9D8B030D-6E8A-4147-A177-3AD203B41FA5}">
                      <a16:colId xmlns:a16="http://schemas.microsoft.com/office/drawing/2014/main" val="346356699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Task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67518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Display current directory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pwd</a:t>
                      </a:r>
                      <a:endParaRPr lang="en-IN" sz="24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244514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 a directory named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mkdir</a:t>
                      </a:r>
                      <a:r>
                        <a:rPr lang="en-IN" sz="2400" b="1" dirty="0"/>
                        <a:t>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24178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Move into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77063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 a file named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touch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311626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Open the file and add some text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vi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457915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Display the file contents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cat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1314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Copy file1.txt to file2.txt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cp file1.txt file2.txt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846982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Rename file2.txt to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mv file2.txt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099998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List all files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5762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Display detailed file information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ls -l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49528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Show file type of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file file1.txt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1093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12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rm file_renamed.txt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72866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13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 back to parent directory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cd ..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870424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14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 the directory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rm -r lab1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6236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844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F453-5CA7-25F7-22B0-2844879A9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Absolute and Relative Path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8E4796-F9CE-1632-813C-8D453A56E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7305905"/>
              </p:ext>
            </p:extLst>
          </p:nvPr>
        </p:nvGraphicFramePr>
        <p:xfrm>
          <a:off x="550524" y="1690688"/>
          <a:ext cx="10515600" cy="35661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02977">
                  <a:extLst>
                    <a:ext uri="{9D8B030D-6E8A-4147-A177-3AD203B41FA5}">
                      <a16:colId xmlns:a16="http://schemas.microsoft.com/office/drawing/2014/main" val="1680166975"/>
                    </a:ext>
                  </a:extLst>
                </a:gridCol>
                <a:gridCol w="3307423">
                  <a:extLst>
                    <a:ext uri="{9D8B030D-6E8A-4147-A177-3AD203B41FA5}">
                      <a16:colId xmlns:a16="http://schemas.microsoft.com/office/drawing/2014/main" val="2530347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43220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Absolute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Relative Path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616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Full path from root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Path relative to current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608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Starts 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/ (root)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Does not start with 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291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Depends on current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429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Always same?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Changes based on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461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/home/user/docs/file.txt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docs/file.txt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664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Another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/etc/passwd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../file.txt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282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5149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2FB8-75F8-314A-7410-CE1D4CDB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Absolute and Relative Path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08BBA-97EE-0D9B-632E-27CD05CFB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Absolute path</a:t>
            </a:r>
          </a:p>
          <a:p>
            <a:pPr lvl="1"/>
            <a:r>
              <a:rPr lang="en-IN" dirty="0"/>
              <a:t>cd /home/user/docs</a:t>
            </a:r>
          </a:p>
          <a:p>
            <a:r>
              <a:rPr lang="en-IN" dirty="0"/>
              <a:t>Relative path</a:t>
            </a:r>
          </a:p>
          <a:p>
            <a:pPr lvl="1"/>
            <a:r>
              <a:rPr lang="en-IN" dirty="0"/>
              <a:t>cd docs</a:t>
            </a:r>
          </a:p>
          <a:p>
            <a:pPr lvl="1"/>
            <a:r>
              <a:rPr lang="en-IN" dirty="0"/>
              <a:t>cd ../docs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3776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9AD7-6694-705B-BE29-FC4E9F759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Symbols in Linux Paths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10C7EF-2B09-55C3-6D61-316799B398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635931"/>
              </p:ext>
            </p:extLst>
          </p:nvPr>
        </p:nvGraphicFramePr>
        <p:xfrm>
          <a:off x="714910" y="1576593"/>
          <a:ext cx="10515600" cy="25298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740613">
                  <a:extLst>
                    <a:ext uri="{9D8B030D-6E8A-4147-A177-3AD203B41FA5}">
                      <a16:colId xmlns:a16="http://schemas.microsoft.com/office/drawing/2014/main" val="3918339428"/>
                    </a:ext>
                  </a:extLst>
                </a:gridCol>
                <a:gridCol w="2619911">
                  <a:extLst>
                    <a:ext uri="{9D8B030D-6E8A-4147-A177-3AD203B41FA5}">
                      <a16:colId xmlns:a16="http://schemas.microsoft.com/office/drawing/2014/main" val="577940649"/>
                    </a:ext>
                  </a:extLst>
                </a:gridCol>
                <a:gridCol w="2178121">
                  <a:extLst>
                    <a:ext uri="{9D8B030D-6E8A-4147-A177-3AD203B41FA5}">
                      <a16:colId xmlns:a16="http://schemas.microsoft.com/office/drawing/2014/main" val="1889749489"/>
                    </a:ext>
                  </a:extLst>
                </a:gridCol>
                <a:gridCol w="3976955">
                  <a:extLst>
                    <a:ext uri="{9D8B030D-6E8A-4147-A177-3AD203B41FA5}">
                      <a16:colId xmlns:a16="http://schemas.microsoft.com/office/drawing/2014/main" val="23962013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98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Current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./file.txt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Refers to current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987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Parent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../file.txt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One level 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332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Root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/home/user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Top of the filesystem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295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Home directory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~/file.txt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User’s home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7834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83F7527-E1AA-E807-CC71-20AA09C19527}"/>
              </a:ext>
            </a:extLst>
          </p:cNvPr>
          <p:cNvSpPr txBox="1"/>
          <p:nvPr/>
        </p:nvSpPr>
        <p:spPr>
          <a:xfrm>
            <a:off x="750013" y="4304872"/>
            <a:ext cx="1051560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cd  .          	# Stay in current directory</a:t>
            </a:r>
          </a:p>
          <a:p>
            <a:r>
              <a:rPr lang="en-US" sz="2400" dirty="0"/>
              <a:t>cd  ..         	# Go to parent directory</a:t>
            </a:r>
          </a:p>
          <a:p>
            <a:r>
              <a:rPr lang="en-US" sz="2400" dirty="0"/>
              <a:t>cd  /          	# Go to root directory</a:t>
            </a:r>
          </a:p>
          <a:p>
            <a:r>
              <a:rPr lang="en-US" sz="2400" dirty="0"/>
              <a:t>cd   ~          	# Go to home directory</a:t>
            </a:r>
          </a:p>
          <a:p>
            <a:r>
              <a:rPr lang="en-US" sz="2400" dirty="0"/>
              <a:t>cd   ~/docs     	# Go to docs inside home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18442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0F69C-9465-D66D-C966-4AECF95B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899CAB6-EE7F-99C4-0E69-30386745E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8818455"/>
              </p:ext>
            </p:extLst>
          </p:nvPr>
        </p:nvGraphicFramePr>
        <p:xfrm>
          <a:off x="595900" y="1666203"/>
          <a:ext cx="11003624" cy="483363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01385">
                  <a:extLst>
                    <a:ext uri="{9D8B030D-6E8A-4147-A177-3AD203B41FA5}">
                      <a16:colId xmlns:a16="http://schemas.microsoft.com/office/drawing/2014/main" val="2163601986"/>
                    </a:ext>
                  </a:extLst>
                </a:gridCol>
                <a:gridCol w="10202239">
                  <a:extLst>
                    <a:ext uri="{9D8B030D-6E8A-4147-A177-3AD203B41FA5}">
                      <a16:colId xmlns:a16="http://schemas.microsoft.com/office/drawing/2014/main" val="2065105194"/>
                    </a:ext>
                  </a:extLst>
                </a:gridCol>
              </a:tblGrid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Task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00554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Stay in the current directory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02744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Move one level up from current directory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24685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 to the root directory from anywhere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02114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Go to your home directory and create a docs directory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4694341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From any location, go to docs folder inside home directory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19707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From /home/user/docs, go to /home/user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678740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From /home/user/docs, go to /home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809841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From /home/user/docs, access file.txt in the same directory using relative path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74484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From /home/user/docs, access file.txt in parent directory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29250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From /home/user/docs, go to root and then to /home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0294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512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7329-989E-72AC-8C8C-781CE5146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6C8187-301C-AE81-F6EB-A83073427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195266"/>
              </p:ext>
            </p:extLst>
          </p:nvPr>
        </p:nvGraphicFramePr>
        <p:xfrm>
          <a:off x="378432" y="1445481"/>
          <a:ext cx="11435136" cy="477217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24674">
                  <a:extLst>
                    <a:ext uri="{9D8B030D-6E8A-4147-A177-3AD203B41FA5}">
                      <a16:colId xmlns:a16="http://schemas.microsoft.com/office/drawing/2014/main" val="1958963069"/>
                    </a:ext>
                  </a:extLst>
                </a:gridCol>
                <a:gridCol w="6698750">
                  <a:extLst>
                    <a:ext uri="{9D8B030D-6E8A-4147-A177-3AD203B41FA5}">
                      <a16:colId xmlns:a16="http://schemas.microsoft.com/office/drawing/2014/main" val="1851909976"/>
                    </a:ext>
                  </a:extLst>
                </a:gridCol>
                <a:gridCol w="3811712">
                  <a:extLst>
                    <a:ext uri="{9D8B030D-6E8A-4147-A177-3AD203B41FA5}">
                      <a16:colId xmlns:a16="http://schemas.microsoft.com/office/drawing/2014/main" val="2577924108"/>
                    </a:ext>
                  </a:extLst>
                </a:gridCol>
              </a:tblGrid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529243"/>
                  </a:ext>
                </a:extLst>
              </a:tr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Stay in the current directory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767993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Move one level up from current directory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..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2485013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 to the root directory from anywhere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/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573129"/>
                  </a:ext>
                </a:extLst>
              </a:tr>
              <a:tr h="2451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Go to your home directory and create a docs directory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cd ~       </a:t>
                      </a:r>
                      <a:r>
                        <a:rPr lang="en-IN" sz="2000" dirty="0" err="1"/>
                        <a:t>mkdir</a:t>
                      </a:r>
                      <a:r>
                        <a:rPr lang="en-IN" sz="2000" dirty="0"/>
                        <a:t> docs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31847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any location, go to docs folder inside home directory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~/docs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717505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/home/user/docs, go to /home/user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..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006978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/home/user/docs, go to /home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../..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9003336"/>
                  </a:ext>
                </a:extLst>
              </a:tr>
              <a:tr h="612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/home/user/docs, access file.txt in the same directory using relative path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cat ./file.txt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775749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/home/user/docs, access file.txt in parent directory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cat ../file.txt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986084"/>
                  </a:ext>
                </a:extLst>
              </a:tr>
              <a:tr h="429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From /home/user/docs, go to root and then to /home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cd /home</a:t>
                      </a:r>
                    </a:p>
                  </a:txBody>
                  <a:tcPr marL="61286" marR="61286" marT="30643" marB="3064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893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629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1093C-9A86-B98F-AAD2-8C016BC0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Superuser Commands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B70BB2-02E4-D3CC-9602-9C93E0398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su</a:t>
            </a:r>
            <a:r>
              <a:rPr lang="en-IN" b="1" dirty="0"/>
              <a:t> </a:t>
            </a:r>
            <a:r>
              <a:rPr lang="en-IN" dirty="0"/>
              <a:t>= become someone else, </a:t>
            </a:r>
            <a:r>
              <a:rPr lang="en-IN" b="1" dirty="0" err="1"/>
              <a:t>sudo</a:t>
            </a:r>
            <a:r>
              <a:rPr lang="en-IN" b="1" dirty="0"/>
              <a:t> </a:t>
            </a:r>
            <a:r>
              <a:rPr lang="en-IN" dirty="0"/>
              <a:t>= borrow the power of the superuser for a command</a:t>
            </a:r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8A2B3C7-BDD1-C511-40FD-383130F67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853397"/>
              </p:ext>
            </p:extLst>
          </p:nvPr>
        </p:nvGraphicFramePr>
        <p:xfrm>
          <a:off x="838200" y="2860039"/>
          <a:ext cx="10515600" cy="384048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821238">
                  <a:extLst>
                    <a:ext uri="{9D8B030D-6E8A-4147-A177-3AD203B41FA5}">
                      <a16:colId xmlns:a16="http://schemas.microsoft.com/office/drawing/2014/main" val="1121012749"/>
                    </a:ext>
                  </a:extLst>
                </a:gridCol>
                <a:gridCol w="4355615">
                  <a:extLst>
                    <a:ext uri="{9D8B030D-6E8A-4147-A177-3AD203B41FA5}">
                      <a16:colId xmlns:a16="http://schemas.microsoft.com/office/drawing/2014/main" val="2974839601"/>
                    </a:ext>
                  </a:extLst>
                </a:gridCol>
                <a:gridCol w="4338747">
                  <a:extLst>
                    <a:ext uri="{9D8B030D-6E8A-4147-A177-3AD203B41FA5}">
                      <a16:colId xmlns:a16="http://schemas.microsoft.com/office/drawing/2014/main" val="2371121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</a:t>
                      </a:r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endParaRPr lang="en-GB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7010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What it does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Switch to another user (usually root)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Run one command as another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345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Target user's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Your own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040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Stays logged in as that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Only for that one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01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Less secure (shares root password)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More secure (logs who did what)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449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Works by 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Needs to be added to </a:t>
                      </a:r>
                      <a:r>
                        <a:rPr lang="en-GB" sz="2400" dirty="0" err="1"/>
                        <a:t>sudo</a:t>
                      </a:r>
                      <a:r>
                        <a:rPr lang="en-GB" sz="2400" dirty="0"/>
                        <a:t>/wheel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13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961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5DA6-8763-468A-C88B-13D4B3A2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Become a Root User?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489C1-730C-804C-F1E8-EEB03442B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 standard Ubuntu installation, the </a:t>
            </a:r>
            <a:r>
              <a:rPr lang="en-US" b="1" dirty="0"/>
              <a:t>root</a:t>
            </a:r>
            <a:r>
              <a:rPr lang="en-US" dirty="0"/>
              <a:t> user account is locked by default for security</a:t>
            </a:r>
          </a:p>
          <a:p>
            <a:r>
              <a:rPr lang="en-US" dirty="0"/>
              <a:t>Result: There is no root password to enter, so you cannot log in directly as root</a:t>
            </a:r>
          </a:p>
          <a:p>
            <a:r>
              <a:rPr lang="en-US" dirty="0"/>
              <a:t>Solution: Open an interactive shell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 -</a:t>
            </a:r>
            <a:r>
              <a:rPr lang="en-US" b="1" dirty="0" err="1"/>
              <a:t>i</a:t>
            </a:r>
            <a:endParaRPr lang="en-US" b="1" dirty="0"/>
          </a:p>
          <a:p>
            <a:pPr lvl="1"/>
            <a:r>
              <a:rPr lang="en-US" dirty="0"/>
              <a:t>This simulates a root login, loading the root user's environment variables and changing your directory to /root</a:t>
            </a:r>
          </a:p>
          <a:p>
            <a:pPr lvl="1"/>
            <a:r>
              <a:rPr lang="en-US" dirty="0"/>
              <a:t>Your prompt will typically change from $ to #</a:t>
            </a:r>
          </a:p>
          <a:p>
            <a:pPr lvl="1"/>
            <a:r>
              <a:rPr lang="en-US" dirty="0"/>
              <a:t>To exit, type </a:t>
            </a:r>
            <a:r>
              <a:rPr lang="en-US" i="1" dirty="0"/>
              <a:t>exit </a:t>
            </a:r>
            <a:r>
              <a:rPr lang="en-US" dirty="0"/>
              <a:t>and ENTER key, or use </a:t>
            </a:r>
            <a:r>
              <a:rPr lang="en-US" dirty="0" err="1"/>
              <a:t>Ctrl+D</a:t>
            </a:r>
            <a:endParaRPr lang="en-US" dirty="0"/>
          </a:p>
          <a:p>
            <a:pPr lvl="1"/>
            <a:r>
              <a:rPr lang="en-US" dirty="0"/>
              <a:t>Alternate command: </a:t>
            </a:r>
            <a:r>
              <a:rPr lang="en-US" b="1" dirty="0" err="1"/>
              <a:t>sudo</a:t>
            </a:r>
            <a:r>
              <a:rPr lang="en-US" b="1" dirty="0"/>
              <a:t>  </a:t>
            </a:r>
            <a:r>
              <a:rPr lang="en-US" b="1" dirty="0" err="1"/>
              <a:t>su</a:t>
            </a:r>
            <a:r>
              <a:rPr lang="en-US" b="1" dirty="0"/>
              <a:t>  -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8455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92C67-1A81-BB36-3249-1A860F0B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3562581-BBC4-14FD-B6B6-48055068F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399910"/>
              </p:ext>
            </p:extLst>
          </p:nvPr>
        </p:nvGraphicFramePr>
        <p:xfrm>
          <a:off x="719538" y="1836749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35491">
                  <a:extLst>
                    <a:ext uri="{9D8B030D-6E8A-4147-A177-3AD203B41FA5}">
                      <a16:colId xmlns:a16="http://schemas.microsoft.com/office/drawing/2014/main" val="3086039179"/>
                    </a:ext>
                  </a:extLst>
                </a:gridCol>
                <a:gridCol w="2387212">
                  <a:extLst>
                    <a:ext uri="{9D8B030D-6E8A-4147-A177-3AD203B41FA5}">
                      <a16:colId xmlns:a16="http://schemas.microsoft.com/office/drawing/2014/main" val="4162112414"/>
                    </a:ext>
                  </a:extLst>
                </a:gridCol>
                <a:gridCol w="5692897">
                  <a:extLst>
                    <a:ext uri="{9D8B030D-6E8A-4147-A177-3AD203B41FA5}">
                      <a16:colId xmlns:a16="http://schemas.microsoft.com/office/drawing/2014/main" val="1660870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Command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Best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641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Standard Sudo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&lt;</a:t>
                      </a:r>
                      <a:r>
                        <a:rPr lang="en-GB" sz="2400" b="1" dirty="0" err="1"/>
                        <a:t>cmd</a:t>
                      </a:r>
                      <a:r>
                        <a:rPr lang="en-GB" sz="2400" b="1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One-off tasks (installs, updates)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798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Login Shell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-</a:t>
                      </a:r>
                      <a:r>
                        <a:rPr lang="en-GB" sz="2400" b="1" dirty="0" err="1"/>
                        <a:t>i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Heavy configuration, multi-step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045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/>
                        <a:t>Substitute Shell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 err="1"/>
                        <a:t>sudo</a:t>
                      </a:r>
                      <a:r>
                        <a:rPr lang="en-GB" sz="2400" b="1" dirty="0"/>
                        <a:t> </a:t>
                      </a:r>
                      <a:r>
                        <a:rPr lang="en-GB" sz="2400" b="1" dirty="0" err="1"/>
                        <a:t>su</a:t>
                      </a:r>
                      <a:endParaRPr lang="en-GB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Quick tasks needing root for a few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0716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6494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CEFB-DEE8-5A91-3DEB-CAA92BD8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Creation/Modification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8F2DBF-8791-C786-2A44-4020D0EB2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26388"/>
              </p:ext>
            </p:extLst>
          </p:nvPr>
        </p:nvGraphicFramePr>
        <p:xfrm>
          <a:off x="256854" y="1646140"/>
          <a:ext cx="11818810" cy="520310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39069">
                  <a:extLst>
                    <a:ext uri="{9D8B030D-6E8A-4147-A177-3AD203B41FA5}">
                      <a16:colId xmlns:a16="http://schemas.microsoft.com/office/drawing/2014/main" val="3893185159"/>
                    </a:ext>
                  </a:extLst>
                </a:gridCol>
                <a:gridCol w="3699892">
                  <a:extLst>
                    <a:ext uri="{9D8B030D-6E8A-4147-A177-3AD203B41FA5}">
                      <a16:colId xmlns:a16="http://schemas.microsoft.com/office/drawing/2014/main" val="2975575126"/>
                    </a:ext>
                  </a:extLst>
                </a:gridCol>
                <a:gridCol w="5179849">
                  <a:extLst>
                    <a:ext uri="{9D8B030D-6E8A-4147-A177-3AD203B41FA5}">
                      <a16:colId xmlns:a16="http://schemas.microsoft.com/office/drawing/2014/main" val="1467307504"/>
                    </a:ext>
                  </a:extLst>
                </a:gridCol>
              </a:tblGrid>
              <a:tr h="4165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Task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476073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Create User (Simple)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</a:rPr>
                        <a:t>useradd</a:t>
                      </a: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</a:rPr>
                        <a:t> [username]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Creates a user with default settings (no home directory by default)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151716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Create User (Interactive)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</a:rPr>
                        <a:t>adduser</a:t>
                      </a: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</a:rPr>
                        <a:t> [username]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A friendly script that prompts for password, name, and creates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/home – Debian/Ubuntu only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665110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Set/Change Password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sudo passwd [username]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Assigns or updates the password for the specified user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6534441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Modify User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sudo usermod -aG [group] [user]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Adds a user to a supplementary group (e.g., adding to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640797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Delete User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sudo userdel -r [username]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Removes the user. The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-r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flag also deletes their home directory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120730"/>
                  </a:ext>
                </a:extLst>
              </a:tr>
              <a:tr h="65580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Check User Info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id [username]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66466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Displays the UID, GID, and groups the user belongs to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9760" marR="79760" marT="88622" marB="8862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532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4023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EED2-509D-E4D6-9DAE-D5D2A5122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Users to </a:t>
            </a:r>
            <a:r>
              <a:rPr lang="en-IN" dirty="0" err="1"/>
              <a:t>Sudoers</a:t>
            </a:r>
            <a:r>
              <a:rPr lang="en-IN" dirty="0"/>
              <a:t>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88E23-8697-0C9E-0458-BD7C169C3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Method 1: Add user to </a:t>
            </a:r>
            <a:r>
              <a:rPr lang="en-IN" dirty="0" err="1"/>
              <a:t>sudoers</a:t>
            </a:r>
            <a:r>
              <a:rPr lang="en-IN" dirty="0"/>
              <a:t> </a:t>
            </a:r>
            <a:r>
              <a:rPr lang="en-IN"/>
              <a:t>group directly</a:t>
            </a:r>
            <a:endParaRPr lang="en-IN" dirty="0"/>
          </a:p>
          <a:p>
            <a:pPr marL="0" indent="0">
              <a:buNone/>
            </a:pPr>
            <a:r>
              <a:rPr lang="en-IN" b="1" dirty="0" err="1"/>
              <a:t>sudo</a:t>
            </a:r>
            <a:r>
              <a:rPr lang="en-IN" b="1" dirty="0"/>
              <a:t>   </a:t>
            </a:r>
            <a:r>
              <a:rPr lang="en-IN" b="1" dirty="0" err="1"/>
              <a:t>usermod</a:t>
            </a:r>
            <a:r>
              <a:rPr lang="en-IN" b="1" dirty="0"/>
              <a:t>    -</a:t>
            </a:r>
            <a:r>
              <a:rPr lang="en-IN" b="1" dirty="0" err="1"/>
              <a:t>aG</a:t>
            </a:r>
            <a:r>
              <a:rPr lang="en-IN" b="1" dirty="0"/>
              <a:t>    </a:t>
            </a:r>
            <a:r>
              <a:rPr lang="en-IN" b="1" dirty="0" err="1"/>
              <a:t>sudo</a:t>
            </a:r>
            <a:r>
              <a:rPr lang="en-IN" b="1" dirty="0"/>
              <a:t>      username</a:t>
            </a:r>
          </a:p>
          <a:p>
            <a:endParaRPr lang="en-IN" dirty="0"/>
          </a:p>
          <a:p>
            <a:r>
              <a:rPr lang="en-IN" dirty="0"/>
              <a:t>Method 2: Edit the /etc/</a:t>
            </a:r>
            <a:r>
              <a:rPr lang="en-IN" dirty="0" err="1"/>
              <a:t>sudoers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b="1" dirty="0" err="1"/>
              <a:t>sudo</a:t>
            </a:r>
            <a:r>
              <a:rPr lang="en-IN" b="1" dirty="0"/>
              <a:t>   </a:t>
            </a:r>
            <a:r>
              <a:rPr lang="en-IN" b="1" dirty="0" err="1"/>
              <a:t>visudo</a:t>
            </a:r>
            <a:endParaRPr lang="en-IN" b="1" dirty="0"/>
          </a:p>
          <a:p>
            <a:r>
              <a:rPr lang="en-IN" dirty="0"/>
              <a:t>Then add this line to the opened file</a:t>
            </a:r>
          </a:p>
          <a:p>
            <a:pPr marL="0" indent="0">
              <a:buNone/>
            </a:pPr>
            <a:r>
              <a:rPr lang="en-US" b="1" dirty="0"/>
              <a:t>username ALL=(ALL:ALL) ALL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5702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4F00-CFF7-CDA4-2597-D158EFFAC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547472"/>
          </a:xfrm>
        </p:spPr>
        <p:txBody>
          <a:bodyPr>
            <a:normAutofit fontScale="90000"/>
          </a:bodyPr>
          <a:lstStyle/>
          <a:p>
            <a:r>
              <a:rPr lang="en-IN" dirty="0"/>
              <a:t>Group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CA584-33FE-A23A-D9FA-9B8853C0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/>
          <a:lstStyle/>
          <a:p>
            <a:r>
              <a:rPr lang="en-IN" dirty="0"/>
              <a:t>Group: Allows us to manage permissions for multiple users simultaneously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1A1A3E-14D4-0487-48B5-A94E8F183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682234"/>
              </p:ext>
            </p:extLst>
          </p:nvPr>
        </p:nvGraphicFramePr>
        <p:xfrm>
          <a:off x="684088" y="1485209"/>
          <a:ext cx="10515600" cy="26619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08434">
                  <a:extLst>
                    <a:ext uri="{9D8B030D-6E8A-4147-A177-3AD203B41FA5}">
                      <a16:colId xmlns:a16="http://schemas.microsoft.com/office/drawing/2014/main" val="1280290097"/>
                    </a:ext>
                  </a:extLst>
                </a:gridCol>
                <a:gridCol w="3380197">
                  <a:extLst>
                    <a:ext uri="{9D8B030D-6E8A-4147-A177-3AD203B41FA5}">
                      <a16:colId xmlns:a16="http://schemas.microsoft.com/office/drawing/2014/main" val="3894030100"/>
                    </a:ext>
                  </a:extLst>
                </a:gridCol>
                <a:gridCol w="4726969">
                  <a:extLst>
                    <a:ext uri="{9D8B030D-6E8A-4147-A177-3AD203B41FA5}">
                      <a16:colId xmlns:a16="http://schemas.microsoft.com/office/drawing/2014/main" val="4117847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chemeClr val="bg1"/>
                          </a:solidFill>
                          <a:effectLst/>
                        </a:rPr>
                        <a:t>Task</a:t>
                      </a:r>
                      <a:endParaRPr lang="en-IN" sz="18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85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Create Group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groupadd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 [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groupname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]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</a:rPr>
                        <a:t>Creates a new group.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020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Delete Group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groupdel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 [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groupname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]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</a:rPr>
                        <a:t>Removes an existing group.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61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List Groups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>
                          <a:solidFill>
                            <a:srgbClr val="444746"/>
                          </a:solidFill>
                          <a:effectLst/>
                        </a:rPr>
                        <a:t>groups [username]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Shows all groups a specific user is a member of.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118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List All Groups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</a:rPr>
                        <a:t>getent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</a:rPr>
                        <a:t> group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Displays a list of all groups defined on the system.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320172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A89F38-A890-0014-ECFA-0BE1EEA55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443936"/>
              </p:ext>
            </p:extLst>
          </p:nvPr>
        </p:nvGraphicFramePr>
        <p:xfrm>
          <a:off x="283824" y="4305991"/>
          <a:ext cx="11316128" cy="21336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730582">
                  <a:extLst>
                    <a:ext uri="{9D8B030D-6E8A-4147-A177-3AD203B41FA5}">
                      <a16:colId xmlns:a16="http://schemas.microsoft.com/office/drawing/2014/main" val="1161258419"/>
                    </a:ext>
                  </a:extLst>
                </a:gridCol>
                <a:gridCol w="2719850">
                  <a:extLst>
                    <a:ext uri="{9D8B030D-6E8A-4147-A177-3AD203B41FA5}">
                      <a16:colId xmlns:a16="http://schemas.microsoft.com/office/drawing/2014/main" val="178451877"/>
                    </a:ext>
                  </a:extLst>
                </a:gridCol>
                <a:gridCol w="4865696">
                  <a:extLst>
                    <a:ext uri="{9D8B030D-6E8A-4147-A177-3AD203B41FA5}">
                      <a16:colId xmlns:a16="http://schemas.microsoft.com/office/drawing/2014/main" val="5899882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5745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444746"/>
                          </a:solidFill>
                          <a:effectLst/>
                        </a:rPr>
                        <a:t>usermod</a:t>
                      </a: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 -</a:t>
                      </a:r>
                      <a:r>
                        <a:rPr lang="en-US" sz="2000" b="1" dirty="0" err="1">
                          <a:solidFill>
                            <a:srgbClr val="444746"/>
                          </a:solidFill>
                          <a:effectLst/>
                        </a:rPr>
                        <a:t>aG</a:t>
                      </a: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 marketing john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Add</a:t>
                      </a: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 user to group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Adds the user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john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to the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marketing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group without removing them from existing groups.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418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rgbClr val="444746"/>
                          </a:solidFill>
                          <a:effectLst/>
                        </a:rPr>
                        <a:t>gpasswd</a:t>
                      </a: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 -d john marketing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Remove</a:t>
                      </a: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 user from group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Removes the user </a:t>
                      </a: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</a:rPr>
                        <a:t>john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from the </a:t>
                      </a: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</a:rPr>
                        <a:t>marketing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group.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611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4118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97707-C5CB-6EB9-B5D3-500460F2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Files for User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1802F5-F0AB-B49C-5F08-52A827AA65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481492"/>
              </p:ext>
            </p:extLst>
          </p:nvPr>
        </p:nvGraphicFramePr>
        <p:xfrm>
          <a:off x="619873" y="1414658"/>
          <a:ext cx="10952253" cy="476930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318536">
                  <a:extLst>
                    <a:ext uri="{9D8B030D-6E8A-4147-A177-3AD203B41FA5}">
                      <a16:colId xmlns:a16="http://schemas.microsoft.com/office/drawing/2014/main" val="3535069448"/>
                    </a:ext>
                  </a:extLst>
                </a:gridCol>
                <a:gridCol w="2017158">
                  <a:extLst>
                    <a:ext uri="{9D8B030D-6E8A-4147-A177-3AD203B41FA5}">
                      <a16:colId xmlns:a16="http://schemas.microsoft.com/office/drawing/2014/main" val="4247319092"/>
                    </a:ext>
                  </a:extLst>
                </a:gridCol>
                <a:gridCol w="6616559">
                  <a:extLst>
                    <a:ext uri="{9D8B030D-6E8A-4147-A177-3AD203B41FA5}">
                      <a16:colId xmlns:a16="http://schemas.microsoft.com/office/drawing/2014/main" val="724093456"/>
                    </a:ext>
                  </a:extLst>
                </a:gridCol>
              </a:tblGrid>
              <a:tr h="29216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effectLst/>
                        </a:rPr>
                        <a:t>File Path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effectLst/>
                        </a:rPr>
                        <a:t>Purpose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Key Fields (Separated by :)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588098"/>
                  </a:ext>
                </a:extLst>
              </a:tr>
              <a:tr h="6278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444746"/>
                          </a:solidFill>
                          <a:effectLst/>
                        </a:rPr>
                        <a:t>/etc/passwd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</a:rPr>
                        <a:t>User Account Info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Username, Password (usually 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x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), UID, GID, User Info, Home Directory, Default Shell.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8237448"/>
                  </a:ext>
                </a:extLst>
              </a:tr>
              <a:tr h="6278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/etc/shadow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F1F1F"/>
                          </a:solidFill>
                          <a:effectLst/>
                        </a:rPr>
                        <a:t>Hashed Passwords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Username, Hashed Password, Last Change Date, Minimum/Maximum Password Age, Expiration.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236806"/>
                  </a:ext>
                </a:extLst>
              </a:tr>
              <a:tr h="4599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/etc/group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</a:rPr>
                        <a:t>Group Definitions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Group Name, Group Password (rarely used), GID, List of Users in the group.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375439"/>
                  </a:ext>
                </a:extLst>
              </a:tr>
              <a:tr h="4599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/etc/gshadow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</a:rPr>
                        <a:t>Group Passwords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Secure group information (similar to </a:t>
                      </a: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/etc/shadow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but for groups).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942079"/>
                  </a:ext>
                </a:extLst>
              </a:tr>
              <a:tr h="62783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/etc/sudoers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</a:rPr>
                        <a:t>Sudo Privileges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46621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</a:rPr>
                        <a:t>Controls which users or groups can run commands as root (managed </a:t>
                      </a:r>
                      <a:r>
                        <a:rPr lang="en-US" sz="2400" b="1" dirty="0" err="1">
                          <a:solidFill>
                            <a:srgbClr val="1F1F1F"/>
                          </a:solidFill>
                          <a:effectLst/>
                        </a:rPr>
                        <a:t>sudo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</a:rPr>
                        <a:t> </a:t>
                      </a:r>
                      <a:r>
                        <a:rPr lang="en-US" sz="2400" b="1" dirty="0" err="1">
                          <a:solidFill>
                            <a:srgbClr val="444746"/>
                          </a:solidFill>
                          <a:effectLst/>
                        </a:rPr>
                        <a:t>visudo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5946" marR="55946" marT="62162" marB="621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46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6250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C3E4-4024-7458-BC7A-4E7A0882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318497"/>
          </a:xfrm>
        </p:spPr>
        <p:txBody>
          <a:bodyPr>
            <a:normAutofit fontScale="90000"/>
          </a:bodyPr>
          <a:lstStyle/>
          <a:p>
            <a:r>
              <a:rPr lang="en-IN" dirty="0"/>
              <a:t>Exercise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0579A3-C0CF-170D-00FC-8A1438BEA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0101568"/>
              </p:ext>
            </p:extLst>
          </p:nvPr>
        </p:nvGraphicFramePr>
        <p:xfrm>
          <a:off x="838200" y="501268"/>
          <a:ext cx="10833243" cy="6356732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97630">
                  <a:extLst>
                    <a:ext uri="{9D8B030D-6E8A-4147-A177-3AD203B41FA5}">
                      <a16:colId xmlns:a16="http://schemas.microsoft.com/office/drawing/2014/main" val="2774312765"/>
                    </a:ext>
                  </a:extLst>
                </a:gridCol>
                <a:gridCol w="9335613">
                  <a:extLst>
                    <a:ext uri="{9D8B030D-6E8A-4147-A177-3AD203B41FA5}">
                      <a16:colId xmlns:a16="http://schemas.microsoft.com/office/drawing/2014/main" val="1210070220"/>
                    </a:ext>
                  </a:extLst>
                </a:gridCol>
              </a:tblGrid>
              <a:tr h="2179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Task Description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467147"/>
                  </a:ext>
                </a:extLst>
              </a:tr>
              <a:tr h="468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Create a new user named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with a default home directory.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321813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Set or change the password for the user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95295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Create a new group named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38538"/>
                  </a:ext>
                </a:extLst>
              </a:tr>
              <a:tr h="468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Add the existing user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to the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group as a secondary group.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3839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Change the login name of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to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intern1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keeping the home directory unchanged.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193154"/>
                  </a:ext>
                </a:extLst>
              </a:tr>
              <a:tr h="468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IN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Delete the user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intern1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and remove their home directory simultaneously.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763786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Lock a user's account (e.g.,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) to prevent login.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895284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Unlock a previously locked user account (e.g.,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769564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Display all groups that the current user belongs to.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869292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10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Change the primary group of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to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206185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11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Create a user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tempuser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with an account expiry date of 2026-12-31.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861377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12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View the password aging/expiry details for a specific user.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431059"/>
                  </a:ext>
                </a:extLst>
              </a:tr>
              <a:tr h="4683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13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Remove a user named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from the group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without deleting the user.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106674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14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Delete the group named </a:t>
                      </a:r>
                      <a:r>
                        <a:rPr lang="en-US" sz="20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from the system.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664434"/>
                  </a:ext>
                </a:extLst>
              </a:tr>
              <a:tr h="3431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1F1F1F"/>
                          </a:solidFill>
                          <a:effectLst/>
                        </a:rPr>
                        <a:t>15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Find the UID and GID information for a specific user.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198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281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D3CF-EDB2-9132-4C6D-89CCE900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D7F1-D8C0-4334-9E8A-DEC6A4AC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390417"/>
          </a:xfrm>
        </p:spPr>
        <p:txBody>
          <a:bodyPr>
            <a:normAutofit fontScale="90000"/>
          </a:bodyPr>
          <a:lstStyle/>
          <a:p>
            <a:r>
              <a:rPr lang="en-IN" dirty="0"/>
              <a:t>Solutions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803CF5-23D9-8E72-500D-203C1DC9D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383040"/>
              </p:ext>
            </p:extLst>
          </p:nvPr>
        </p:nvGraphicFramePr>
        <p:xfrm>
          <a:off x="328773" y="493160"/>
          <a:ext cx="11763911" cy="630657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27390">
                  <a:extLst>
                    <a:ext uri="{9D8B030D-6E8A-4147-A177-3AD203B41FA5}">
                      <a16:colId xmlns:a16="http://schemas.microsoft.com/office/drawing/2014/main" val="2774312765"/>
                    </a:ext>
                  </a:extLst>
                </a:gridCol>
                <a:gridCol w="7693022">
                  <a:extLst>
                    <a:ext uri="{9D8B030D-6E8A-4147-A177-3AD203B41FA5}">
                      <a16:colId xmlns:a16="http://schemas.microsoft.com/office/drawing/2014/main" val="1210070220"/>
                    </a:ext>
                  </a:extLst>
                </a:gridCol>
                <a:gridCol w="3643499">
                  <a:extLst>
                    <a:ext uri="{9D8B030D-6E8A-4147-A177-3AD203B41FA5}">
                      <a16:colId xmlns:a16="http://schemas.microsoft.com/office/drawing/2014/main" val="3333013516"/>
                    </a:ext>
                  </a:extLst>
                </a:gridCol>
              </a:tblGrid>
              <a:tr h="2012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#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Task Description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</a:rPr>
                        <a:t>Solution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467147"/>
                  </a:ext>
                </a:extLst>
              </a:tr>
              <a:tr h="4324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Create a new user named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with a default home directory.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useradd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-m student1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3218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Set or change the password for the user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passwd student1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69529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Create a new system group named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groupadd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developers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38538"/>
                  </a:ext>
                </a:extLst>
              </a:tr>
              <a:tr h="4324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Add the existing user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to the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group as a secondary group.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US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444746"/>
                          </a:solidFill>
                          <a:effectLst/>
                        </a:rPr>
                        <a:t>usermod</a:t>
                      </a:r>
                      <a:r>
                        <a:rPr lang="en-US" sz="1800" b="1" dirty="0">
                          <a:solidFill>
                            <a:srgbClr val="444746"/>
                          </a:solidFill>
                          <a:effectLst/>
                        </a:rPr>
                        <a:t> -</a:t>
                      </a:r>
                      <a:r>
                        <a:rPr lang="en-US" sz="1800" b="1" dirty="0" err="1">
                          <a:solidFill>
                            <a:srgbClr val="444746"/>
                          </a:solidFill>
                          <a:effectLst/>
                        </a:rPr>
                        <a:t>aG</a:t>
                      </a:r>
                      <a:r>
                        <a:rPr lang="en-US" sz="1800" b="1" dirty="0">
                          <a:solidFill>
                            <a:srgbClr val="444746"/>
                          </a:solidFill>
                          <a:effectLst/>
                        </a:rPr>
                        <a:t> developers student1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953839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5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Change the login name of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student1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to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intern1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sz="1800" b="1" dirty="0">
                          <a:solidFill>
                            <a:srgbClr val="444746"/>
                          </a:solidFill>
                          <a:effectLst/>
                        </a:rPr>
                        <a:t>sudo usermod -l intern1 student1</a:t>
                      </a:r>
                      <a:endParaRPr lang="sv-SE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193154"/>
                  </a:ext>
                </a:extLst>
              </a:tr>
              <a:tr h="4324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6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Delete the user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intern1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and remove their home directory simultaneously.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userdel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-r intern1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763786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7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Lock a user's account (e.g.,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) to prevent login.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usermod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-L user2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89528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8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Unlock a previously locked user account (e.g.,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).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usermod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-U user2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176956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9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Display all groups that the current user belongs to.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groups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86929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10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Change the primary group of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to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US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444746"/>
                          </a:solidFill>
                          <a:effectLst/>
                        </a:rPr>
                        <a:t>usermod</a:t>
                      </a:r>
                      <a:r>
                        <a:rPr lang="en-US" sz="1800" b="1" dirty="0">
                          <a:solidFill>
                            <a:srgbClr val="444746"/>
                          </a:solidFill>
                          <a:effectLst/>
                        </a:rPr>
                        <a:t> -g developers user2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1206185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11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Create a user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tempuser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with an account expiry date of 2026-12-31.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1800" b="1" dirty="0">
                          <a:solidFill>
                            <a:srgbClr val="444746"/>
                          </a:solidFill>
                          <a:effectLst/>
                        </a:rPr>
                        <a:t>sudo useradd -e 2026-12-31 tempuser</a:t>
                      </a:r>
                      <a:endParaRPr lang="pt-BR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861377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12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View the password aging/expiry details for a specific user.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chage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-l user2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431059"/>
                  </a:ext>
                </a:extLst>
              </a:tr>
              <a:tr h="4324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13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Remove a user named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user2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from the group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without deleting the user.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gpasswd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-d user2 developers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10667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14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Delete the group named </a:t>
                      </a:r>
                      <a:r>
                        <a:rPr lang="en-US" sz="1800">
                          <a:solidFill>
                            <a:srgbClr val="444746"/>
                          </a:solidFill>
                          <a:effectLst/>
                        </a:rPr>
                        <a:t>developers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from the system.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sudo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</a:t>
                      </a:r>
                      <a:r>
                        <a:rPr lang="en-IN" sz="1800" b="1" dirty="0" err="1">
                          <a:solidFill>
                            <a:srgbClr val="444746"/>
                          </a:solidFill>
                          <a:effectLst/>
                        </a:rPr>
                        <a:t>groupdel</a:t>
                      </a: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 developers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66443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15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Find the UID and GID information for a specific user.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2579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444746"/>
                          </a:solidFill>
                          <a:effectLst/>
                        </a:rPr>
                        <a:t>id user2</a:t>
                      </a:r>
                      <a:endParaRPr lang="en-IN" sz="18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0958" marR="30958" marT="34398" marB="343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198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2327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837A5-C423-2FC2-F1A7-BDA11D5FD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9F16D-5694-755F-E89B-AF53BCEA5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</a:t>
            </a:r>
            <a:r>
              <a:rPr lang="en-US" b="1" dirty="0"/>
              <a:t>who can access a file</a:t>
            </a:r>
            <a:r>
              <a:rPr lang="en-US" dirty="0"/>
              <a:t> and </a:t>
            </a:r>
            <a:r>
              <a:rPr lang="en-US" b="1" dirty="0"/>
              <a:t>what they can do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37AEBB-5331-D663-7408-DDF1DDC10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585377"/>
              </p:ext>
            </p:extLst>
          </p:nvPr>
        </p:nvGraphicFramePr>
        <p:xfrm>
          <a:off x="1074505" y="2375923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03643">
                  <a:extLst>
                    <a:ext uri="{9D8B030D-6E8A-4147-A177-3AD203B41FA5}">
                      <a16:colId xmlns:a16="http://schemas.microsoft.com/office/drawing/2014/main" val="4095311807"/>
                    </a:ext>
                  </a:extLst>
                </a:gridCol>
                <a:gridCol w="7911957">
                  <a:extLst>
                    <a:ext uri="{9D8B030D-6E8A-4147-A177-3AD203B41FA5}">
                      <a16:colId xmlns:a16="http://schemas.microsoft.com/office/drawing/2014/main" val="3075590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51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Read (view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511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Write (modify file)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3290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Execute (run file/program)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37465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3944AD-962B-AFBE-353A-916F4E378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523410"/>
              </p:ext>
            </p:extLst>
          </p:nvPr>
        </p:nvGraphicFramePr>
        <p:xfrm>
          <a:off x="1074505" y="447219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03643">
                  <a:extLst>
                    <a:ext uri="{9D8B030D-6E8A-4147-A177-3AD203B41FA5}">
                      <a16:colId xmlns:a16="http://schemas.microsoft.com/office/drawing/2014/main" val="4186608611"/>
                    </a:ext>
                  </a:extLst>
                </a:gridCol>
                <a:gridCol w="7911957">
                  <a:extLst>
                    <a:ext uri="{9D8B030D-6E8A-4147-A177-3AD203B41FA5}">
                      <a16:colId xmlns:a16="http://schemas.microsoft.com/office/drawing/2014/main" val="1580694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192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User (u)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Owner of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557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Group (g)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Users in same 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9326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Others (o)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Everyone else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4709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All (a)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Everyone in the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2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117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81C57-DCD6-5F98-F4BD-5AC6CDAF8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7F970-02BB-C641-3319-8718B43E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-</a:t>
            </a:r>
            <a:r>
              <a:rPr lang="en-IN" dirty="0" err="1">
                <a:highlight>
                  <a:srgbClr val="FFFF00"/>
                </a:highlight>
              </a:rPr>
              <a:t>rwx</a:t>
            </a:r>
            <a:r>
              <a:rPr lang="en-IN" dirty="0" err="1">
                <a:highlight>
                  <a:srgbClr val="00FFFF"/>
                </a:highlight>
              </a:rPr>
              <a:t>r-x</a:t>
            </a:r>
            <a:r>
              <a:rPr lang="en-IN" dirty="0" err="1">
                <a:highlight>
                  <a:srgbClr val="C0C0C0"/>
                </a:highlight>
              </a:rPr>
              <a:t>r</a:t>
            </a:r>
            <a:r>
              <a:rPr lang="en-IN" dirty="0">
                <a:highlight>
                  <a:srgbClr val="C0C0C0"/>
                </a:highlight>
              </a:rPr>
              <a:t>--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5D8171-82F7-E818-1E4A-9EF210A0F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52563"/>
              </p:ext>
            </p:extLst>
          </p:nvPr>
        </p:nvGraphicFramePr>
        <p:xfrm>
          <a:off x="940942" y="2336881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593368">
                  <a:extLst>
                    <a:ext uri="{9D8B030D-6E8A-4147-A177-3AD203B41FA5}">
                      <a16:colId xmlns:a16="http://schemas.microsoft.com/office/drawing/2014/main" val="2546406784"/>
                    </a:ext>
                  </a:extLst>
                </a:gridCol>
                <a:gridCol w="7922232">
                  <a:extLst>
                    <a:ext uri="{9D8B030D-6E8A-4147-A177-3AD203B41FA5}">
                      <a16:colId xmlns:a16="http://schemas.microsoft.com/office/drawing/2014/main" val="614536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079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047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>
                          <a:highlight>
                            <a:srgbClr val="FFFF00"/>
                          </a:highlight>
                        </a:rPr>
                        <a:t>rwx</a:t>
                      </a:r>
                      <a:endParaRPr lang="en-IN" sz="2400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User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573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00FFFF"/>
                          </a:highlight>
                        </a:rPr>
                        <a:t>r-x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Group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94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highlight>
                            <a:srgbClr val="C0C0C0"/>
                          </a:highlight>
                        </a:rPr>
                        <a:t>r--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Others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567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428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AB4A-7B5A-CA52-898F-E117CD80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Octal File Permissions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1511322-EDD9-74AF-FCE2-23C51175E9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8318" y="1488740"/>
          <a:ext cx="10515596" cy="460248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836596">
                  <a:extLst>
                    <a:ext uri="{9D8B030D-6E8A-4147-A177-3AD203B41FA5}">
                      <a16:colId xmlns:a16="http://schemas.microsoft.com/office/drawing/2014/main" val="3480883913"/>
                    </a:ext>
                  </a:extLst>
                </a:gridCol>
                <a:gridCol w="1029903">
                  <a:extLst>
                    <a:ext uri="{9D8B030D-6E8A-4147-A177-3AD203B41FA5}">
                      <a16:colId xmlns:a16="http://schemas.microsoft.com/office/drawing/2014/main" val="501682194"/>
                    </a:ext>
                  </a:extLst>
                </a:gridCol>
                <a:gridCol w="1203158">
                  <a:extLst>
                    <a:ext uri="{9D8B030D-6E8A-4147-A177-3AD203B41FA5}">
                      <a16:colId xmlns:a16="http://schemas.microsoft.com/office/drawing/2014/main" val="1584337652"/>
                    </a:ext>
                  </a:extLst>
                </a:gridCol>
                <a:gridCol w="1674796">
                  <a:extLst>
                    <a:ext uri="{9D8B030D-6E8A-4147-A177-3AD203B41FA5}">
                      <a16:colId xmlns:a16="http://schemas.microsoft.com/office/drawing/2014/main" val="2650058219"/>
                    </a:ext>
                  </a:extLst>
                </a:gridCol>
                <a:gridCol w="3339966">
                  <a:extLst>
                    <a:ext uri="{9D8B030D-6E8A-4147-A177-3AD203B41FA5}">
                      <a16:colId xmlns:a16="http://schemas.microsoft.com/office/drawing/2014/main" val="95775381"/>
                    </a:ext>
                  </a:extLst>
                </a:gridCol>
                <a:gridCol w="1164657">
                  <a:extLst>
                    <a:ext uri="{9D8B030D-6E8A-4147-A177-3AD203B41FA5}">
                      <a16:colId xmlns:a16="http://schemas.microsoft.com/office/drawing/2014/main" val="1370429725"/>
                    </a:ext>
                  </a:extLst>
                </a:gridCol>
                <a:gridCol w="1266520">
                  <a:extLst>
                    <a:ext uri="{9D8B030D-6E8A-4147-A177-3AD203B41FA5}">
                      <a16:colId xmlns:a16="http://schemas.microsoft.com/office/drawing/2014/main" val="39120313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Permission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Decimal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058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- -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No permission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12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- -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Execute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56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- w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Write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264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- w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Write and 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463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r -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24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r -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Read and 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164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r w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Read and 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98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solidFill>
                            <a:srgbClr val="FF0000"/>
                          </a:solidFill>
                        </a:rPr>
                        <a:t>r w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Read, Write, and Execute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33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74797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C59C-22F9-D2BB-5A40-B46BB5B91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Changing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81319-04E1-FF96-638A-6E32D517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chmod</a:t>
            </a:r>
            <a:r>
              <a:rPr lang="en-IN" dirty="0"/>
              <a:t> 755 file.txt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 err="1"/>
              <a:t>chmod</a:t>
            </a:r>
            <a:r>
              <a:rPr lang="en-IN" dirty="0"/>
              <a:t> u=</a:t>
            </a:r>
            <a:r>
              <a:rPr lang="en-IN" dirty="0" err="1"/>
              <a:t>rwx,g</a:t>
            </a:r>
            <a:r>
              <a:rPr lang="en-IN" dirty="0"/>
              <a:t>=</a:t>
            </a:r>
            <a:r>
              <a:rPr lang="en-IN" dirty="0" err="1"/>
              <a:t>rx,o</a:t>
            </a:r>
            <a:r>
              <a:rPr lang="en-IN" dirty="0"/>
              <a:t>=</a:t>
            </a:r>
            <a:r>
              <a:rPr lang="en-IN" dirty="0" err="1"/>
              <a:t>rx</a:t>
            </a:r>
            <a:r>
              <a:rPr lang="en-IN" dirty="0"/>
              <a:t> file.txt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7A9403-3EEF-412E-8C1E-E40D23DF3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836918"/>
              </p:ext>
            </p:extLst>
          </p:nvPr>
        </p:nvGraphicFramePr>
        <p:xfrm>
          <a:off x="940941" y="2365648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709169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690536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Permission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926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rwx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7066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r-x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8101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930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5687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F708-D8A9-1808-2D1A-35D92F2B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AD60FE7-1251-7D09-1561-E9326B94D7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826934"/>
              </p:ext>
            </p:extLst>
          </p:nvPr>
        </p:nvGraphicFramePr>
        <p:xfrm>
          <a:off x="632717" y="1722120"/>
          <a:ext cx="10515600" cy="4145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250914">
                  <a:extLst>
                    <a:ext uri="{9D8B030D-6E8A-4147-A177-3AD203B41FA5}">
                      <a16:colId xmlns:a16="http://schemas.microsoft.com/office/drawing/2014/main" val="75349186"/>
                    </a:ext>
                  </a:extLst>
                </a:gridCol>
                <a:gridCol w="7264686">
                  <a:extLst>
                    <a:ext uri="{9D8B030D-6E8A-4147-A177-3AD203B41FA5}">
                      <a16:colId xmlns:a16="http://schemas.microsoft.com/office/drawing/2014/main" val="28656854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Effect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6663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2400">
                          <a:solidFill>
                            <a:srgbClr val="444746"/>
                          </a:solidFill>
                          <a:effectLst/>
                        </a:rPr>
                        <a:t>chmod u+x script.sh</a:t>
                      </a:r>
                      <a:endParaRPr lang="pl-PL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Adds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execute permission for the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owner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only.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1650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chmod g-w report.txt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Removes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write permission from the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group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9108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400">
                          <a:solidFill>
                            <a:srgbClr val="444746"/>
                          </a:solidFill>
                          <a:effectLst/>
                        </a:rPr>
                        <a:t>chmod o+r public.html</a:t>
                      </a:r>
                      <a:endParaRPr lang="pt-BR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Adds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read permission for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everyone else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(others).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793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chmod a+rw notes.txt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Adds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read and write permissions for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all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(user, group, and others).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910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dirty="0" err="1">
                          <a:solidFill>
                            <a:srgbClr val="444746"/>
                          </a:solidFill>
                          <a:effectLst/>
                        </a:rPr>
                        <a:t>chmod</a:t>
                      </a:r>
                      <a:r>
                        <a:rPr lang="en-IN" sz="2400" dirty="0">
                          <a:solidFill>
                            <a:srgbClr val="444746"/>
                          </a:solidFill>
                          <a:effectLst/>
                        </a:rPr>
                        <a:t> ug=</a:t>
                      </a:r>
                      <a:r>
                        <a:rPr lang="en-IN" sz="2400" dirty="0" err="1">
                          <a:solidFill>
                            <a:srgbClr val="444746"/>
                          </a:solidFill>
                          <a:effectLst/>
                        </a:rPr>
                        <a:t>rwx</a:t>
                      </a:r>
                      <a:r>
                        <a:rPr lang="en-IN" sz="2400" dirty="0">
                          <a:solidFill>
                            <a:srgbClr val="444746"/>
                          </a:solidFill>
                          <a:effectLst/>
                        </a:rPr>
                        <a:t> data.sh</a:t>
                      </a:r>
                      <a:endParaRPr lang="en-IN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</a:rPr>
                        <a:t>Sets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</a:rPr>
                        <a:t> exactly read, write, and execute for </a:t>
                      </a:r>
                      <a:r>
                        <a:rPr lang="en-US" sz="2400" b="1" dirty="0">
                          <a:solidFill>
                            <a:srgbClr val="1F1F1F"/>
                          </a:solidFill>
                          <a:effectLst/>
                        </a:rPr>
                        <a:t>user and group</a:t>
                      </a:r>
                      <a:r>
                        <a:rPr lang="en-US" sz="2400" dirty="0">
                          <a:solidFill>
                            <a:srgbClr val="1F1F1F"/>
                          </a:solidFill>
                          <a:effectLst/>
                        </a:rPr>
                        <a:t>, ignoring previous settings.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292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289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4A87-10B1-D9B8-EDFA-9A409F85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CBFE73-F2F9-88FE-917E-D45BD2B2D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219288"/>
              </p:ext>
            </p:extLst>
          </p:nvPr>
        </p:nvGraphicFramePr>
        <p:xfrm>
          <a:off x="493161" y="1825625"/>
          <a:ext cx="10674501" cy="4632678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58956">
                  <a:extLst>
                    <a:ext uri="{9D8B030D-6E8A-4147-A177-3AD203B41FA5}">
                      <a16:colId xmlns:a16="http://schemas.microsoft.com/office/drawing/2014/main" val="2744529268"/>
                    </a:ext>
                  </a:extLst>
                </a:gridCol>
                <a:gridCol w="3195263">
                  <a:extLst>
                    <a:ext uri="{9D8B030D-6E8A-4147-A177-3AD203B41FA5}">
                      <a16:colId xmlns:a16="http://schemas.microsoft.com/office/drawing/2014/main" val="3644666726"/>
                    </a:ext>
                  </a:extLst>
                </a:gridCol>
                <a:gridCol w="4520282">
                  <a:extLst>
                    <a:ext uri="{9D8B030D-6E8A-4147-A177-3AD203B41FA5}">
                      <a16:colId xmlns:a16="http://schemas.microsoft.com/office/drawing/2014/main" val="180046515"/>
                    </a:ext>
                  </a:extLst>
                </a:gridCol>
              </a:tblGrid>
              <a:tr h="4606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</a:rPr>
                        <a:t>Command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</a:rPr>
                        <a:t>Numeric Code Breakdown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Effect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82671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chmod 777 file.txt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7(rwx) 7(rwx) 7(rwx)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Full access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for everyone (highly insecure).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660181"/>
                  </a:ext>
                </a:extLst>
              </a:tr>
              <a:tr h="98983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chmod 755 script.sh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000">
                          <a:solidFill>
                            <a:srgbClr val="1F1F1F"/>
                          </a:solidFill>
                          <a:effectLst/>
                        </a:rPr>
                        <a:t>7(rwx) 5(r-x) 5(r-x)</a:t>
                      </a:r>
                      <a:endParaRPr lang="pt-BR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Owner can do everything; others can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read and execute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(standard for scripts).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18822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chmod 644 config.conf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t-BR" sz="2000">
                          <a:solidFill>
                            <a:srgbClr val="1F1F1F"/>
                          </a:solidFill>
                          <a:effectLst/>
                        </a:rPr>
                        <a:t>6(rw-) 4(r--) 4(r--)</a:t>
                      </a:r>
                      <a:endParaRPr lang="pt-BR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Owner can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read/write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; others can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only read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(standard for docs).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5987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chmod 600 private.key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6(rw-) 0(---) 0(---)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Only the owner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can read and write; no one else has access.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102468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444746"/>
                          </a:solidFill>
                          <a:effectLst/>
                        </a:rPr>
                        <a:t>chmod 700 secret.sh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>
                          <a:solidFill>
                            <a:srgbClr val="1F1F1F"/>
                          </a:solidFill>
                          <a:effectLst/>
                        </a:rPr>
                        <a:t>7(rwx) 0(---) 0(---)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73502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</a:rPr>
                        <a:t>Only the owner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can read, write, and execute.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8203" marR="88203" marT="98003" marB="980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5665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416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F7B1B-5F09-4D14-6518-F08AE3C4F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91"/>
            <a:ext cx="10515600" cy="493158"/>
          </a:xfrm>
        </p:spPr>
        <p:txBody>
          <a:bodyPr>
            <a:normAutofit fontScale="90000"/>
          </a:bodyPr>
          <a:lstStyle/>
          <a:p>
            <a:r>
              <a:rPr lang="en-IN" dirty="0"/>
              <a:t>Exercises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B3AC6B-2C49-52DD-5A6F-25E76B006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474388"/>
              </p:ext>
            </p:extLst>
          </p:nvPr>
        </p:nvGraphicFramePr>
        <p:xfrm>
          <a:off x="573639" y="652157"/>
          <a:ext cx="11270751" cy="555368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74779">
                  <a:extLst>
                    <a:ext uri="{9D8B030D-6E8A-4147-A177-3AD203B41FA5}">
                      <a16:colId xmlns:a16="http://schemas.microsoft.com/office/drawing/2014/main" val="4184589475"/>
                    </a:ext>
                  </a:extLst>
                </a:gridCol>
                <a:gridCol w="9095972">
                  <a:extLst>
                    <a:ext uri="{9D8B030D-6E8A-4147-A177-3AD203B41FA5}">
                      <a16:colId xmlns:a16="http://schemas.microsoft.com/office/drawing/2014/main" val="1413841700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30956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Give read, write, execute permission to owner only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13593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Give read permission to everyone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299195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write permission from group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725192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rwxr-xr-x for file.txt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7099241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rw-r--r-- for file.txt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315897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execute permission for owner in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573335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Remove all permissions for others in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707201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Give full permissions to all users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77330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read and write for owner, read for group and others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418711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execute permission for all users from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16755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read permission for group in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5213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all permissions from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425077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rwx------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482951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execute permission for all users to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95049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Change permissions of all .</a:t>
                      </a:r>
                      <a:r>
                        <a:rPr lang="en-US" sz="2000" dirty="0" err="1"/>
                        <a:t>sh</a:t>
                      </a:r>
                      <a:r>
                        <a:rPr lang="en-US" sz="2000" dirty="0"/>
                        <a:t> files to executable in current directory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744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2206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EF9306-0595-600A-8068-F2D697911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8506437"/>
              </p:ext>
            </p:extLst>
          </p:nvPr>
        </p:nvGraphicFramePr>
        <p:xfrm>
          <a:off x="513708" y="561903"/>
          <a:ext cx="11373492" cy="5822747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438382">
                  <a:extLst>
                    <a:ext uri="{9D8B030D-6E8A-4147-A177-3AD203B41FA5}">
                      <a16:colId xmlns:a16="http://schemas.microsoft.com/office/drawing/2014/main" val="2657496082"/>
                    </a:ext>
                  </a:extLst>
                </a:gridCol>
                <a:gridCol w="7263829">
                  <a:extLst>
                    <a:ext uri="{9D8B030D-6E8A-4147-A177-3AD203B41FA5}">
                      <a16:colId xmlns:a16="http://schemas.microsoft.com/office/drawing/2014/main" val="205233147"/>
                    </a:ext>
                  </a:extLst>
                </a:gridCol>
                <a:gridCol w="2671281">
                  <a:extLst>
                    <a:ext uri="{9D8B030D-6E8A-4147-A177-3AD203B41FA5}">
                      <a16:colId xmlns:a16="http://schemas.microsoft.com/office/drawing/2014/main" val="1101835993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29470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Give read, write, execute permission to owner only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700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161544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Give read permission to everyone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chmod a+r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17940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write permission from group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g-w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893842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rwxr-xr-x for file.txt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755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169025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rw-r--r-- for file.txt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chmod</a:t>
                      </a:r>
                      <a:r>
                        <a:rPr lang="en-IN" sz="2000" dirty="0"/>
                        <a:t> 644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560629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execute permission for owner in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2000"/>
                        <a:t>chmod u+x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2255600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7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all permissions for others in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o-rwx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04197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8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Give full permissions to all users for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777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73956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read and write for owner, read for group and others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644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0771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10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execute permission for all users from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a-x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052881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11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read permission for group in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chmod g+r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89185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Remove all permissions from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000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573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13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Set permissions to rwx------ using numeric mode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chmod 700 file.txt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80667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14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Add execute permission for all users to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chmod a+x script.sh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147356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Change permissions of all .</a:t>
                      </a:r>
                      <a:r>
                        <a:rPr lang="en-US" sz="2000" dirty="0" err="1"/>
                        <a:t>sh</a:t>
                      </a:r>
                      <a:r>
                        <a:rPr lang="en-US" sz="2000" dirty="0"/>
                        <a:t> files to executable in current directory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chmod</a:t>
                      </a:r>
                      <a:r>
                        <a:rPr lang="en-IN" sz="2000" dirty="0"/>
                        <a:t> +x *.</a:t>
                      </a:r>
                      <a:r>
                        <a:rPr lang="en-IN" sz="2000" dirty="0" err="1"/>
                        <a:t>sh</a:t>
                      </a:r>
                      <a:endParaRPr lang="en-IN" sz="2000" dirty="0"/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392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22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021F-ABCB-C6BC-69BC-C22B8322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 Control Lists (ACL)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6DF53-2027-AF61-8F36-700EAA924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ACL = Access Control List</a:t>
            </a:r>
          </a:p>
          <a:p>
            <a:r>
              <a:rPr lang="en-US" dirty="0"/>
              <a:t>Provides fine-grained permissions beyond </a:t>
            </a:r>
            <a:r>
              <a:rPr lang="en-US" dirty="0" err="1"/>
              <a:t>chmod</a:t>
            </a:r>
            <a:endParaRPr lang="en-US" dirty="0"/>
          </a:p>
          <a:p>
            <a:r>
              <a:rPr lang="en-US" dirty="0"/>
              <a:t>Allows permissions for specific users and groups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1A4601-EF4C-4D7A-7129-A497733D4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3276"/>
              </p:ext>
            </p:extLst>
          </p:nvPr>
        </p:nvGraphicFramePr>
        <p:xfrm>
          <a:off x="838200" y="3588273"/>
          <a:ext cx="10515600" cy="1828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222256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081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Without 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With 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795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Only owner, group, others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Multiple users/groups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07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Limited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Flexible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573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chmod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setfacl</a:t>
                      </a:r>
                      <a:r>
                        <a:rPr lang="en-IN" sz="2400" dirty="0"/>
                        <a:t>, </a:t>
                      </a:r>
                      <a:r>
                        <a:rPr lang="en-IN" sz="2400" dirty="0" err="1"/>
                        <a:t>getfacl</a:t>
                      </a:r>
                      <a:endParaRPr lang="en-IN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055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1380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EB5E3-30E4-1EDF-C674-52BDDBC4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ACL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D511D9-CC2B-4019-9C1E-509D20126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186459"/>
              </p:ext>
            </p:extLst>
          </p:nvPr>
        </p:nvGraphicFramePr>
        <p:xfrm>
          <a:off x="838200" y="1795432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149154346"/>
                    </a:ext>
                  </a:extLst>
                </a:gridCol>
                <a:gridCol w="2735494">
                  <a:extLst>
                    <a:ext uri="{9D8B030D-6E8A-4147-A177-3AD203B41FA5}">
                      <a16:colId xmlns:a16="http://schemas.microsoft.com/office/drawing/2014/main" val="3319663074"/>
                    </a:ext>
                  </a:extLst>
                </a:gridCol>
                <a:gridCol w="4274906">
                  <a:extLst>
                    <a:ext uri="{9D8B030D-6E8A-4147-A177-3AD203B41FA5}">
                      <a16:colId xmlns:a16="http://schemas.microsoft.com/office/drawing/2014/main" val="40473760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57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getfacl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View 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getfacl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55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setfacl -m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 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setfacl</a:t>
                      </a:r>
                      <a:r>
                        <a:rPr lang="en-IN" sz="2400" dirty="0"/>
                        <a:t> -m u:john:rwx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30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setfacl -x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Remove ACL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setfacl -x u:john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7951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setfacl -b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Remove all ACLs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setfacl</a:t>
                      </a:r>
                      <a:r>
                        <a:rPr lang="en-IN" sz="2400" dirty="0"/>
                        <a:t> -b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8477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E26A4DA-9EAF-4CDC-B512-4DDE2C47D032}"/>
              </a:ext>
            </a:extLst>
          </p:cNvPr>
          <p:cNvSpPr txBox="1"/>
          <p:nvPr/>
        </p:nvSpPr>
        <p:spPr>
          <a:xfrm>
            <a:off x="585626" y="4356243"/>
            <a:ext cx="11322121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Note: Just giving permission to user John using ACL will not allow him to access the file</a:t>
            </a:r>
          </a:p>
          <a:p>
            <a:r>
              <a:rPr lang="en-IN" sz="2400" dirty="0"/>
              <a:t>Reason: John needs access to the entire path</a:t>
            </a:r>
          </a:p>
          <a:p>
            <a:r>
              <a:rPr lang="en-IN" sz="2400" dirty="0"/>
              <a:t>Solution: After the above </a:t>
            </a:r>
            <a:r>
              <a:rPr lang="en-IN" sz="2400" dirty="0" err="1"/>
              <a:t>setfacl</a:t>
            </a:r>
            <a:r>
              <a:rPr lang="en-IN" sz="2400" dirty="0"/>
              <a:t> command, also run the following command:</a:t>
            </a:r>
          </a:p>
          <a:p>
            <a:r>
              <a:rPr lang="en-US" sz="2400" b="1" dirty="0" err="1"/>
              <a:t>setfacl</a:t>
            </a:r>
            <a:r>
              <a:rPr lang="en-US" sz="2400" b="1" dirty="0"/>
              <a:t> -m u:john:x /home/</a:t>
            </a:r>
            <a:r>
              <a:rPr lang="en-US" sz="2400" b="1" dirty="0" err="1"/>
              <a:t>atul</a:t>
            </a:r>
            <a:endParaRPr lang="en-US" sz="2400" b="1" dirty="0"/>
          </a:p>
          <a:p>
            <a:r>
              <a:rPr lang="en-US" sz="2400" dirty="0"/>
              <a:t>Then try </a:t>
            </a:r>
            <a:r>
              <a:rPr lang="en-US" sz="2400" b="1" dirty="0" err="1"/>
              <a:t>sudo</a:t>
            </a:r>
            <a:r>
              <a:rPr lang="en-US" sz="2400" b="1" dirty="0"/>
              <a:t> </a:t>
            </a:r>
            <a:r>
              <a:rPr lang="en-US" sz="2400" b="1" dirty="0" err="1"/>
              <a:t>su</a:t>
            </a:r>
            <a:r>
              <a:rPr lang="en-US" sz="2400" b="1" dirty="0"/>
              <a:t> john</a:t>
            </a:r>
            <a:r>
              <a:rPr lang="en-US" sz="2400" dirty="0"/>
              <a:t> and </a:t>
            </a:r>
            <a:r>
              <a:rPr lang="en-US" sz="2400" b="1" dirty="0"/>
              <a:t>cat /home/</a:t>
            </a:r>
            <a:r>
              <a:rPr lang="en-US" sz="2400" b="1" dirty="0" err="1"/>
              <a:t>atul</a:t>
            </a:r>
            <a:r>
              <a:rPr lang="en-US" sz="2400" b="1" dirty="0"/>
              <a:t>/file.txt</a:t>
            </a:r>
            <a:r>
              <a:rPr lang="en-US" sz="2400" dirty="0"/>
              <a:t>, it will work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622002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CF7C-50CB-7D05-4A0F-640B9E7A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ACL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388A-0C0A-EE20-43C5-27D1E80FB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Step 1: Create a new user called </a:t>
            </a:r>
            <a:r>
              <a:rPr lang="en-US" dirty="0" err="1"/>
              <a:t>alice</a:t>
            </a:r>
            <a:r>
              <a:rPr lang="en-US" dirty="0"/>
              <a:t> using </a:t>
            </a:r>
            <a:r>
              <a:rPr lang="en-US" dirty="0" err="1"/>
              <a:t>adduser</a:t>
            </a:r>
            <a:r>
              <a:rPr lang="en-US" dirty="0"/>
              <a:t> command</a:t>
            </a:r>
          </a:p>
          <a:p>
            <a:r>
              <a:rPr lang="en-US" dirty="0"/>
              <a:t>Step 2: Create a new file called share.txt and add a line in it using nano</a:t>
            </a:r>
          </a:p>
          <a:p>
            <a:r>
              <a:rPr lang="en-US" dirty="0"/>
              <a:t>Step 3: Check ACL on the file: </a:t>
            </a:r>
            <a:r>
              <a:rPr lang="en-US" dirty="0" err="1"/>
              <a:t>getfacl</a:t>
            </a:r>
            <a:r>
              <a:rPr lang="en-US" dirty="0"/>
              <a:t> share.txt</a:t>
            </a:r>
          </a:p>
          <a:p>
            <a:r>
              <a:rPr lang="en-US" dirty="0"/>
              <a:t>Step 4: Give permission to Alice on the file using </a:t>
            </a:r>
            <a:r>
              <a:rPr lang="en-US" dirty="0" err="1"/>
              <a:t>setfacl</a:t>
            </a:r>
            <a:r>
              <a:rPr lang="en-US" dirty="0"/>
              <a:t>: </a:t>
            </a:r>
            <a:r>
              <a:rPr lang="en-US" dirty="0" err="1"/>
              <a:t>setfacl</a:t>
            </a:r>
            <a:r>
              <a:rPr lang="en-US" dirty="0"/>
              <a:t> -m u:alice:rwx share.txt</a:t>
            </a:r>
          </a:p>
          <a:p>
            <a:r>
              <a:rPr lang="en-US" dirty="0"/>
              <a:t>Step 5: Recheck ACL on the file: </a:t>
            </a:r>
            <a:r>
              <a:rPr lang="en-US" dirty="0" err="1"/>
              <a:t>getfacl</a:t>
            </a:r>
            <a:r>
              <a:rPr lang="en-US" dirty="0"/>
              <a:t> share.txt</a:t>
            </a:r>
          </a:p>
          <a:p>
            <a:r>
              <a:rPr lang="en-US" dirty="0"/>
              <a:t>Step 6: Switch to user Alice and try to access the file</a:t>
            </a:r>
          </a:p>
          <a:p>
            <a:r>
              <a:rPr lang="en-US" dirty="0"/>
              <a:t>(a)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alice</a:t>
            </a:r>
            <a:endParaRPr lang="en-US" dirty="0"/>
          </a:p>
          <a:p>
            <a:r>
              <a:rPr lang="en-US" dirty="0"/>
              <a:t>(b) cat /home/</a:t>
            </a:r>
            <a:r>
              <a:rPr lang="en-US" dirty="0" err="1"/>
              <a:t>atul</a:t>
            </a:r>
            <a:r>
              <a:rPr lang="en-US" dirty="0"/>
              <a:t>/share.txt</a:t>
            </a:r>
          </a:p>
          <a:p>
            <a:r>
              <a:rPr lang="en-US" dirty="0"/>
              <a:t>We will get permission denied error</a:t>
            </a:r>
          </a:p>
          <a:p>
            <a:r>
              <a:rPr lang="en-US" dirty="0"/>
              <a:t>Step 7: Type exit to come back to original user</a:t>
            </a:r>
          </a:p>
          <a:p>
            <a:r>
              <a:rPr lang="en-US" dirty="0"/>
              <a:t>Step 8: Add ACL on the user home directory to allow Alice access: </a:t>
            </a:r>
            <a:r>
              <a:rPr lang="en-US" dirty="0" err="1"/>
              <a:t>setfacl</a:t>
            </a:r>
            <a:r>
              <a:rPr lang="en-US" dirty="0"/>
              <a:t> -m u:alice:rwx /home/</a:t>
            </a:r>
            <a:r>
              <a:rPr lang="en-US" dirty="0" err="1"/>
              <a:t>atul</a:t>
            </a:r>
            <a:endParaRPr lang="en-US" dirty="0"/>
          </a:p>
          <a:p>
            <a:r>
              <a:rPr lang="en-US" dirty="0"/>
              <a:t>Step 9: Switch to user Alice and try to access the file</a:t>
            </a:r>
          </a:p>
          <a:p>
            <a:r>
              <a:rPr lang="en-US" dirty="0"/>
              <a:t>(a)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alice</a:t>
            </a:r>
            <a:endParaRPr lang="en-US" dirty="0"/>
          </a:p>
          <a:p>
            <a:r>
              <a:rPr lang="en-US" dirty="0"/>
              <a:t>(b) cat /home/</a:t>
            </a:r>
            <a:r>
              <a:rPr lang="en-US" dirty="0" err="1"/>
              <a:t>atul</a:t>
            </a:r>
            <a:r>
              <a:rPr lang="en-US" dirty="0"/>
              <a:t>/share.txt</a:t>
            </a:r>
          </a:p>
          <a:p>
            <a:r>
              <a:rPr lang="en-US" dirty="0"/>
              <a:t>We should be able to view the file</a:t>
            </a:r>
          </a:p>
          <a:p>
            <a:r>
              <a:rPr lang="en-US" dirty="0"/>
              <a:t>Step 10: Now try nano /home/</a:t>
            </a:r>
            <a:r>
              <a:rPr lang="en-US" dirty="0" err="1"/>
              <a:t>atul</a:t>
            </a:r>
            <a:r>
              <a:rPr lang="en-US" dirty="0"/>
              <a:t>/share.txt and edit something and save - it should allow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9235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79420-410B-B7F3-9D41-AAB43F0C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Shell Metacharacters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2A959-6BAB-9E86-DB38-741FFFD11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Characters that have a special meaning</a:t>
            </a:r>
          </a:p>
          <a:p>
            <a:r>
              <a:rPr lang="en-IN" dirty="0"/>
              <a:t>ls   *.txt</a:t>
            </a:r>
          </a:p>
          <a:p>
            <a:r>
              <a:rPr lang="en-IN" dirty="0"/>
              <a:t>ls   &gt;  output.txt</a:t>
            </a:r>
          </a:p>
          <a:p>
            <a:r>
              <a:rPr lang="en-IN" dirty="0"/>
              <a:t>ls   -l  |  sort</a:t>
            </a:r>
          </a:p>
          <a:p>
            <a:r>
              <a:rPr lang="en-IN" dirty="0" err="1"/>
              <a:t>pwd</a:t>
            </a:r>
            <a:r>
              <a:rPr lang="en-IN" dirty="0"/>
              <a:t>; ls; date</a:t>
            </a:r>
          </a:p>
          <a:p>
            <a:r>
              <a:rPr lang="en-IN" dirty="0"/>
              <a:t>name="Rahul"</a:t>
            </a:r>
          </a:p>
          <a:p>
            <a:r>
              <a:rPr lang="en-IN" dirty="0"/>
              <a:t>echo $name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2540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24C6-8BE5-3B4E-C185-1FBD2D32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Misc Commands -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FD722-DC05-CE19-E123-E84E86FD1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Sorts lines of text from a file or standard input</a:t>
            </a:r>
          </a:p>
          <a:p>
            <a:r>
              <a:rPr lang="en-IN" dirty="0"/>
              <a:t># Alphabetical sort</a:t>
            </a:r>
          </a:p>
          <a:p>
            <a:r>
              <a:rPr lang="en-IN" dirty="0"/>
              <a:t>sort names.txt</a:t>
            </a:r>
          </a:p>
          <a:p>
            <a:endParaRPr lang="en-IN" dirty="0"/>
          </a:p>
          <a:p>
            <a:r>
              <a:rPr lang="en-IN" dirty="0"/>
              <a:t># Reverse order</a:t>
            </a:r>
          </a:p>
          <a:p>
            <a:r>
              <a:rPr lang="en-IN" dirty="0"/>
              <a:t>sort -r names.txt</a:t>
            </a:r>
          </a:p>
          <a:p>
            <a:endParaRPr lang="en-IN" dirty="0"/>
          </a:p>
          <a:p>
            <a:r>
              <a:rPr lang="en-IN" dirty="0"/>
              <a:t># Numeric sort</a:t>
            </a:r>
          </a:p>
          <a:p>
            <a:r>
              <a:rPr lang="en-IN" dirty="0"/>
              <a:t>sort -n numbers.txt</a:t>
            </a:r>
          </a:p>
          <a:p>
            <a:endParaRPr lang="en-IN" dirty="0"/>
          </a:p>
          <a:p>
            <a:r>
              <a:rPr lang="en-IN" dirty="0"/>
              <a:t># Numeric sort, descending</a:t>
            </a:r>
          </a:p>
          <a:p>
            <a:r>
              <a:rPr lang="en-IN" dirty="0"/>
              <a:t>sort -nr numbers.txt</a:t>
            </a:r>
          </a:p>
          <a:p>
            <a:endParaRPr lang="en-IN" dirty="0"/>
          </a:p>
          <a:p>
            <a:r>
              <a:rPr lang="en-IN" dirty="0"/>
              <a:t># Remove duplicate lines while sorting</a:t>
            </a:r>
          </a:p>
          <a:p>
            <a:r>
              <a:rPr lang="en-IN" dirty="0"/>
              <a:t>sort -u names.txt</a:t>
            </a:r>
          </a:p>
          <a:p>
            <a:endParaRPr lang="en-IN" dirty="0"/>
          </a:p>
          <a:p>
            <a:r>
              <a:rPr lang="en-IN" dirty="0"/>
              <a:t># Sort by a specific column</a:t>
            </a:r>
          </a:p>
          <a:p>
            <a:r>
              <a:rPr lang="en-IN" dirty="0"/>
              <a:t>sort -k2 data.txt</a:t>
            </a:r>
          </a:p>
          <a:p>
            <a:endParaRPr lang="en-IN" dirty="0"/>
          </a:p>
          <a:p>
            <a:r>
              <a:rPr lang="en-IN" dirty="0"/>
              <a:t># Sort numerically by the second column</a:t>
            </a:r>
          </a:p>
          <a:p>
            <a:r>
              <a:rPr lang="en-IN" dirty="0"/>
              <a:t>sort -k2,2n data.txt</a:t>
            </a:r>
          </a:p>
          <a:p>
            <a:endParaRPr lang="en-IN" dirty="0"/>
          </a:p>
          <a:p>
            <a:r>
              <a:rPr lang="en-IN" dirty="0"/>
              <a:t># Sort human-readable sizes (KB, MB, GB)</a:t>
            </a:r>
          </a:p>
          <a:p>
            <a:r>
              <a:rPr lang="en-IN" dirty="0"/>
              <a:t>sort -h sizes.txt</a:t>
            </a:r>
          </a:p>
        </p:txBody>
      </p:sp>
    </p:spTree>
    <p:extLst>
      <p:ext uri="{BB962C8B-B14F-4D97-AF65-F5344CB8AC3E}">
        <p14:creationId xmlns:p14="http://schemas.microsoft.com/office/powerpoint/2010/main" val="11997417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C6C4-051C-106A-8AF1-CFD61906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Misc Commands – diff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463-3417-5231-F0B9-FC6FA06E1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Compares two files line by line and shows the difference</a:t>
            </a:r>
          </a:p>
          <a:p>
            <a:r>
              <a:rPr lang="en-US" dirty="0"/>
              <a:t>diff     file1.txt     file2.txt</a:t>
            </a:r>
          </a:p>
          <a:p>
            <a:r>
              <a:rPr lang="en-IN" dirty="0"/>
              <a:t>diff     -</a:t>
            </a:r>
            <a:r>
              <a:rPr lang="en-IN" dirty="0" err="1"/>
              <a:t>i</a:t>
            </a:r>
            <a:r>
              <a:rPr lang="en-IN" dirty="0"/>
              <a:t>     file1    file2			-- Ignore case</a:t>
            </a:r>
          </a:p>
          <a:p>
            <a:r>
              <a:rPr lang="en-IN" dirty="0"/>
              <a:t>diff    -q     file1    file2			-- Only say if the files differ</a:t>
            </a:r>
          </a:p>
        </p:txBody>
      </p:sp>
    </p:spTree>
    <p:extLst>
      <p:ext uri="{BB962C8B-B14F-4D97-AF65-F5344CB8AC3E}">
        <p14:creationId xmlns:p14="http://schemas.microsoft.com/office/powerpoint/2010/main" val="21433260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3571-90C9-7DBA-06D2-1D686634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4FCC-BB27-6C4E-8A9B-1D6EB108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Two types: </a:t>
            </a:r>
            <a:r>
              <a:rPr lang="en-IN" b="1" dirty="0"/>
              <a:t>Hard link </a:t>
            </a:r>
            <a:r>
              <a:rPr lang="en-IN" dirty="0"/>
              <a:t>and </a:t>
            </a:r>
            <a:r>
              <a:rPr lang="en-IN" b="1" dirty="0"/>
              <a:t>Soft link (Symbolic link)</a:t>
            </a:r>
          </a:p>
          <a:p>
            <a:r>
              <a:rPr lang="en-IN" b="1" dirty="0"/>
              <a:t>Hard link</a:t>
            </a:r>
            <a:r>
              <a:rPr lang="en-IN" dirty="0"/>
              <a:t>: </a:t>
            </a:r>
            <a:r>
              <a:rPr lang="en-US" dirty="0"/>
              <a:t>Same data/</a:t>
            </a:r>
            <a:r>
              <a:rPr lang="en-US" dirty="0" err="1"/>
              <a:t>inode</a:t>
            </a:r>
            <a:r>
              <a:rPr lang="en-US" dirty="0"/>
              <a:t> as the original file</a:t>
            </a:r>
          </a:p>
          <a:p>
            <a:pPr lvl="1"/>
            <a:r>
              <a:rPr lang="en-IN" dirty="0"/>
              <a:t>ln   file1.txt    file2.txt</a:t>
            </a:r>
          </a:p>
          <a:p>
            <a:pPr lvl="1"/>
            <a:r>
              <a:rPr lang="en-IN" dirty="0"/>
              <a:t>Both names refer to the same file data</a:t>
            </a:r>
          </a:p>
          <a:p>
            <a:pPr lvl="1"/>
            <a:r>
              <a:rPr lang="en-IN" dirty="0"/>
              <a:t>ls   -li		-- Both files will have the same </a:t>
            </a:r>
            <a:r>
              <a:rPr lang="en-IN" dirty="0" err="1"/>
              <a:t>inode</a:t>
            </a:r>
            <a:r>
              <a:rPr lang="en-IN" dirty="0"/>
              <a:t> number</a:t>
            </a:r>
          </a:p>
          <a:p>
            <a:pPr lvl="1"/>
            <a:r>
              <a:rPr lang="en-IN" dirty="0"/>
              <a:t>If we delete the original, the link still works: rm  file1.txt   and cat  file2.txt</a:t>
            </a:r>
          </a:p>
          <a:p>
            <a:r>
              <a:rPr lang="en-IN" b="1" dirty="0"/>
              <a:t>Soft link</a:t>
            </a:r>
            <a:r>
              <a:rPr lang="en-IN" dirty="0"/>
              <a:t>: </a:t>
            </a:r>
            <a:r>
              <a:rPr lang="en-US" dirty="0"/>
              <a:t>Shortcut/path to a file</a:t>
            </a:r>
          </a:p>
          <a:p>
            <a:pPr lvl="1"/>
            <a:r>
              <a:rPr lang="en-US" dirty="0"/>
              <a:t>ln   -s   file1.txt    link.txt</a:t>
            </a:r>
          </a:p>
          <a:p>
            <a:pPr lvl="1"/>
            <a:r>
              <a:rPr lang="en-US" dirty="0"/>
              <a:t>If the original file is deleted, symbolic link becomes a </a:t>
            </a:r>
            <a:r>
              <a:rPr lang="en-US" b="1" dirty="0"/>
              <a:t>broken</a:t>
            </a:r>
            <a:r>
              <a:rPr lang="en-US" dirty="0"/>
              <a:t>/</a:t>
            </a:r>
            <a:r>
              <a:rPr lang="en-US" b="1" dirty="0"/>
              <a:t>dangling link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61869-1AB8-64CC-0A76-810090D5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260" y="1425559"/>
            <a:ext cx="3653860" cy="181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44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CAF44-B5AA-6B15-7360-34680C395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038" y="18256"/>
            <a:ext cx="10515600" cy="546824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Global Regular Expression Print (grep)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C34D3-207C-FA44-60FE-F3F2EF93B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5080"/>
            <a:ext cx="10515600" cy="5611883"/>
          </a:xfrm>
        </p:spPr>
        <p:txBody>
          <a:bodyPr/>
          <a:lstStyle/>
          <a:p>
            <a:r>
              <a:rPr lang="en-US" dirty="0"/>
              <a:t>Searches for specific patterns within files or command output and displays the matching lines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162BE8-E5F3-1AAB-80C4-ECE98C91C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01732"/>
              </p:ext>
            </p:extLst>
          </p:nvPr>
        </p:nvGraphicFramePr>
        <p:xfrm>
          <a:off x="473467" y="1363289"/>
          <a:ext cx="11567844" cy="545488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16711">
                  <a:extLst>
                    <a:ext uri="{9D8B030D-6E8A-4147-A177-3AD203B41FA5}">
                      <a16:colId xmlns:a16="http://schemas.microsoft.com/office/drawing/2014/main" val="1831213715"/>
                    </a:ext>
                  </a:extLst>
                </a:gridCol>
                <a:gridCol w="7429193">
                  <a:extLst>
                    <a:ext uri="{9D8B030D-6E8A-4147-A177-3AD203B41FA5}">
                      <a16:colId xmlns:a16="http://schemas.microsoft.com/office/drawing/2014/main" val="2633441283"/>
                    </a:ext>
                  </a:extLst>
                </a:gridCol>
                <a:gridCol w="2821940">
                  <a:extLst>
                    <a:ext uri="{9D8B030D-6E8A-4147-A177-3AD203B41FA5}">
                      <a16:colId xmlns:a16="http://schemas.microsoft.com/office/drawing/2014/main" val="90191271"/>
                    </a:ext>
                  </a:extLst>
                </a:gridCol>
              </a:tblGrid>
              <a:tr h="24699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</a:rPr>
                        <a:t>Option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464388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-i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Ignore Case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Searches for the pattern regardless of uppercase or lowercase.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grep -</a:t>
                      </a:r>
                      <a:r>
                        <a:rPr lang="en-IN" sz="2000" b="1" dirty="0" err="1">
                          <a:solidFill>
                            <a:srgbClr val="444746"/>
                          </a:solidFill>
                          <a:effectLst/>
                        </a:rPr>
                        <a:t>i</a:t>
                      </a: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 "error" log.txt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0992899"/>
                  </a:ext>
                </a:extLst>
              </a:tr>
              <a:tr h="38888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-v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Invert Match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Displays all lines that </a:t>
                      </a: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do not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 contain the pattern.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grep -v "success" log.txt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089462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-r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</a:rPr>
                        <a:t>Recursive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: Searches for the pattern in all files within a directory and its subdirectories.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grep -r "function" ./</a:t>
                      </a:r>
                      <a:r>
                        <a:rPr lang="en-IN" sz="2000" b="1" dirty="0" err="1">
                          <a:solidFill>
                            <a:srgbClr val="444746"/>
                          </a:solidFill>
                          <a:effectLst/>
                        </a:rPr>
                        <a:t>src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179566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-n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Line Number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Displays the line number where the match was found.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grep -n "main" script.py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8528730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-c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Count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Returns the total number of lines that match the pattern instead of the text itself.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grep -c "failed" auth.log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831793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-l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File Names Only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Lists only the names of files that contain the match.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grep -l "TODO" *.md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2909890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-w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</a:rPr>
                        <a:t>Whole Word</a:t>
                      </a:r>
                      <a:r>
                        <a:rPr lang="en-US" sz="2000">
                          <a:solidFill>
                            <a:srgbClr val="1F1F1F"/>
                          </a:solidFill>
                          <a:effectLst/>
                        </a:rPr>
                        <a:t>: Matches the pattern only if it is a whole word (not a substring).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444746"/>
                          </a:solidFill>
                          <a:effectLst/>
                        </a:rPr>
                        <a:t>grep -w "is" file.txt</a:t>
                      </a:r>
                      <a:endParaRPr lang="en-US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166747"/>
                  </a:ext>
                </a:extLst>
              </a:tr>
              <a:tr h="5307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>
                          <a:solidFill>
                            <a:srgbClr val="444746"/>
                          </a:solidFill>
                          <a:effectLst/>
                        </a:rPr>
                        <a:t>-E</a:t>
                      </a:r>
                      <a:endParaRPr lang="en-IN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</a:rPr>
                        <a:t>Extended Regex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: Allows the use of complex symbols like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|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 (OR),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+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, and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</a:rPr>
                        <a:t>?</a:t>
                      </a:r>
                      <a:r>
                        <a:rPr lang="en-US" sz="20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39414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grep -E "</a:t>
                      </a:r>
                      <a:r>
                        <a:rPr lang="en-IN" sz="2000" b="1" dirty="0" err="1">
                          <a:solidFill>
                            <a:srgbClr val="444746"/>
                          </a:solidFill>
                          <a:effectLst/>
                        </a:rPr>
                        <a:t>cat|dog</a:t>
                      </a:r>
                      <a:r>
                        <a:rPr lang="en-IN" sz="2000" b="1" dirty="0">
                          <a:solidFill>
                            <a:srgbClr val="444746"/>
                          </a:solidFill>
                          <a:effectLst/>
                        </a:rPr>
                        <a:t>" animals.txt</a:t>
                      </a:r>
                      <a:endParaRPr lang="en-IN" sz="20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7297" marR="47297" marT="52552" marB="525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52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8235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C3E6-40D4-DA00-7FAD-5C12302EE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Regex Using grep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71E37C-4B1E-CDEB-22D0-7C07710D9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666089"/>
              </p:ext>
            </p:extLst>
          </p:nvPr>
        </p:nvGraphicFramePr>
        <p:xfrm>
          <a:off x="581346" y="1690688"/>
          <a:ext cx="10515600" cy="414528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43355">
                  <a:extLst>
                    <a:ext uri="{9D8B030D-6E8A-4147-A177-3AD203B41FA5}">
                      <a16:colId xmlns:a16="http://schemas.microsoft.com/office/drawing/2014/main" val="440965002"/>
                    </a:ext>
                  </a:extLst>
                </a:gridCol>
                <a:gridCol w="4469259">
                  <a:extLst>
                    <a:ext uri="{9D8B030D-6E8A-4147-A177-3AD203B41FA5}">
                      <a16:colId xmlns:a16="http://schemas.microsoft.com/office/drawing/2014/main" val="554216432"/>
                    </a:ext>
                  </a:extLst>
                </a:gridCol>
                <a:gridCol w="4202986">
                  <a:extLst>
                    <a:ext uri="{9D8B030D-6E8A-4147-A177-3AD203B41FA5}">
                      <a16:colId xmlns:a16="http://schemas.microsoft.com/office/drawing/2014/main" val="672074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effectLst/>
                        </a:rPr>
                        <a:t>Symbol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  <a:endParaRPr lang="en-IN" sz="24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6690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^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Matches the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beginning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of a line.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grep "^Start" file.txt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174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$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Matches the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end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of a line.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444746"/>
                          </a:solidFill>
                          <a:effectLst/>
                        </a:rPr>
                        <a:t>grep "End$" file.txt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2603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.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</a:rPr>
                        <a:t>Matches any </a:t>
                      </a:r>
                      <a:r>
                        <a:rPr lang="en-IN" sz="2400" b="1">
                          <a:solidFill>
                            <a:srgbClr val="1F1F1F"/>
                          </a:solidFill>
                          <a:effectLst/>
                        </a:rPr>
                        <a:t>single character</a:t>
                      </a:r>
                      <a:r>
                        <a:rPr lang="en-IN" sz="240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grep "b.t" (matches bat, bet, bit)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34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*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Matches </a:t>
                      </a:r>
                      <a:r>
                        <a:rPr lang="en-US" sz="2400" b="1">
                          <a:solidFill>
                            <a:srgbClr val="1F1F1F"/>
                          </a:solidFill>
                          <a:effectLst/>
                        </a:rPr>
                        <a:t>zero or more</a:t>
                      </a: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 of the preceding character.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444746"/>
                          </a:solidFill>
                          <a:effectLst/>
                        </a:rPr>
                        <a:t>grep "ho*p" (matches hp, hop, hoop)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81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>
                          <a:solidFill>
                            <a:srgbClr val="444746"/>
                          </a:solidFill>
                          <a:effectLst/>
                        </a:rPr>
                        <a:t>[ ]</a:t>
                      </a:r>
                      <a:endParaRPr lang="en-IN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>
                          <a:solidFill>
                            <a:srgbClr val="1F1F1F"/>
                          </a:solidFill>
                          <a:effectLst/>
                        </a:rPr>
                        <a:t>Matches any character inside the brackets.</a:t>
                      </a:r>
                      <a:endParaRPr lang="en-US" sz="2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400" dirty="0">
                          <a:solidFill>
                            <a:srgbClr val="444746"/>
                          </a:solidFill>
                          <a:effectLst/>
                        </a:rPr>
                        <a:t>grep "[0-9]" (matches any digit)</a:t>
                      </a:r>
                      <a:endParaRPr lang="en-US" sz="2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706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7684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EC56-DAC0-8EF4-29F5-F10004414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 Command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8F980D-F0E0-EA75-8895-47737FCA6A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913521"/>
              </p:ext>
            </p:extLst>
          </p:nvPr>
        </p:nvGraphicFramePr>
        <p:xfrm>
          <a:off x="468330" y="1574024"/>
          <a:ext cx="11038725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435850">
                  <a:extLst>
                    <a:ext uri="{9D8B030D-6E8A-4147-A177-3AD203B41FA5}">
                      <a16:colId xmlns:a16="http://schemas.microsoft.com/office/drawing/2014/main" val="4260051490"/>
                    </a:ext>
                  </a:extLst>
                </a:gridCol>
                <a:gridCol w="3575407">
                  <a:extLst>
                    <a:ext uri="{9D8B030D-6E8A-4147-A177-3AD203B41FA5}">
                      <a16:colId xmlns:a16="http://schemas.microsoft.com/office/drawing/2014/main" val="1308824229"/>
                    </a:ext>
                  </a:extLst>
                </a:gridCol>
                <a:gridCol w="4027468">
                  <a:extLst>
                    <a:ext uri="{9D8B030D-6E8A-4147-A177-3AD203B41FA5}">
                      <a16:colId xmlns:a16="http://schemas.microsoft.com/office/drawing/2014/main" val="10327064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078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-name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Search by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find /home -name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104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-iname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Case-insensitive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find /home -iname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66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-type 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files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/home -type 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05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-type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directories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/home -type 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67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-size +100k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Files by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/home -size +100k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0948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-mtime 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Modified in last 7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/home -mtime -7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619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/path -name "*.txt"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Find by extension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find /home -name "*.txt"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36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3474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A2F8-A99F-BD1F-A1DC-DD4F6AA88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locate Command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11EAB1-14D0-012A-89C8-16A7154C1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7237379"/>
              </p:ext>
            </p:extLst>
          </p:nvPr>
        </p:nvGraphicFramePr>
        <p:xfrm>
          <a:off x="704636" y="1605361"/>
          <a:ext cx="10515600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3165282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35365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177468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5499571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980826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815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Search file by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filename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Full path(s) of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74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Case-insensitive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-i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-i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Matches File, FILE,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Ignores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0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Limit number of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-n N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-n 5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First 5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Useful for large 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24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Count matches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-c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-c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Number of matches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file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758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Exact 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-b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locate -b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Exact filename match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Avoid partial matches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370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9071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3313F-3A38-B9AC-4EFA-04C83C4DC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Differences: find and locate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B276524-0CAA-9BDE-0FBE-131EFE0FA4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498697"/>
              </p:ext>
            </p:extLst>
          </p:nvPr>
        </p:nvGraphicFramePr>
        <p:xfrm>
          <a:off x="745732" y="1518030"/>
          <a:ext cx="10515600" cy="4267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277106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60939914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69735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locate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9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Search 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Searches </a:t>
                      </a:r>
                      <a:r>
                        <a:rPr lang="en-IN" sz="2000" b="1"/>
                        <a:t>actual filesystem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Uses </a:t>
                      </a:r>
                      <a:r>
                        <a:rPr lang="en-IN" sz="2000" b="1"/>
                        <a:t>pre-built database (index)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82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7396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Always up-to-date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May be outdated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788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Syntax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More complex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Very simple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708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Search 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Specific directory (e.g., /home)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Entire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58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Requires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Yes (</a:t>
                      </a:r>
                      <a:r>
                        <a:rPr lang="en-IN" sz="2000" dirty="0" err="1"/>
                        <a:t>updatedb</a:t>
                      </a:r>
                      <a:r>
                        <a:rPr lang="en-IN" sz="2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505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Real-time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643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Advanced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Yes (size, type, time, permissions)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79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find /home -name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locate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783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4357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EF6A-6A23-632E-41DF-789F792C0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tar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AEF6C-7E3F-D045-599D-DCEDD3C83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 = Tape Archive</a:t>
            </a:r>
          </a:p>
          <a:p>
            <a:r>
              <a:rPr lang="en-US" dirty="0"/>
              <a:t>Used to combine multiple files/folders into one file</a:t>
            </a:r>
          </a:p>
          <a:p>
            <a:r>
              <a:rPr lang="en-US" dirty="0"/>
              <a:t>Does NOT compress by default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0D1BE7-CF4E-B47D-C7E6-98DB244C5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05025"/>
              </p:ext>
            </p:extLst>
          </p:nvPr>
        </p:nvGraphicFramePr>
        <p:xfrm>
          <a:off x="838200" y="3605226"/>
          <a:ext cx="10515600" cy="21945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233773">
                  <a:extLst>
                    <a:ext uri="{9D8B030D-6E8A-4147-A177-3AD203B41FA5}">
                      <a16:colId xmlns:a16="http://schemas.microsoft.com/office/drawing/2014/main" val="1620977408"/>
                    </a:ext>
                  </a:extLst>
                </a:gridCol>
                <a:gridCol w="3965825">
                  <a:extLst>
                    <a:ext uri="{9D8B030D-6E8A-4147-A177-3AD203B41FA5}">
                      <a16:colId xmlns:a16="http://schemas.microsoft.com/office/drawing/2014/main" val="433477635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812559518"/>
                    </a:ext>
                  </a:extLst>
                </a:gridCol>
                <a:gridCol w="2291993">
                  <a:extLst>
                    <a:ext uri="{9D8B030D-6E8A-4147-A177-3AD203B41FA5}">
                      <a16:colId xmlns:a16="http://schemas.microsoft.com/office/drawing/2014/main" val="1430735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Size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602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Archive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Combines many files into 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111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Compression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Reduces file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227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Archive + Compression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Both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data.tar.gz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169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3086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09324-B635-CF8C-2635-1090BBB53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981"/>
          </a:xfrm>
        </p:spPr>
        <p:txBody>
          <a:bodyPr>
            <a:normAutofit fontScale="90000"/>
          </a:bodyPr>
          <a:lstStyle/>
          <a:p>
            <a:r>
              <a:rPr lang="en-IN" dirty="0"/>
              <a:t>tar Usage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F44EA7-BAD5-A03E-5F16-FA2C3648E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721767"/>
              </p:ext>
            </p:extLst>
          </p:nvPr>
        </p:nvGraphicFramePr>
        <p:xfrm>
          <a:off x="170379" y="523982"/>
          <a:ext cx="10515600" cy="1584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976920">
                  <a:extLst>
                    <a:ext uri="{9D8B030D-6E8A-4147-A177-3AD203B41FA5}">
                      <a16:colId xmlns:a16="http://schemas.microsoft.com/office/drawing/2014/main" val="1701667972"/>
                    </a:ext>
                  </a:extLst>
                </a:gridCol>
                <a:gridCol w="3482939">
                  <a:extLst>
                    <a:ext uri="{9D8B030D-6E8A-4147-A177-3AD203B41FA5}">
                      <a16:colId xmlns:a16="http://schemas.microsoft.com/office/drawing/2014/main" val="3104598288"/>
                    </a:ext>
                  </a:extLst>
                </a:gridCol>
                <a:gridCol w="5055741">
                  <a:extLst>
                    <a:ext uri="{9D8B030D-6E8A-4147-A177-3AD203B41FA5}">
                      <a16:colId xmlns:a16="http://schemas.microsoft.com/office/drawing/2014/main" val="3131243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03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-cvf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archive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-cvf data.tar file1.txt dir/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432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-xvf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archive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tar -</a:t>
                      </a:r>
                      <a:r>
                        <a:rPr lang="en-IN" sz="2000" dirty="0" err="1"/>
                        <a:t>xvf</a:t>
                      </a:r>
                      <a:r>
                        <a:rPr lang="en-IN" sz="2000" dirty="0"/>
                        <a:t> data.tar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99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List contents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tar -</a:t>
                      </a:r>
                      <a:r>
                        <a:rPr lang="en-IN" sz="2000" dirty="0" err="1"/>
                        <a:t>tf</a:t>
                      </a:r>
                      <a:r>
                        <a:rPr lang="en-IN" sz="2000" dirty="0"/>
                        <a:t> data.tar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13402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401E77F-AE08-B6C9-D632-38B136E539FE}"/>
              </a:ext>
            </a:extLst>
          </p:cNvPr>
          <p:cNvSpPr txBox="1"/>
          <p:nvPr/>
        </p:nvSpPr>
        <p:spPr>
          <a:xfrm>
            <a:off x="10336658" y="134309"/>
            <a:ext cx="1828800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c = Create</a:t>
            </a:r>
          </a:p>
          <a:p>
            <a:r>
              <a:rPr lang="en-IN" sz="2000" b="1" dirty="0"/>
              <a:t>v = Verbose</a:t>
            </a:r>
          </a:p>
          <a:p>
            <a:r>
              <a:rPr lang="en-IN" sz="2000" b="1" dirty="0"/>
              <a:t>f = File name</a:t>
            </a:r>
          </a:p>
          <a:p>
            <a:r>
              <a:rPr lang="en-IN" sz="2000" b="1" dirty="0"/>
              <a:t>x = Extract</a:t>
            </a:r>
          </a:p>
          <a:p>
            <a:r>
              <a:rPr lang="en-IN" sz="2000" b="1" dirty="0"/>
              <a:t>z = Compress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9F53C8-C9C3-7BD7-50D2-2F49A6E10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282868"/>
              </p:ext>
            </p:extLst>
          </p:nvPr>
        </p:nvGraphicFramePr>
        <p:xfrm>
          <a:off x="170379" y="2218304"/>
          <a:ext cx="10618344" cy="4497853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192677">
                  <a:extLst>
                    <a:ext uri="{9D8B030D-6E8A-4147-A177-3AD203B41FA5}">
                      <a16:colId xmlns:a16="http://schemas.microsoft.com/office/drawing/2014/main" val="1610492424"/>
                    </a:ext>
                  </a:extLst>
                </a:gridCol>
                <a:gridCol w="3493214">
                  <a:extLst>
                    <a:ext uri="{9D8B030D-6E8A-4147-A177-3AD203B41FA5}">
                      <a16:colId xmlns:a16="http://schemas.microsoft.com/office/drawing/2014/main" val="3675150962"/>
                    </a:ext>
                  </a:extLst>
                </a:gridCol>
                <a:gridCol w="2835667">
                  <a:extLst>
                    <a:ext uri="{9D8B030D-6E8A-4147-A177-3AD203B41FA5}">
                      <a16:colId xmlns:a16="http://schemas.microsoft.com/office/drawing/2014/main" val="3588215116"/>
                    </a:ext>
                  </a:extLst>
                </a:gridCol>
                <a:gridCol w="2096786">
                  <a:extLst>
                    <a:ext uri="{9D8B030D-6E8A-4147-A177-3AD203B41FA5}">
                      <a16:colId xmlns:a16="http://schemas.microsoft.com/office/drawing/2014/main" val="3123372170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Task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Explanation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Output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257153"/>
                  </a:ext>
                </a:extLst>
              </a:tr>
              <a:tr h="1109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compressed archive (files)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tar -</a:t>
                      </a:r>
                      <a:r>
                        <a:rPr lang="en-IN" sz="2000" dirty="0" err="1"/>
                        <a:t>czvf</a:t>
                      </a:r>
                      <a:r>
                        <a:rPr lang="en-IN" sz="2000" dirty="0"/>
                        <a:t> data.tar.gz file1.txt file2.txt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Combines + compresses files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data.tar.gz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515848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Archive a directory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-czvf project.tar.gz project/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 entire folder (recursive)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project.tar.gz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116416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archive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-xzvf data.tar.gz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all files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Files restored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957396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to specific folder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-xzvf data.tar.gz -C output/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into output/ directory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Files in output/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032305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List contents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tar -tzvf data.tar.gz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View files without extracting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File list displayed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297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41842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B0691-2BC8-5709-3FDD-465E5962A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gunzip</a:t>
            </a:r>
            <a:r>
              <a:rPr lang="en-IN" dirty="0"/>
              <a:t> and </a:t>
            </a:r>
            <a:r>
              <a:rPr lang="en-IN" dirty="0" err="1"/>
              <a:t>gzip</a:t>
            </a:r>
            <a:r>
              <a:rPr lang="en-IN" dirty="0"/>
              <a:t>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AE44B9-4A98-AB12-D4D1-F56B3B3D31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2830095"/>
              </p:ext>
            </p:extLst>
          </p:nvPr>
        </p:nvGraphicFramePr>
        <p:xfrm>
          <a:off x="226032" y="1445481"/>
          <a:ext cx="11342667" cy="518494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20381">
                  <a:extLst>
                    <a:ext uri="{9D8B030D-6E8A-4147-A177-3AD203B41FA5}">
                      <a16:colId xmlns:a16="http://schemas.microsoft.com/office/drawing/2014/main" val="982411446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2669510738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3297763131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3708145669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3581657987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4067979008"/>
                    </a:ext>
                  </a:extLst>
                </a:gridCol>
                <a:gridCol w="1620381">
                  <a:extLst>
                    <a:ext uri="{9D8B030D-6E8A-4147-A177-3AD203B41FA5}">
                      <a16:colId xmlns:a16="http://schemas.microsoft.com/office/drawing/2014/main" val="1152115468"/>
                    </a:ext>
                  </a:extLst>
                </a:gridCol>
              </a:tblGrid>
              <a:tr h="305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Syntax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Input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Output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Key Behavior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456794"/>
                  </a:ext>
                </a:extLst>
              </a:tr>
              <a:tr h="99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 a file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file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Original file is </a:t>
                      </a:r>
                      <a:r>
                        <a:rPr lang="en-US" sz="2000" b="1"/>
                        <a:t>removed</a:t>
                      </a:r>
                      <a:r>
                        <a:rPr lang="en-US" sz="2000"/>
                        <a:t> after compression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087113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-k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 + keep original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-k file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-k 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 + 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Keeps both files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2776308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gunzip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Decompress file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gunzip file.gz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gunzip 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Compressed file is </a:t>
                      </a:r>
                      <a:r>
                        <a:rPr lang="en-IN" sz="2000" b="1"/>
                        <a:t>removed</a:t>
                      </a:r>
                      <a:endParaRPr lang="en-IN" sz="20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8659984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Decompress (same as gunzip)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-d file.gz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gzip -d 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Alternate way to unzip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082674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zcat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View without extracting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zcat file.gz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zcat 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data.txt.gz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Output on screen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 file created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830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1849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F5AEF-713B-5514-108C-702246C2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gunzip</a:t>
            </a:r>
            <a:r>
              <a:rPr lang="en-IN" dirty="0"/>
              <a:t>/</a:t>
            </a:r>
            <a:r>
              <a:rPr lang="en-IN" dirty="0" err="1"/>
              <a:t>gzip</a:t>
            </a:r>
            <a:r>
              <a:rPr lang="en-IN" dirty="0"/>
              <a:t>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AFB555-6B56-409E-41AA-18578AE6C0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7357230"/>
              </p:ext>
            </p:extLst>
          </p:nvPr>
        </p:nvGraphicFramePr>
        <p:xfrm>
          <a:off x="684088" y="1690688"/>
          <a:ext cx="10515600" cy="4572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173181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4630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845643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717680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12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Compress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gzip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Compresses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file.txt.gz (original removed)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203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Decompress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gunzip file.txt.gz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Restores original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07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Decompress (alternate)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gzip -d file.txt.gz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Same as gunzip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477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Keep original while compressing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gzip -k file.txt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Keeps both files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file.txt + file.txt.gz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096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View compressed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zcat file.txt.gz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Displays content without extracting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Output on screen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098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9511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F85D-D32B-E788-B9FC-640F6273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zip-unzip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3092B2-585B-B328-431A-D2B79223B6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464494"/>
              </p:ext>
            </p:extLst>
          </p:nvPr>
        </p:nvGraphicFramePr>
        <p:xfrm>
          <a:off x="445215" y="1690688"/>
          <a:ext cx="11301570" cy="499842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614510">
                  <a:extLst>
                    <a:ext uri="{9D8B030D-6E8A-4147-A177-3AD203B41FA5}">
                      <a16:colId xmlns:a16="http://schemas.microsoft.com/office/drawing/2014/main" val="1726776906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1482726915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704130971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2101868911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3232657045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259073086"/>
                    </a:ext>
                  </a:extLst>
                </a:gridCol>
                <a:gridCol w="1614510">
                  <a:extLst>
                    <a:ext uri="{9D8B030D-6E8A-4147-A177-3AD203B41FA5}">
                      <a16:colId xmlns:a16="http://schemas.microsoft.com/office/drawing/2014/main" val="3992183547"/>
                    </a:ext>
                  </a:extLst>
                </a:gridCol>
              </a:tblGrid>
              <a:tr h="276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Syntax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Input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Output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Key Behavior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212768"/>
                  </a:ext>
                </a:extLst>
              </a:tr>
              <a:tr h="897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 files into archive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zip archive.zip files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zip data.zip file1.txt file2.txt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Files/folders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Original files are </a:t>
                      </a:r>
                      <a:r>
                        <a:rPr lang="en-IN" sz="2000" b="1"/>
                        <a:t>kept</a:t>
                      </a:r>
                      <a:endParaRPr lang="en-IN" sz="2000"/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489191"/>
                  </a:ext>
                </a:extLst>
              </a:tr>
              <a:tr h="897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zip -r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Compress directory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zip -r archive.zip dir/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/>
                        <a:t>zip -r project.zip project/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Folder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project.zip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Includes subfolders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839275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archive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archive.zip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data.zip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.zip file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Files restored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Extracts in current directory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533494"/>
                  </a:ext>
                </a:extLst>
              </a:tr>
              <a:tr h="897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-d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Extract to folder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/>
                        <a:t>unzip archive.zip -d dir/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data.zip -d output/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.zip file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Files in output/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Custom location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682313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-l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List contents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-l archive.zip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unzip -l data.zip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.zip file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File list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No extraction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42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3478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76C9-0C62-6728-9F9D-FD10E6F6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Shell Scripting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D68E-56B8-4317-A5FB-64A910A6A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Shell script</a:t>
            </a:r>
            <a:r>
              <a:rPr lang="en-US" dirty="0"/>
              <a:t>: A series of Linux commands in a file for task automation</a:t>
            </a:r>
          </a:p>
          <a:p>
            <a:r>
              <a:rPr lang="en-US" dirty="0"/>
              <a:t>Example</a:t>
            </a:r>
          </a:p>
          <a:p>
            <a:pPr marL="457200" lvl="1" indent="0">
              <a:buNone/>
            </a:pPr>
            <a:r>
              <a:rPr lang="en-US" b="1" dirty="0"/>
              <a:t>#!/bin/bash</a:t>
            </a:r>
          </a:p>
          <a:p>
            <a:pPr marL="457200" lvl="1" indent="0">
              <a:buNone/>
            </a:pPr>
            <a:r>
              <a:rPr lang="en-US" b="1" dirty="0"/>
              <a:t># This is a comment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b="1" dirty="0"/>
              <a:t>echo "Hello World”</a:t>
            </a:r>
          </a:p>
          <a:p>
            <a:r>
              <a:rPr lang="en-US" dirty="0"/>
              <a:t>Execute</a:t>
            </a:r>
          </a:p>
          <a:p>
            <a:pPr lvl="1"/>
            <a:r>
              <a:rPr lang="en-US" dirty="0"/>
              <a:t>Create file: </a:t>
            </a:r>
            <a:r>
              <a:rPr lang="en-US" b="1" dirty="0"/>
              <a:t>nano   script.sh</a:t>
            </a:r>
          </a:p>
          <a:p>
            <a:pPr lvl="1"/>
            <a:r>
              <a:rPr lang="en-US" dirty="0"/>
              <a:t>Add commands shown above</a:t>
            </a:r>
          </a:p>
          <a:p>
            <a:pPr lvl="1"/>
            <a:r>
              <a:rPr lang="en-US" dirty="0"/>
              <a:t>Give permission: </a:t>
            </a:r>
            <a:r>
              <a:rPr lang="en-US" b="1" dirty="0" err="1"/>
              <a:t>chmod</a:t>
            </a:r>
            <a:r>
              <a:rPr lang="en-US" b="1" dirty="0"/>
              <a:t>    </a:t>
            </a:r>
            <a:r>
              <a:rPr lang="en-US" b="1" dirty="0" err="1"/>
              <a:t>u+x</a:t>
            </a:r>
            <a:r>
              <a:rPr lang="en-US" b="1" dirty="0"/>
              <a:t>    script.sh</a:t>
            </a:r>
          </a:p>
          <a:p>
            <a:pPr lvl="1"/>
            <a:r>
              <a:rPr lang="en-US" dirty="0"/>
              <a:t>Run:  </a:t>
            </a:r>
            <a:r>
              <a:rPr lang="en-US" b="1" dirty="0"/>
              <a:t>./script.sh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800433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6455-B4DC-F83C-F168-1ACF935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851B-49E2-45AC-8254-E09E7170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store data (value)</a:t>
            </a:r>
          </a:p>
          <a:p>
            <a:r>
              <a:rPr lang="en-US" dirty="0"/>
              <a:t>No data type declaration needed</a:t>
            </a:r>
          </a:p>
          <a:p>
            <a:r>
              <a:rPr lang="en-US" dirty="0"/>
              <a:t>Value is treated as string by default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IN" dirty="0"/>
              <a:t>name="John"</a:t>
            </a:r>
          </a:p>
          <a:p>
            <a:pPr lvl="1"/>
            <a:r>
              <a:rPr lang="en-IN" dirty="0"/>
              <a:t>age=25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    $name</a:t>
            </a:r>
          </a:p>
          <a:p>
            <a:pPr lvl="1"/>
            <a:r>
              <a:rPr lang="en-IN"/>
              <a:t>echo    $</a:t>
            </a:r>
            <a:r>
              <a:rPr lang="en-IN" dirty="0"/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4831836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6CF9-5904-D93D-4E2D-698810C7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 Two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1BD8-0581-2BA3-ED50-BACC11D8C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r>
              <a:rPr lang="en-IN" dirty="0"/>
              <a:t>a=10</a:t>
            </a:r>
          </a:p>
          <a:p>
            <a:r>
              <a:rPr lang="en-IN" dirty="0"/>
              <a:t>b=20</a:t>
            </a:r>
          </a:p>
          <a:p>
            <a:r>
              <a:rPr lang="en-IN" dirty="0"/>
              <a:t>sum=$((a + b))</a:t>
            </a:r>
          </a:p>
          <a:p>
            <a:r>
              <a:rPr lang="en-IN" dirty="0"/>
              <a:t>echo "Sum is $sum"</a:t>
            </a:r>
          </a:p>
        </p:txBody>
      </p:sp>
    </p:spTree>
    <p:extLst>
      <p:ext uri="{BB962C8B-B14F-4D97-AF65-F5344CB8AC3E}">
        <p14:creationId xmlns:p14="http://schemas.microsoft.com/office/powerpoint/2010/main" val="80648244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0FCA-29D6-3E17-15D4-4337B96E0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C6C6-12BC-B268-405D-D574C4E45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#!/bin/bash</a:t>
            </a:r>
          </a:p>
          <a:p>
            <a:r>
              <a:rPr lang="en-US" dirty="0"/>
              <a:t>read -p "Enter your name: " name</a:t>
            </a:r>
          </a:p>
          <a:p>
            <a:r>
              <a:rPr lang="en-US" dirty="0"/>
              <a:t>echo "Hello $name“</a:t>
            </a:r>
          </a:p>
          <a:p>
            <a:endParaRPr lang="en-US" dirty="0"/>
          </a:p>
          <a:p>
            <a:r>
              <a:rPr lang="en-US" dirty="0"/>
              <a:t>read -p "Enter two numbers: " a   b</a:t>
            </a:r>
          </a:p>
          <a:p>
            <a:r>
              <a:rPr lang="en-US" dirty="0"/>
              <a:t>echo "A = $a, B = $b“</a:t>
            </a:r>
          </a:p>
          <a:p>
            <a:endParaRPr lang="en-US" dirty="0"/>
          </a:p>
          <a:p>
            <a:r>
              <a:rPr lang="en-US" dirty="0"/>
              <a:t># See the impact of removing –p option, user does not know what to enter</a:t>
            </a:r>
          </a:p>
          <a:p>
            <a:r>
              <a:rPr lang="en-US" dirty="0"/>
              <a:t>read  n</a:t>
            </a:r>
          </a:p>
          <a:p>
            <a:r>
              <a:rPr lang="en-US" dirty="0"/>
              <a:t>echo $n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4250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FEAE9-7713-F304-256A-4495DF8F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B6F4E-A766-D3F5-FDBA-608C0DB5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FC2ED-DF9D-7420-8C6D-4D1DE6B39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#!/bin/bash</a:t>
            </a:r>
          </a:p>
          <a:p>
            <a:r>
              <a:rPr lang="en-US" dirty="0"/>
              <a:t>read  -p  "Enter two numbers: "  x   y</a:t>
            </a:r>
          </a:p>
          <a:p>
            <a:r>
              <a:rPr lang="en-US" dirty="0"/>
              <a:t>sum=$((x + y))</a:t>
            </a:r>
          </a:p>
          <a:p>
            <a:r>
              <a:rPr lang="en-US" dirty="0"/>
              <a:t>echo  "Sum = $sum"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86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A83AB-FD27-BC37-8407-C4536F45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Using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C24B8-0CC8-66BB-B6B9-0688F15C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two numbers: " a   b</a:t>
            </a:r>
          </a:p>
          <a:p>
            <a:endParaRPr lang="en-US" dirty="0"/>
          </a:p>
          <a:p>
            <a:r>
              <a:rPr lang="en-US" dirty="0"/>
              <a:t>sum=$((a + b))</a:t>
            </a:r>
          </a:p>
          <a:p>
            <a:r>
              <a:rPr lang="en-US" dirty="0"/>
              <a:t>prod=$((a * b))</a:t>
            </a:r>
          </a:p>
          <a:p>
            <a:endParaRPr lang="en-US" dirty="0"/>
          </a:p>
          <a:p>
            <a:r>
              <a:rPr lang="en-US" dirty="0"/>
              <a:t>echo "Sum = $sum"</a:t>
            </a:r>
          </a:p>
          <a:p>
            <a:r>
              <a:rPr lang="en-US" dirty="0"/>
              <a:t>echo "Product = $prod"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14889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6994-3E65-3704-45A2-86799189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Make New Scripts Executable: Easy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F948E-3800-642E-C1E8-32871D3C5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this file (template.sh) with a single line and save it</a:t>
            </a:r>
          </a:p>
          <a:p>
            <a:pPr lvl="1"/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Come back to shell and type: </a:t>
            </a:r>
            <a:r>
              <a:rPr lang="en-IN" b="1" dirty="0" err="1"/>
              <a:t>chmod</a:t>
            </a:r>
            <a:r>
              <a:rPr lang="en-IN" b="1" dirty="0"/>
              <a:t>   </a:t>
            </a:r>
            <a:r>
              <a:rPr lang="en-IN" b="1" dirty="0" err="1"/>
              <a:t>u+x</a:t>
            </a:r>
            <a:r>
              <a:rPr lang="en-IN" b="1" dirty="0"/>
              <a:t>   template.sh</a:t>
            </a:r>
          </a:p>
          <a:p>
            <a:endParaRPr lang="en-IN" dirty="0"/>
          </a:p>
          <a:p>
            <a:r>
              <a:rPr lang="en-IN" dirty="0"/>
              <a:t>Create new shell scripts using this: </a:t>
            </a:r>
            <a:r>
              <a:rPr lang="en-IN" b="1" dirty="0"/>
              <a:t>cp   template.sh   my_script.sh</a:t>
            </a:r>
          </a:p>
          <a:p>
            <a:endParaRPr lang="en-IN" dirty="0"/>
          </a:p>
          <a:p>
            <a:r>
              <a:rPr lang="en-IN" dirty="0"/>
              <a:t>New script is automatically executable and has the shebang operator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3330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55D4-E741-F004-EDE0-96217EE0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Floating Point Arithmetic With Hardcoded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0AB65-39D3-014C-0575-D13A4F88A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a=5.5</a:t>
            </a:r>
          </a:p>
          <a:p>
            <a:r>
              <a:rPr lang="en-IN" dirty="0"/>
              <a:t>b=2.2</a:t>
            </a:r>
          </a:p>
          <a:p>
            <a:endParaRPr lang="en-IN" dirty="0"/>
          </a:p>
          <a:p>
            <a:r>
              <a:rPr lang="en-IN" dirty="0"/>
              <a:t># With scale (How many floating point digits?)</a:t>
            </a:r>
          </a:p>
          <a:p>
            <a:r>
              <a:rPr lang="en-IN" dirty="0"/>
              <a:t>sum=$(echo "scale=2; $a + $b"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prod=$(echo "scale=4; $a * $b"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"A = $a, B = $b"</a:t>
            </a:r>
          </a:p>
          <a:p>
            <a:r>
              <a:rPr lang="en-IN" dirty="0"/>
              <a:t>echo "Sum = $sum"</a:t>
            </a:r>
          </a:p>
          <a:p>
            <a:r>
              <a:rPr lang="en-IN" dirty="0"/>
              <a:t>echo "Product = $prod"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4847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CA6D-6796-598C-9931-9718FD63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Floating Point Arithmetic: Taking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218D1-63B0-298A-982B-699B48FD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two numbers: " a  b</a:t>
            </a:r>
          </a:p>
          <a:p>
            <a:endParaRPr lang="en-IN" dirty="0"/>
          </a:p>
          <a:p>
            <a:r>
              <a:rPr lang="en-IN" dirty="0"/>
              <a:t>sum=$(echo "scale=2; $a + $b"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prod=$(echo "scale=2; $a * $b"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"Sum = $sum"</a:t>
            </a:r>
          </a:p>
          <a:p>
            <a:r>
              <a:rPr lang="en-IN" dirty="0"/>
              <a:t>echo "Product = $prod"</a:t>
            </a:r>
          </a:p>
        </p:txBody>
      </p:sp>
    </p:spTree>
    <p:extLst>
      <p:ext uri="{BB962C8B-B14F-4D97-AF65-F5344CB8AC3E}">
        <p14:creationId xmlns:p14="http://schemas.microsoft.com/office/powerpoint/2010/main" val="1791838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6E732-354B-AE78-E174-C454EE8FE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743"/>
            <a:ext cx="10515600" cy="667819"/>
          </a:xfrm>
        </p:spPr>
        <p:txBody>
          <a:bodyPr>
            <a:normAutofit fontScale="90000"/>
          </a:bodyPr>
          <a:lstStyle/>
          <a:p>
            <a:r>
              <a:rPr lang="en-IN" dirty="0"/>
              <a:t>Exercises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0D3BE9-0B27-6FE4-C47B-49885C8C7E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434297"/>
              </p:ext>
            </p:extLst>
          </p:nvPr>
        </p:nvGraphicFramePr>
        <p:xfrm>
          <a:off x="553092" y="691111"/>
          <a:ext cx="11085816" cy="60744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13371">
                  <a:extLst>
                    <a:ext uri="{9D8B030D-6E8A-4147-A177-3AD203B41FA5}">
                      <a16:colId xmlns:a16="http://schemas.microsoft.com/office/drawing/2014/main" val="252858642"/>
                    </a:ext>
                  </a:extLst>
                </a:gridCol>
                <a:gridCol w="10272445">
                  <a:extLst>
                    <a:ext uri="{9D8B030D-6E8A-4147-A177-3AD203B41FA5}">
                      <a16:colId xmlns:a16="http://schemas.microsoft.com/office/drawing/2014/main" val="3851320844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Exercise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516668"/>
                  </a:ext>
                </a:extLst>
              </a:tr>
              <a:tr h="588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Accept a user's name and age, store in variables, and display: Hello &lt;name&gt;, you are &lt;age&gt; years old.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85457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Accept two integers from the user and display their </a:t>
                      </a:r>
                      <a:r>
                        <a:rPr lang="en-US" sz="2400" b="1"/>
                        <a:t>sum, difference, and product</a:t>
                      </a:r>
                      <a:r>
                        <a:rPr lang="en-US" sz="2400"/>
                        <a:t>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63086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Accept two numbers and calculate </a:t>
                      </a:r>
                      <a:r>
                        <a:rPr lang="en-US" sz="2400" b="1"/>
                        <a:t>division using bc</a:t>
                      </a:r>
                      <a:r>
                        <a:rPr lang="en-US" sz="2400"/>
                        <a:t> (show result up to 2 decimal places).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545823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Accept radius of a circle and calculate </a:t>
                      </a:r>
                      <a:r>
                        <a:rPr lang="en-US" sz="2400" b="1"/>
                        <a:t>area using bc</a:t>
                      </a:r>
                      <a:r>
                        <a:rPr lang="en-US" sz="2400"/>
                        <a:t> (π ≈ 3.14).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79708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Accept temperature in Celsius and convert it to </a:t>
                      </a:r>
                      <a:r>
                        <a:rPr lang="en-US" sz="2400" b="1" dirty="0"/>
                        <a:t>Fahrenheit using </a:t>
                      </a:r>
                      <a:r>
                        <a:rPr lang="en-US" sz="2400" b="1" dirty="0" err="1"/>
                        <a:t>bc</a:t>
                      </a:r>
                      <a:r>
                        <a:rPr lang="en-US" sz="2400" b="0" dirty="0"/>
                        <a:t> </a:t>
                      </a:r>
                      <a:br>
                        <a:rPr lang="en-US" sz="2400" b="0" dirty="0"/>
                      </a:br>
                      <a:r>
                        <a:rPr lang="en-US" sz="2400" b="0" dirty="0"/>
                        <a:t>(F = (9/5 x C) + 32)</a:t>
                      </a:r>
                      <a:endParaRPr lang="en-US" sz="24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155601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Accept length and breadth of a rectangle and calculate </a:t>
                      </a:r>
                      <a:r>
                        <a:rPr lang="en-US" sz="2400" b="1" dirty="0"/>
                        <a:t>area and perimeter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Area = Length x Breadth, Perimeter = 2 x (Length + Breadth)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086301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Accept 3 subject marks and calculate </a:t>
                      </a:r>
                      <a:r>
                        <a:rPr lang="en-US" sz="2400" b="1" dirty="0"/>
                        <a:t>total and average (use </a:t>
                      </a:r>
                      <a:r>
                        <a:rPr lang="en-US" sz="2400" b="1" dirty="0" err="1"/>
                        <a:t>bc</a:t>
                      </a:r>
                      <a:r>
                        <a:rPr lang="en-US" sz="2400" b="1" dirty="0"/>
                        <a:t> for average)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02152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Accept a number and calculate its </a:t>
                      </a:r>
                      <a:r>
                        <a:rPr lang="en-US" sz="2400" b="1" dirty="0"/>
                        <a:t>square and cube</a:t>
                      </a:r>
                      <a:r>
                        <a:rPr lang="en-US" sz="2400" dirty="0"/>
                        <a:t>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56606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Accept principal, rate, and time, and calculate </a:t>
                      </a:r>
                      <a:r>
                        <a:rPr lang="en-US" sz="2400" b="1" dirty="0"/>
                        <a:t>simple interest using </a:t>
                      </a:r>
                      <a:r>
                        <a:rPr lang="en-US" sz="2400" b="1" dirty="0" err="1"/>
                        <a:t>bc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Simple interest = P * N * R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841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7519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108F-A0B2-7BAE-7BEC-45B7A6F0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2349F-8859-110D-E531-2C824ED6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echo "----- Exercise 1: Name and Age -----"</a:t>
            </a:r>
          </a:p>
          <a:p>
            <a:r>
              <a:rPr lang="en-IN" dirty="0"/>
              <a:t>read -p "Enter your name: " name</a:t>
            </a:r>
          </a:p>
          <a:p>
            <a:r>
              <a:rPr lang="en-IN" dirty="0"/>
              <a:t>read -p "Enter your age: " age</a:t>
            </a:r>
          </a:p>
          <a:p>
            <a:r>
              <a:rPr lang="en-IN" dirty="0"/>
              <a:t>echo "Hello $name, you are $age years old."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2: Basic Arithmetic -----"</a:t>
            </a:r>
          </a:p>
          <a:p>
            <a:r>
              <a:rPr lang="en-IN" dirty="0"/>
              <a:t>read -p "Enter two integers: " a b</a:t>
            </a:r>
          </a:p>
          <a:p>
            <a:r>
              <a:rPr lang="en-IN" dirty="0"/>
              <a:t>sum=$((a + b))</a:t>
            </a:r>
          </a:p>
          <a:p>
            <a:r>
              <a:rPr lang="en-IN" dirty="0"/>
              <a:t>diff=$((a - b))</a:t>
            </a:r>
          </a:p>
          <a:p>
            <a:r>
              <a:rPr lang="en-IN" dirty="0"/>
              <a:t>prod=$((a * b))</a:t>
            </a:r>
          </a:p>
          <a:p>
            <a:r>
              <a:rPr lang="en-IN" dirty="0"/>
              <a:t>echo "Sum = $sum"</a:t>
            </a:r>
          </a:p>
          <a:p>
            <a:r>
              <a:rPr lang="en-IN" dirty="0"/>
              <a:t>echo "Difference = $diff"</a:t>
            </a:r>
          </a:p>
          <a:p>
            <a:r>
              <a:rPr lang="en-IN" dirty="0"/>
              <a:t>echo "Product = $prod"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3: Division using </a:t>
            </a:r>
            <a:r>
              <a:rPr lang="en-IN" dirty="0" err="1"/>
              <a:t>bc</a:t>
            </a:r>
            <a:r>
              <a:rPr lang="en-IN" dirty="0"/>
              <a:t> -----"</a:t>
            </a:r>
          </a:p>
          <a:p>
            <a:r>
              <a:rPr lang="en-IN" dirty="0"/>
              <a:t>read -p "Enter two numbers: " x y</a:t>
            </a:r>
          </a:p>
          <a:p>
            <a:r>
              <a:rPr lang="en-IN" dirty="0"/>
              <a:t>div=$(echo "scale=2; $x / $y"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echo "Division = $div"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4: Area of Circle -----"</a:t>
            </a:r>
          </a:p>
          <a:p>
            <a:r>
              <a:rPr lang="en-IN" dirty="0"/>
              <a:t>read -p "Enter radius: " r</a:t>
            </a:r>
          </a:p>
          <a:p>
            <a:r>
              <a:rPr lang="en-IN" dirty="0"/>
              <a:t>area=$(echo "scale=2; 3.14 * $r * $r"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echo "Area of Circle = $area"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5: Celsius to Fahrenheit -----"</a:t>
            </a:r>
          </a:p>
          <a:p>
            <a:r>
              <a:rPr lang="en-IN" dirty="0"/>
              <a:t>read -p "Enter temperature in Celsius: " c</a:t>
            </a:r>
          </a:p>
          <a:p>
            <a:r>
              <a:rPr lang="en-IN" dirty="0"/>
              <a:t>f=$(echo "scale=2; (9/5)*$c + 32"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echo "Temperature in Fahrenheit = $f"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6: Rectangle Area &amp; Perimeter -----"</a:t>
            </a:r>
          </a:p>
          <a:p>
            <a:r>
              <a:rPr lang="en-IN" dirty="0"/>
              <a:t>read -p "Enter length and breadth: " l b</a:t>
            </a:r>
          </a:p>
          <a:p>
            <a:r>
              <a:rPr lang="en-IN" dirty="0" err="1"/>
              <a:t>area_rect</a:t>
            </a:r>
            <a:r>
              <a:rPr lang="en-IN" dirty="0"/>
              <a:t>=$((l * b))</a:t>
            </a:r>
          </a:p>
          <a:p>
            <a:r>
              <a:rPr lang="en-IN" dirty="0"/>
              <a:t>peri=$((2 * (l + b)))</a:t>
            </a:r>
          </a:p>
          <a:p>
            <a:r>
              <a:rPr lang="en-IN" dirty="0"/>
              <a:t>echo "Area = $</a:t>
            </a:r>
            <a:r>
              <a:rPr lang="en-IN" dirty="0" err="1"/>
              <a:t>area_rect</a:t>
            </a:r>
            <a:r>
              <a:rPr lang="en-IN" dirty="0"/>
              <a:t>"</a:t>
            </a:r>
          </a:p>
          <a:p>
            <a:r>
              <a:rPr lang="en-IN" dirty="0"/>
              <a:t>echo "Perimeter = $peri"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7: Total and Average Marks -----"</a:t>
            </a:r>
          </a:p>
          <a:p>
            <a:r>
              <a:rPr lang="en-IN" dirty="0"/>
              <a:t>read -p "Enter 3 marks: " m1 m2 m3</a:t>
            </a:r>
          </a:p>
          <a:p>
            <a:r>
              <a:rPr lang="en-IN" dirty="0"/>
              <a:t>total=$((m1 + m2 + m3))</a:t>
            </a:r>
          </a:p>
          <a:p>
            <a:r>
              <a:rPr lang="en-IN" dirty="0" err="1"/>
              <a:t>avg</a:t>
            </a:r>
            <a:r>
              <a:rPr lang="en-IN" dirty="0"/>
              <a:t>=$(echo "scale=2; $total / 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echo "Total = $total"</a:t>
            </a:r>
          </a:p>
          <a:p>
            <a:r>
              <a:rPr lang="en-IN" dirty="0"/>
              <a:t>echo "Average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8: Square and Cube -----"</a:t>
            </a:r>
          </a:p>
          <a:p>
            <a:r>
              <a:rPr lang="en-IN" dirty="0"/>
              <a:t>read -p "Enter a number: " n</a:t>
            </a:r>
          </a:p>
          <a:p>
            <a:r>
              <a:rPr lang="en-IN" dirty="0" err="1"/>
              <a:t>sq</a:t>
            </a:r>
            <a:r>
              <a:rPr lang="en-IN" dirty="0"/>
              <a:t>=$((n * n))</a:t>
            </a:r>
          </a:p>
          <a:p>
            <a:r>
              <a:rPr lang="en-IN" dirty="0"/>
              <a:t>cube=$((n * n * n))</a:t>
            </a:r>
          </a:p>
          <a:p>
            <a:r>
              <a:rPr lang="en-IN" dirty="0"/>
              <a:t>echo "Square = $</a:t>
            </a:r>
            <a:r>
              <a:rPr lang="en-IN" dirty="0" err="1"/>
              <a:t>sq</a:t>
            </a:r>
            <a:r>
              <a:rPr lang="en-IN" dirty="0"/>
              <a:t>"</a:t>
            </a:r>
          </a:p>
          <a:p>
            <a:r>
              <a:rPr lang="en-IN" dirty="0"/>
              <a:t>echo "Cube = $cube"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9: Simple Interest -----"</a:t>
            </a:r>
          </a:p>
          <a:p>
            <a:r>
              <a:rPr lang="en-IN" dirty="0"/>
              <a:t>read -p "Enter Principal, Rate, Time: " p r t</a:t>
            </a:r>
          </a:p>
          <a:p>
            <a:r>
              <a:rPr lang="en-IN" dirty="0" err="1"/>
              <a:t>si</a:t>
            </a:r>
            <a:r>
              <a:rPr lang="en-IN" dirty="0"/>
              <a:t>=$(echo "scale=2; ($p * $r * $t) / 100"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echo "Simple Interest = $</a:t>
            </a:r>
            <a:r>
              <a:rPr lang="en-IN" dirty="0" err="1"/>
              <a:t>si</a:t>
            </a:r>
            <a:r>
              <a:rPr lang="en-IN" dirty="0"/>
              <a:t>"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echo "----- Exercise 10: Compare Two Numbers -----"</a:t>
            </a:r>
          </a:p>
          <a:p>
            <a:r>
              <a:rPr lang="en-IN" dirty="0"/>
              <a:t>read -p "Enter two numbers: " num1 num2</a:t>
            </a:r>
          </a:p>
          <a:p>
            <a:r>
              <a:rPr lang="en-IN" dirty="0"/>
              <a:t>result=$(echo "$num1 &gt; $num2"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if [ "$result" -</a:t>
            </a:r>
            <a:r>
              <a:rPr lang="en-IN" dirty="0" err="1"/>
              <a:t>eq</a:t>
            </a:r>
            <a:r>
              <a:rPr lang="en-IN" dirty="0"/>
              <a:t> 1 ]; then</a:t>
            </a:r>
          </a:p>
          <a:p>
            <a:r>
              <a:rPr lang="en-IN" dirty="0"/>
              <a:t>    echo "$num1 is greater than $num2"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"$num2 is greater than or equal to $num1"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9175112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46744-2FAB-8D83-5371-CA09EC919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Interest Calculation with an if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0D4E9-0A01-1FD6-D580-159D6B362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Simple interest calculator</a:t>
            </a:r>
          </a:p>
          <a:p>
            <a:r>
              <a:rPr lang="en-IN" dirty="0"/>
              <a:t># p = principal amount</a:t>
            </a:r>
          </a:p>
          <a:p>
            <a:r>
              <a:rPr lang="en-IN" dirty="0"/>
              <a:t># </a:t>
            </a:r>
            <a:r>
              <a:rPr lang="en-IN" dirty="0" err="1"/>
              <a:t>i</a:t>
            </a:r>
            <a:r>
              <a:rPr lang="en-IN" dirty="0"/>
              <a:t> = interest</a:t>
            </a:r>
          </a:p>
          <a:p>
            <a:r>
              <a:rPr lang="en-IN" dirty="0"/>
              <a:t># t = term</a:t>
            </a:r>
          </a:p>
          <a:p>
            <a:r>
              <a:rPr lang="en-IN" dirty="0"/>
              <a:t># r = rate of interest</a:t>
            </a:r>
          </a:p>
          <a:p>
            <a:endParaRPr lang="en-IN" dirty="0"/>
          </a:p>
          <a:p>
            <a:r>
              <a:rPr lang="en-IN" dirty="0"/>
              <a:t>read -p "Enter principal, term, rate of interest separated by space: " p t r</a:t>
            </a:r>
          </a:p>
          <a:p>
            <a:endParaRPr lang="en-IN" dirty="0"/>
          </a:p>
          <a:p>
            <a:r>
              <a:rPr lang="en-IN" dirty="0"/>
              <a:t>interest=$(echo "scale=2; $p * $t * $r / 100"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"Interest is $interest"</a:t>
            </a:r>
          </a:p>
          <a:p>
            <a:endParaRPr lang="en-IN" dirty="0"/>
          </a:p>
          <a:p>
            <a:r>
              <a:rPr lang="en-IN" dirty="0"/>
              <a:t>if [ $(echo "$interest &gt; 100" | </a:t>
            </a:r>
            <a:r>
              <a:rPr lang="en-IN" dirty="0" err="1"/>
              <a:t>bc</a:t>
            </a:r>
            <a:r>
              <a:rPr lang="en-IN" dirty="0"/>
              <a:t>) -</a:t>
            </a:r>
            <a:r>
              <a:rPr lang="en-IN" dirty="0" err="1"/>
              <a:t>eq</a:t>
            </a:r>
            <a:r>
              <a:rPr lang="en-IN" dirty="0"/>
              <a:t> 1 ]; then</a:t>
            </a:r>
          </a:p>
          <a:p>
            <a:r>
              <a:rPr lang="en-IN" dirty="0"/>
              <a:t>    echo "You are rich"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"You are poor"</a:t>
            </a:r>
          </a:p>
          <a:p>
            <a:r>
              <a:rPr lang="en-IN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5198124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CFEE-B9CE-268C-2137-288307AE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Swap Two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F0B77-850D-6126-3C07-FC1DBBF19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two numbers: " a b</a:t>
            </a:r>
          </a:p>
          <a:p>
            <a:endParaRPr lang="en-US" dirty="0"/>
          </a:p>
          <a:p>
            <a:r>
              <a:rPr lang="en-US" dirty="0"/>
              <a:t>temp=$a</a:t>
            </a:r>
          </a:p>
          <a:p>
            <a:r>
              <a:rPr lang="en-US" dirty="0"/>
              <a:t>a=$b</a:t>
            </a:r>
          </a:p>
          <a:p>
            <a:r>
              <a:rPr lang="en-US" dirty="0"/>
              <a:t>b=$temp</a:t>
            </a:r>
          </a:p>
          <a:p>
            <a:endParaRPr lang="en-US" dirty="0"/>
          </a:p>
          <a:p>
            <a:r>
              <a:rPr lang="en-US" dirty="0"/>
              <a:t>echo "After swap: A = $a, B = $b"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14561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6923-BAAD-23FD-A480-230F076D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Area of Rectangle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E6DE-EBD2-B3CF-BEEB-E563B691C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length and width: " l w</a:t>
            </a:r>
          </a:p>
          <a:p>
            <a:endParaRPr lang="en-US" dirty="0"/>
          </a:p>
          <a:p>
            <a:r>
              <a:rPr lang="en-US" dirty="0"/>
              <a:t>area=$((l * w))</a:t>
            </a:r>
          </a:p>
          <a:p>
            <a:endParaRPr lang="en-US" dirty="0"/>
          </a:p>
          <a:p>
            <a:r>
              <a:rPr lang="en-US" dirty="0"/>
              <a:t>echo "Area = $area"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5556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4C37-06A5-1822-F357-E0CA9393C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Temperature Conversion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4B333-4164-0E25-9755-90ACE481E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temperature in Celsius: " c</a:t>
            </a:r>
          </a:p>
          <a:p>
            <a:endParaRPr lang="en-IN" dirty="0"/>
          </a:p>
          <a:p>
            <a:r>
              <a:rPr lang="en-IN" dirty="0"/>
              <a:t>f=$(( (c * 9/5) + 32 ))</a:t>
            </a:r>
          </a:p>
          <a:p>
            <a:endParaRPr lang="en-IN" dirty="0"/>
          </a:p>
          <a:p>
            <a:r>
              <a:rPr lang="en-IN" dirty="0"/>
              <a:t>echo "Fahrenheit = $f"</a:t>
            </a:r>
          </a:p>
        </p:txBody>
      </p:sp>
    </p:spTree>
    <p:extLst>
      <p:ext uri="{BB962C8B-B14F-4D97-AF65-F5344CB8AC3E}">
        <p14:creationId xmlns:p14="http://schemas.microsoft.com/office/powerpoint/2010/main" val="18748929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8A093-039B-9386-8F8E-CAAB59C0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Temperature Conversion using Bash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4DDC-1A85-25B5-907E-8D416815B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temperature in Celsius: " c</a:t>
            </a:r>
          </a:p>
          <a:p>
            <a:endParaRPr lang="en-IN" dirty="0"/>
          </a:p>
          <a:p>
            <a:r>
              <a:rPr lang="en-IN" dirty="0"/>
              <a:t>f=$(echo "scale=2; ($c * 9/5) + 32"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"Fahrenheit = $f“</a:t>
            </a:r>
          </a:p>
          <a:p>
            <a:r>
              <a:rPr lang="en-IN" dirty="0"/>
              <a:t>#################</a:t>
            </a:r>
          </a:p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temperature in Fahrenheit: " f</a:t>
            </a:r>
          </a:p>
          <a:p>
            <a:endParaRPr lang="en-IN" dirty="0"/>
          </a:p>
          <a:p>
            <a:r>
              <a:rPr lang="en-IN" dirty="0"/>
              <a:t>c=$(echo "scale=2; ($f - 32) * 5/9"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"Celsius = $c"</a:t>
            </a:r>
          </a:p>
        </p:txBody>
      </p:sp>
    </p:spTree>
    <p:extLst>
      <p:ext uri="{BB962C8B-B14F-4D97-AF65-F5344CB8AC3E}">
        <p14:creationId xmlns:p14="http://schemas.microsoft.com/office/powerpoint/2010/main" val="4462701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813A-5BA7-6F6D-AF07-D0AEBAFA8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AC246-3B62-BE81-0BED-4022C1CB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Accept marks of a student in 3 subjects and display total marks and average marks</a:t>
            </a:r>
          </a:p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marks for Subject 1: " m1</a:t>
            </a:r>
          </a:p>
          <a:p>
            <a:r>
              <a:rPr lang="en-IN" dirty="0"/>
              <a:t>read -p "Enter marks for Subject 2: " m2</a:t>
            </a:r>
          </a:p>
          <a:p>
            <a:r>
              <a:rPr lang="en-IN" dirty="0"/>
              <a:t>read -p "Enter marks for Subject 3: " m3</a:t>
            </a:r>
          </a:p>
          <a:p>
            <a:endParaRPr lang="en-IN" dirty="0"/>
          </a:p>
          <a:p>
            <a:r>
              <a:rPr lang="en-IN" dirty="0"/>
              <a:t># Calculate total marks</a:t>
            </a:r>
          </a:p>
          <a:p>
            <a:r>
              <a:rPr lang="en-IN" dirty="0"/>
              <a:t>total=$(echo "$m1 + $m2 + $m3"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Calculate average marks with 2 decimal places</a:t>
            </a:r>
          </a:p>
          <a:p>
            <a:r>
              <a:rPr lang="en-IN" dirty="0" err="1"/>
              <a:t>avg</a:t>
            </a:r>
            <a:r>
              <a:rPr lang="en-IN" dirty="0"/>
              <a:t>=$(echo "scale=2; $total / 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"Total Marks = $total"</a:t>
            </a:r>
          </a:p>
          <a:p>
            <a:r>
              <a:rPr lang="en-IN" dirty="0"/>
              <a:t>echo "Average Marks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6052478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626D-9E1D-5DB9-0620-79200C1A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6A531-DADB-EF7E-FF69-17817D46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08129-2BBF-015B-1286-1C6DBDD55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Modify to decide if the student passed</a:t>
            </a:r>
          </a:p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marks for Subject 1: " m1</a:t>
            </a:r>
          </a:p>
          <a:p>
            <a:r>
              <a:rPr lang="en-IN" dirty="0"/>
              <a:t>read -p "Enter marks for Subject 2: " m2</a:t>
            </a:r>
          </a:p>
          <a:p>
            <a:r>
              <a:rPr lang="en-IN" dirty="0"/>
              <a:t>read -p "Enter marks for Subject 3: " m3</a:t>
            </a:r>
          </a:p>
          <a:p>
            <a:endParaRPr lang="en-IN" dirty="0"/>
          </a:p>
          <a:p>
            <a:r>
              <a:rPr lang="en-IN" dirty="0"/>
              <a:t># Calculate total marks</a:t>
            </a:r>
          </a:p>
          <a:p>
            <a:r>
              <a:rPr lang="en-IN" dirty="0"/>
              <a:t>total=$(echo "$m1 + $m2 + $m3"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# Calculate average marks with 2 decimal places</a:t>
            </a:r>
          </a:p>
          <a:p>
            <a:r>
              <a:rPr lang="en-IN" dirty="0" err="1"/>
              <a:t>avg</a:t>
            </a:r>
            <a:r>
              <a:rPr lang="en-IN" dirty="0"/>
              <a:t>=$(echo "scale=2; $total / 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"Total Marks = $total"</a:t>
            </a:r>
          </a:p>
          <a:p>
            <a:r>
              <a:rPr lang="en-IN" dirty="0"/>
              <a:t>echo "Average Marks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endParaRPr lang="en-IN" dirty="0"/>
          </a:p>
          <a:p>
            <a:r>
              <a:rPr lang="en-IN" dirty="0"/>
              <a:t># Check if the student has passed (minimum 50 average)</a:t>
            </a:r>
          </a:p>
          <a:p>
            <a:r>
              <a:rPr lang="en-IN" dirty="0"/>
              <a:t>passed=$(echo "$</a:t>
            </a:r>
            <a:r>
              <a:rPr lang="en-IN" dirty="0" err="1"/>
              <a:t>avg</a:t>
            </a:r>
            <a:r>
              <a:rPr lang="en-IN" dirty="0"/>
              <a:t> &gt;= 50"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if [ "$passed" -</a:t>
            </a:r>
            <a:r>
              <a:rPr lang="en-IN" dirty="0" err="1"/>
              <a:t>eq</a:t>
            </a:r>
            <a:r>
              <a:rPr lang="en-IN" dirty="0"/>
              <a:t> 1 ]; then</a:t>
            </a:r>
          </a:p>
          <a:p>
            <a:r>
              <a:rPr lang="en-IN" dirty="0"/>
              <a:t>    echo "Result: Passed"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"Result: Failed"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356918567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D974-EF90-FC36-1956-7F7E4E91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4CBFC-BBC0-7F76-EF1F-3D1BB550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#!/bin/bash</a:t>
            </a:r>
          </a:p>
          <a:p>
            <a:r>
              <a:rPr lang="en-US" sz="3200" dirty="0"/>
              <a:t>echo "First argument = $1“</a:t>
            </a:r>
          </a:p>
          <a:p>
            <a:endParaRPr lang="en-US" sz="3200" dirty="0"/>
          </a:p>
          <a:p>
            <a:r>
              <a:rPr lang="en-US" sz="3200" dirty="0"/>
              <a:t>To run: </a:t>
            </a:r>
            <a:r>
              <a:rPr lang="en-IN" sz="3200" dirty="0"/>
              <a:t>./script.sh Hello</a:t>
            </a:r>
          </a:p>
        </p:txBody>
      </p:sp>
    </p:spTree>
    <p:extLst>
      <p:ext uri="{BB962C8B-B14F-4D97-AF65-F5344CB8AC3E}">
        <p14:creationId xmlns:p14="http://schemas.microsoft.com/office/powerpoint/2010/main" val="9661887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3FEE-EF96-5A43-F654-7917DC9F0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68C71-58B4-3532-9F04-7BC0C5934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sum=$(( $1 + $2 ))</a:t>
            </a:r>
          </a:p>
          <a:p>
            <a:endParaRPr lang="en-IN" dirty="0"/>
          </a:p>
          <a:p>
            <a:r>
              <a:rPr lang="en-IN" dirty="0"/>
              <a:t>echo "Sum = $sum“</a:t>
            </a:r>
          </a:p>
          <a:p>
            <a:endParaRPr lang="en-IN" dirty="0"/>
          </a:p>
          <a:p>
            <a:r>
              <a:rPr lang="en-IN" dirty="0"/>
              <a:t>To run: ./script.sh 5 10</a:t>
            </a:r>
          </a:p>
        </p:txBody>
      </p:sp>
    </p:spTree>
    <p:extLst>
      <p:ext uri="{BB962C8B-B14F-4D97-AF65-F5344CB8AC3E}">
        <p14:creationId xmlns:p14="http://schemas.microsoft.com/office/powerpoint/2010/main" val="48250748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3EAE6-F30D-87E8-32EF-685A0B9E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Number of Parameters/Arguments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E14AA-DDFF-234A-4FFE-30B308E04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echo "Total arguments = $#“</a:t>
            </a:r>
          </a:p>
          <a:p>
            <a:endParaRPr lang="en-IN" dirty="0"/>
          </a:p>
          <a:p>
            <a:r>
              <a:rPr lang="en-IN" dirty="0"/>
              <a:t>To run: </a:t>
            </a:r>
            <a:r>
              <a:rPr lang="en-US" dirty="0"/>
              <a:t>./script.sh a b 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11119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76E3-A3E1-121F-12AE-B7AEB0684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All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71F98-E9EE-9ACD-6555-C4576CB01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echo "All arguments: $@“</a:t>
            </a:r>
          </a:p>
          <a:p>
            <a:endParaRPr lang="en-IN" dirty="0"/>
          </a:p>
          <a:p>
            <a:r>
              <a:rPr lang="en-IN" dirty="0"/>
              <a:t>To run: </a:t>
            </a:r>
            <a:r>
              <a:rPr lang="en-US" dirty="0"/>
              <a:t>./script.sh one two three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949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14FB-B38F-6221-73B8-91E0DAA42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Script Name and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2A39-0F8B-DB0A-FFF0-FE40E277C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echo "Script name = $0"</a:t>
            </a:r>
          </a:p>
          <a:p>
            <a:r>
              <a:rPr lang="en-US" dirty="0"/>
              <a:t>echo "First argument = $1"</a:t>
            </a:r>
          </a:p>
          <a:p>
            <a:r>
              <a:rPr lang="en-US" dirty="0"/>
              <a:t>echo "Second argument = $2“</a:t>
            </a:r>
          </a:p>
          <a:p>
            <a:endParaRPr lang="en-US" dirty="0"/>
          </a:p>
          <a:p>
            <a:r>
              <a:rPr lang="en-US" dirty="0"/>
              <a:t>To run: </a:t>
            </a:r>
            <a:r>
              <a:rPr lang="en-IN" dirty="0"/>
              <a:t>./script.sh Linux Shell</a:t>
            </a:r>
          </a:p>
        </p:txBody>
      </p:sp>
    </p:spTree>
    <p:extLst>
      <p:ext uri="{BB962C8B-B14F-4D97-AF65-F5344CB8AC3E}">
        <p14:creationId xmlns:p14="http://schemas.microsoft.com/office/powerpoint/2010/main" val="4336629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8AE4-9323-DE44-7457-FCFB598A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2F8C9-84F1-FD93-55CB-AE1FFEC3C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a string: " str</a:t>
            </a:r>
          </a:p>
          <a:p>
            <a:endParaRPr lang="en-US" dirty="0"/>
          </a:p>
          <a:p>
            <a:r>
              <a:rPr lang="en-US" dirty="0"/>
              <a:t>length=${#str}</a:t>
            </a:r>
          </a:p>
          <a:p>
            <a:endParaRPr lang="en-US" dirty="0"/>
          </a:p>
          <a:p>
            <a:r>
              <a:rPr lang="en-US" dirty="0"/>
              <a:t>echo "Length = $length"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2819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A697-9468-A56D-DC43-33A8C255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B6E5-3388-949E-0CC1-87D9BB13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a string: " str</a:t>
            </a:r>
          </a:p>
          <a:p>
            <a:endParaRPr lang="en-US" dirty="0"/>
          </a:p>
          <a:p>
            <a:r>
              <a:rPr lang="en-US" dirty="0" err="1"/>
              <a:t>rev_str</a:t>
            </a:r>
            <a:r>
              <a:rPr lang="en-US" dirty="0"/>
              <a:t>=$(echo "$str" | rev)</a:t>
            </a:r>
          </a:p>
          <a:p>
            <a:endParaRPr lang="en-US" dirty="0"/>
          </a:p>
          <a:p>
            <a:r>
              <a:rPr lang="en-US" dirty="0"/>
              <a:t>echo "Reversed string = $</a:t>
            </a:r>
            <a:r>
              <a:rPr lang="en-US" dirty="0" err="1"/>
              <a:t>rev_str</a:t>
            </a:r>
            <a:r>
              <a:rPr lang="en-US" dirty="0"/>
              <a:t>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13190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B7ACF-5020-A7C4-5699-3DA5204F9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Vowels in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E93E9-1391-D779-780C-4D3E01713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a string: " str</a:t>
            </a:r>
          </a:p>
          <a:p>
            <a:endParaRPr lang="en-IN" dirty="0"/>
          </a:p>
          <a:p>
            <a:r>
              <a:rPr lang="en-IN" dirty="0"/>
              <a:t>count=$(echo "$str" | grep -o -</a:t>
            </a:r>
            <a:r>
              <a:rPr lang="en-IN" dirty="0" err="1"/>
              <a:t>i</a:t>
            </a:r>
            <a:r>
              <a:rPr lang="en-IN" dirty="0"/>
              <a:t> "[</a:t>
            </a:r>
            <a:r>
              <a:rPr lang="en-IN" dirty="0" err="1"/>
              <a:t>aeiou</a:t>
            </a:r>
            <a:r>
              <a:rPr lang="en-IN" dirty="0"/>
              <a:t>]" | </a:t>
            </a:r>
            <a:r>
              <a:rPr lang="en-IN" dirty="0" err="1"/>
              <a:t>wc</a:t>
            </a:r>
            <a:r>
              <a:rPr lang="en-IN" dirty="0"/>
              <a:t> -l)</a:t>
            </a:r>
          </a:p>
          <a:p>
            <a:endParaRPr lang="en-IN" dirty="0"/>
          </a:p>
          <a:p>
            <a:r>
              <a:rPr lang="en-IN" dirty="0"/>
              <a:t>echo "Number of vowels = $count"</a:t>
            </a:r>
          </a:p>
        </p:txBody>
      </p:sp>
    </p:spTree>
    <p:extLst>
      <p:ext uri="{BB962C8B-B14F-4D97-AF65-F5344CB8AC3E}">
        <p14:creationId xmlns:p14="http://schemas.microsoft.com/office/powerpoint/2010/main" val="76380393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B825-2970-F48B-B190-6E75EE17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534256"/>
          </a:xfrm>
        </p:spPr>
        <p:txBody>
          <a:bodyPr>
            <a:normAutofit fontScale="90000"/>
          </a:bodyPr>
          <a:lstStyle/>
          <a:p>
            <a:r>
              <a:rPr lang="en-IN" dirty="0"/>
              <a:t>Numeric and String Relational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3AD202-CBA3-2163-4D6B-58B0BA8871B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4362" y="717674"/>
          <a:ext cx="10515600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275100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492612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71710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553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-eq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Equal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$a -eq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60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$a -ne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648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-gt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Greater than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$a -gt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276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 than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$a -lt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388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Greater than or 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$a -ge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129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Less than or 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[ $a -le $b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98313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3931A0-51AB-D25D-E235-0342C639711B}"/>
              </a:ext>
            </a:extLst>
          </p:cNvPr>
          <p:cNvGraphicFramePr>
            <a:graphicFrameLocks noGrp="1"/>
          </p:cNvGraphicFramePr>
          <p:nvPr/>
        </p:nvGraphicFramePr>
        <p:xfrm>
          <a:off x="694362" y="4311526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1949226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572303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30835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Operator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244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"$a" = "$b"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95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!=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Not 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"$a" != "$b"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54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String is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 -z "$a"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812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String not empty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[ -n "$a" 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657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949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690A7-C459-1208-DFC5-5EB62EBA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7A3A6-3868-390F-5ED1-CC5227869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r>
              <a:rPr lang="en-US" dirty="0"/>
              <a:t>a=10</a:t>
            </a:r>
          </a:p>
          <a:p>
            <a:r>
              <a:rPr lang="en-US" dirty="0"/>
              <a:t>b=20</a:t>
            </a:r>
          </a:p>
          <a:p>
            <a:endParaRPr lang="en-US" dirty="0"/>
          </a:p>
          <a:p>
            <a:r>
              <a:rPr lang="en-US" dirty="0"/>
              <a:t>if [ $a -</a:t>
            </a:r>
            <a:r>
              <a:rPr lang="en-US" dirty="0" err="1"/>
              <a:t>lt</a:t>
            </a:r>
            <a:r>
              <a:rPr lang="en-US" dirty="0"/>
              <a:t> $b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"a is smaller"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35753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DB39-E3CF-684D-1FF6-398F7700D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Comparison (Default: Case Sensitive)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C38CA-1490-C42A-4D57-A95A27E8B6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a="hello"</a:t>
            </a:r>
          </a:p>
          <a:p>
            <a:r>
              <a:rPr lang="en-US" dirty="0"/>
              <a:t>b="Hello"</a:t>
            </a:r>
          </a:p>
          <a:p>
            <a:endParaRPr lang="en-US" dirty="0"/>
          </a:p>
          <a:p>
            <a:r>
              <a:rPr lang="en-US" dirty="0"/>
              <a:t>if [ "$a" = "$b"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"Equal"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"Not Equal"</a:t>
            </a:r>
          </a:p>
          <a:p>
            <a:r>
              <a:rPr lang="en-US" dirty="0"/>
              <a:t>fi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F4521-5256-A3B5-E5F8-3A4DB6AC3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30" y="1774255"/>
            <a:ext cx="6237270" cy="4351338"/>
          </a:xfrm>
        </p:spPr>
        <p:txBody>
          <a:bodyPr/>
          <a:lstStyle/>
          <a:p>
            <a:r>
              <a:rPr lang="en-IN" dirty="0"/>
              <a:t>a="hello"</a:t>
            </a:r>
          </a:p>
          <a:p>
            <a:r>
              <a:rPr lang="en-IN" dirty="0"/>
              <a:t>b="Hello"</a:t>
            </a:r>
          </a:p>
          <a:p>
            <a:endParaRPr lang="en-IN" dirty="0"/>
          </a:p>
          <a:p>
            <a:r>
              <a:rPr lang="en-IN" dirty="0"/>
              <a:t>if [ "${a,,}" = "${b,,}" ] # ignore case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"Equal"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04859025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38B32-5DBA-2460-5E78-D705CDF9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Conditions using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5518E-88B3-EA87-5462-32A949DB9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if [ condition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commands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commands</a:t>
            </a:r>
          </a:p>
          <a:p>
            <a:r>
              <a:rPr lang="en-US" dirty="0"/>
              <a:t>fi</a:t>
            </a:r>
          </a:p>
          <a:p>
            <a:endParaRPr lang="en-US" dirty="0"/>
          </a:p>
          <a:p>
            <a:r>
              <a:rPr lang="en-US" dirty="0"/>
              <a:t>#!/bin/bash</a:t>
            </a:r>
          </a:p>
          <a:p>
            <a:r>
              <a:rPr lang="en-US" dirty="0"/>
              <a:t>read -p "Enter a number: " num</a:t>
            </a:r>
          </a:p>
          <a:p>
            <a:endParaRPr lang="en-US" dirty="0"/>
          </a:p>
          <a:p>
            <a:r>
              <a:rPr lang="en-US" dirty="0"/>
              <a:t>if [ $((num % 2)) -eq 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"Even number"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"Odd number"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8551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9F9A-515E-80C1-E53F-FDE20BA70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0E7E-1956-D30D-7066-18A3FC8D3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if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1217-5D39-3459-E38E-F2F17253B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#!/bin/bash</a:t>
            </a:r>
          </a:p>
          <a:p>
            <a:r>
              <a:rPr lang="en-US" dirty="0"/>
              <a:t>read -p "Enter a number: " num</a:t>
            </a:r>
          </a:p>
          <a:p>
            <a:endParaRPr lang="en-US" dirty="0"/>
          </a:p>
          <a:p>
            <a:r>
              <a:rPr lang="en-US" dirty="0"/>
              <a:t>if [ $num -</a:t>
            </a:r>
            <a:r>
              <a:rPr lang="en-US" dirty="0" err="1"/>
              <a:t>gt</a:t>
            </a:r>
            <a:r>
              <a:rPr lang="en-US" dirty="0"/>
              <a:t> 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"Positive"</a:t>
            </a:r>
          </a:p>
          <a:p>
            <a:r>
              <a:rPr lang="en-US" dirty="0" err="1"/>
              <a:t>elif</a:t>
            </a:r>
            <a:r>
              <a:rPr lang="en-US" dirty="0"/>
              <a:t> [ $num -</a:t>
            </a:r>
            <a:r>
              <a:rPr lang="en-US" dirty="0" err="1"/>
              <a:t>lt</a:t>
            </a:r>
            <a:r>
              <a:rPr lang="en-US" dirty="0"/>
              <a:t> 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"Negative"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"Zero"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17582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E188-FB9C-46F8-8A77-7E92977A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Voting Eligibility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EFB00-3AD2-87D5-F747-106149EB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your age: " age</a:t>
            </a:r>
          </a:p>
          <a:p>
            <a:endParaRPr lang="en-US" dirty="0"/>
          </a:p>
          <a:p>
            <a:r>
              <a:rPr lang="en-US" dirty="0"/>
              <a:t>if [ $age -</a:t>
            </a:r>
            <a:r>
              <a:rPr lang="en-US" dirty="0" err="1"/>
              <a:t>ge</a:t>
            </a:r>
            <a:r>
              <a:rPr lang="en-US" dirty="0"/>
              <a:t> 18 ]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"Eligible to vote"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"Not eligible to vote"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60774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A870-A28C-2B29-9FAF-ED70EF70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If Digit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7B0F-E5F8-80D7-8BF6-A89D6F61A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a character: " ch</a:t>
            </a:r>
          </a:p>
          <a:p>
            <a:endParaRPr lang="en-US" dirty="0"/>
          </a:p>
          <a:p>
            <a:r>
              <a:rPr lang="en-US" dirty="0"/>
              <a:t>if [[ $ch =~ ^[0-9]+$ ]]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"It is a digit"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"Not a digit"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38650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FF9B-7A19-46EF-708D-C7A62AFF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Largest of Three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01EBB-F28A-28C0-9DDE-46F3E1E94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three numbers: " a b c</a:t>
            </a:r>
          </a:p>
          <a:p>
            <a:endParaRPr lang="en-US" dirty="0"/>
          </a:p>
          <a:p>
            <a:r>
              <a:rPr lang="en-US" dirty="0"/>
              <a:t>if [ $a -</a:t>
            </a:r>
            <a:r>
              <a:rPr lang="en-US" dirty="0" err="1"/>
              <a:t>gt</a:t>
            </a:r>
            <a:r>
              <a:rPr lang="en-US" dirty="0"/>
              <a:t> $b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if [ $a -</a:t>
            </a:r>
            <a:r>
              <a:rPr lang="en-US" dirty="0" err="1"/>
              <a:t>gt</a:t>
            </a:r>
            <a:r>
              <a:rPr lang="en-US" dirty="0"/>
              <a:t> $c ]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echo "Largest = $a"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echo "Largest = $c"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if [ $b -</a:t>
            </a:r>
            <a:r>
              <a:rPr lang="en-US" dirty="0" err="1"/>
              <a:t>gt</a:t>
            </a:r>
            <a:r>
              <a:rPr lang="en-US" dirty="0"/>
              <a:t> $c ]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echo "Largest = $b"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echo "Largest = $c"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05334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D346-D09E-7411-B157-9989535B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Same Example Using AND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4CC62-3C15-F6E1-0386-787B19D3E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#!/bin/bash</a:t>
            </a:r>
          </a:p>
          <a:p>
            <a:r>
              <a:rPr lang="en-US" dirty="0"/>
              <a:t># Find largest of three numbers using logical AND</a:t>
            </a:r>
          </a:p>
          <a:p>
            <a:r>
              <a:rPr lang="en-US" dirty="0"/>
              <a:t>read -p "Enter three numbers: " a b c</a:t>
            </a:r>
          </a:p>
          <a:p>
            <a:endParaRPr lang="en-US" dirty="0"/>
          </a:p>
          <a:p>
            <a:r>
              <a:rPr lang="en-US" dirty="0"/>
              <a:t>if [ $a -</a:t>
            </a:r>
            <a:r>
              <a:rPr lang="en-US" dirty="0" err="1"/>
              <a:t>gt</a:t>
            </a:r>
            <a:r>
              <a:rPr lang="en-US" dirty="0"/>
              <a:t> $b ] &amp;&amp; [ $a -</a:t>
            </a:r>
            <a:r>
              <a:rPr lang="en-US" dirty="0" err="1"/>
              <a:t>gt</a:t>
            </a:r>
            <a:r>
              <a:rPr lang="en-US" dirty="0"/>
              <a:t> $c ]; then</a:t>
            </a:r>
          </a:p>
          <a:p>
            <a:r>
              <a:rPr lang="en-US" dirty="0"/>
              <a:t>    echo "Largest = $a"</a:t>
            </a:r>
          </a:p>
          <a:p>
            <a:r>
              <a:rPr lang="en-US" dirty="0" err="1"/>
              <a:t>elif</a:t>
            </a:r>
            <a:r>
              <a:rPr lang="en-US" dirty="0"/>
              <a:t> [ $b -</a:t>
            </a:r>
            <a:r>
              <a:rPr lang="en-US" dirty="0" err="1"/>
              <a:t>gt</a:t>
            </a:r>
            <a:r>
              <a:rPr lang="en-US" dirty="0"/>
              <a:t> $a ] &amp;&amp; [ $b -</a:t>
            </a:r>
            <a:r>
              <a:rPr lang="en-US" dirty="0" err="1"/>
              <a:t>gt</a:t>
            </a:r>
            <a:r>
              <a:rPr lang="en-US" dirty="0"/>
              <a:t> $c ]; then</a:t>
            </a:r>
          </a:p>
          <a:p>
            <a:r>
              <a:rPr lang="en-US" dirty="0"/>
              <a:t>    echo "Largest = $b"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"Largest = $c"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6817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A541-74CF-6F86-637C-DC9E1934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CB07-79D0-2237-E3B7-540BA2DD2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marks: " m</a:t>
            </a:r>
          </a:p>
          <a:p>
            <a:endParaRPr lang="en-US" dirty="0"/>
          </a:p>
          <a:p>
            <a:r>
              <a:rPr lang="en-US" dirty="0"/>
              <a:t>if [ $m -</a:t>
            </a:r>
            <a:r>
              <a:rPr lang="en-US" dirty="0" err="1"/>
              <a:t>ge</a:t>
            </a:r>
            <a:r>
              <a:rPr lang="en-US" dirty="0"/>
              <a:t> 50 ]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if [ $m -</a:t>
            </a:r>
            <a:r>
              <a:rPr lang="en-US" dirty="0" err="1"/>
              <a:t>ge</a:t>
            </a:r>
            <a:r>
              <a:rPr lang="en-US" dirty="0"/>
              <a:t> 75 ]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echo "Distinction"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echo "Pass"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"Fail"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6945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C6A6-D5A2-3580-5437-DBB36D8D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Marks and Grade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C7312-15B9-794D-F1D3-12B556D4B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marks in subject 1: " sub1</a:t>
            </a:r>
          </a:p>
          <a:p>
            <a:r>
              <a:rPr lang="en-US" dirty="0"/>
              <a:t>read -p "Enter marks in subject 2: " sub2</a:t>
            </a:r>
          </a:p>
          <a:p>
            <a:r>
              <a:rPr lang="en-US" dirty="0"/>
              <a:t>read -p "Enter marks in subject 3: " sub3</a:t>
            </a:r>
          </a:p>
          <a:p>
            <a:endParaRPr lang="en-US" dirty="0"/>
          </a:p>
          <a:p>
            <a:r>
              <a:rPr lang="en-US" dirty="0"/>
              <a:t>if [ sub1  -</a:t>
            </a:r>
            <a:r>
              <a:rPr lang="en-US" dirty="0" err="1"/>
              <a:t>ge</a:t>
            </a:r>
            <a:r>
              <a:rPr lang="en-US" dirty="0"/>
              <a:t> 35 &amp;&amp; sub2 -</a:t>
            </a:r>
            <a:r>
              <a:rPr lang="en-US" dirty="0" err="1"/>
              <a:t>ge</a:t>
            </a:r>
            <a:r>
              <a:rPr lang="en-US" dirty="0"/>
              <a:t> 35 &amp;&amp; sub3 -</a:t>
            </a:r>
            <a:r>
              <a:rPr lang="en-US" dirty="0" err="1"/>
              <a:t>ge</a:t>
            </a:r>
            <a:r>
              <a:rPr lang="en-US" dirty="0"/>
              <a:t> 35 ]; then</a:t>
            </a:r>
          </a:p>
          <a:p>
            <a:r>
              <a:rPr lang="en-US" dirty="0"/>
              <a:t>  echo "Result: Pass"</a:t>
            </a:r>
          </a:p>
          <a:p>
            <a:endParaRPr lang="en-US" dirty="0"/>
          </a:p>
          <a:p>
            <a:r>
              <a:rPr lang="en-US" dirty="0"/>
              <a:t>  total=$(echo "$sub1 + $sub2 + $sub3" | </a:t>
            </a:r>
            <a:r>
              <a:rPr lang="en-US" dirty="0" err="1"/>
              <a:t>bc</a:t>
            </a:r>
            <a:r>
              <a:rPr lang="en-US" dirty="0"/>
              <a:t>)</a:t>
            </a:r>
          </a:p>
          <a:p>
            <a:r>
              <a:rPr lang="en-US" dirty="0"/>
              <a:t>  average=$(echo "scale=2; $total / 3" | </a:t>
            </a:r>
            <a:r>
              <a:rPr lang="en-US" dirty="0" err="1"/>
              <a:t>bc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  echo "Total Marks: $total"</a:t>
            </a:r>
          </a:p>
          <a:p>
            <a:r>
              <a:rPr lang="en-US" dirty="0"/>
              <a:t>  echo "Average Marks: $average"</a:t>
            </a:r>
          </a:p>
          <a:p>
            <a:endParaRPr lang="en-US" dirty="0"/>
          </a:p>
          <a:p>
            <a:r>
              <a:rPr lang="en-US" dirty="0"/>
              <a:t>  # Determine grade based on average using </a:t>
            </a:r>
            <a:r>
              <a:rPr lang="en-US" dirty="0" err="1"/>
              <a:t>bc</a:t>
            </a:r>
            <a:endParaRPr lang="en-US" dirty="0"/>
          </a:p>
          <a:p>
            <a:r>
              <a:rPr lang="en-US" dirty="0"/>
              <a:t>  </a:t>
            </a:r>
            <a:r>
              <a:rPr lang="en-US" dirty="0" err="1"/>
              <a:t>is_first_class</a:t>
            </a:r>
            <a:r>
              <a:rPr lang="en-US" dirty="0"/>
              <a:t>=$(echo "$average &gt;= 75" | </a:t>
            </a:r>
            <a:r>
              <a:rPr lang="en-US" dirty="0" err="1"/>
              <a:t>bc</a:t>
            </a:r>
            <a:r>
              <a:rPr lang="en-US" dirty="0"/>
              <a:t>)</a:t>
            </a:r>
          </a:p>
          <a:p>
            <a:r>
              <a:rPr lang="en-US" dirty="0"/>
              <a:t>  if [ "$</a:t>
            </a:r>
            <a:r>
              <a:rPr lang="en-US" dirty="0" err="1"/>
              <a:t>is_first_class</a:t>
            </a:r>
            <a:r>
              <a:rPr lang="en-US" dirty="0"/>
              <a:t>" -eq 1 ]; then</a:t>
            </a:r>
          </a:p>
          <a:p>
            <a:r>
              <a:rPr lang="en-US" dirty="0"/>
              <a:t>    echo "Grade: First Class"</a:t>
            </a:r>
          </a:p>
          <a:p>
            <a:r>
              <a:rPr lang="en-US" dirty="0"/>
              <a:t>  else</a:t>
            </a:r>
          </a:p>
          <a:p>
            <a:r>
              <a:rPr lang="en-US" dirty="0"/>
              <a:t>    echo "Grade: Pass"</a:t>
            </a:r>
          </a:p>
          <a:p>
            <a:r>
              <a:rPr lang="en-US" dirty="0"/>
              <a:t>  fi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echo "Result: Fail"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743839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D4B35-8F03-0C3B-3BF6-15C758CE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of &amp;&amp; and ||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ABA24-3FE5-D7C5-A0B9-9A5FA40A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Username: " username</a:t>
            </a:r>
          </a:p>
          <a:p>
            <a:r>
              <a:rPr lang="en-IN" dirty="0"/>
              <a:t>read -</a:t>
            </a:r>
            <a:r>
              <a:rPr lang="en-IN" dirty="0" err="1"/>
              <a:t>sp</a:t>
            </a:r>
            <a:r>
              <a:rPr lang="en-IN" dirty="0"/>
              <a:t> "Enter Password: " password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# Allows login if (admin credentials) OR (root credentials)</a:t>
            </a:r>
          </a:p>
          <a:p>
            <a:r>
              <a:rPr lang="en-IN" dirty="0"/>
              <a:t>if [[ ( "$username" == "admin" &amp;&amp; "$password" == "secret123" ) || ( "$username" == "root" &amp;&amp; "$password" == "</a:t>
            </a:r>
            <a:r>
              <a:rPr lang="en-IN" dirty="0" err="1"/>
              <a:t>rootpass</a:t>
            </a:r>
            <a:r>
              <a:rPr lang="en-IN" dirty="0"/>
              <a:t>" ) ]]; then</a:t>
            </a:r>
          </a:p>
          <a:p>
            <a:r>
              <a:rPr lang="en-IN" dirty="0"/>
              <a:t>    echo "Login successful!"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"Invalid credentials."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90920056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1362-22EF-C5E0-4FB9-3DA08AF9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Even/Odd and Positive/Negative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9ABE0-6996-716F-C19F-3F57C2AA2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a number: " </a:t>
            </a:r>
            <a:r>
              <a:rPr lang="en-IN" dirty="0" err="1"/>
              <a:t>num</a:t>
            </a:r>
            <a:endParaRPr lang="en-IN" dirty="0"/>
          </a:p>
          <a:p>
            <a:endParaRPr lang="en-IN" dirty="0"/>
          </a:p>
          <a:p>
            <a:r>
              <a:rPr lang="en-IN" dirty="0"/>
              <a:t>if [ $</a:t>
            </a:r>
            <a:r>
              <a:rPr lang="en-IN" dirty="0" err="1"/>
              <a:t>num</a:t>
            </a:r>
            <a:r>
              <a:rPr lang="en-IN" dirty="0"/>
              <a:t> -</a:t>
            </a:r>
            <a:r>
              <a:rPr lang="en-IN" dirty="0" err="1"/>
              <a:t>gt</a:t>
            </a:r>
            <a:r>
              <a:rPr lang="en-IN" dirty="0"/>
              <a:t> 0 ]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if [ $((</a:t>
            </a:r>
            <a:r>
              <a:rPr lang="en-IN" dirty="0" err="1"/>
              <a:t>num</a:t>
            </a:r>
            <a:r>
              <a:rPr lang="en-IN" dirty="0"/>
              <a:t> % 2)) -</a:t>
            </a:r>
            <a:r>
              <a:rPr lang="en-IN" dirty="0" err="1"/>
              <a:t>eq</a:t>
            </a:r>
            <a:r>
              <a:rPr lang="en-IN" dirty="0"/>
              <a:t> 0 ]</a:t>
            </a:r>
          </a:p>
          <a:p>
            <a:r>
              <a:rPr lang="en-IN" dirty="0"/>
              <a:t>    then</a:t>
            </a:r>
          </a:p>
          <a:p>
            <a:r>
              <a:rPr lang="en-IN" dirty="0"/>
              <a:t>        echo "Positive Even"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echo "Positive Odd"</a:t>
            </a:r>
          </a:p>
          <a:p>
            <a:r>
              <a:rPr lang="en-IN" dirty="0"/>
              <a:t>    fi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if [ $((</a:t>
            </a:r>
            <a:r>
              <a:rPr lang="en-IN" dirty="0" err="1"/>
              <a:t>num</a:t>
            </a:r>
            <a:r>
              <a:rPr lang="en-IN" dirty="0"/>
              <a:t> % 2)) -</a:t>
            </a:r>
            <a:r>
              <a:rPr lang="en-IN" dirty="0" err="1"/>
              <a:t>eq</a:t>
            </a:r>
            <a:r>
              <a:rPr lang="en-IN" dirty="0"/>
              <a:t> 0 ]</a:t>
            </a:r>
          </a:p>
          <a:p>
            <a:r>
              <a:rPr lang="en-IN" dirty="0"/>
              <a:t>    then</a:t>
            </a:r>
          </a:p>
          <a:p>
            <a:r>
              <a:rPr lang="en-IN" dirty="0"/>
              <a:t>        echo "Negative Even"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echo "Negative Odd"</a:t>
            </a:r>
          </a:p>
          <a:p>
            <a:r>
              <a:rPr lang="en-IN" dirty="0"/>
              <a:t>    fi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53253112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9B-D545-7DF1-BBAB-D1CFC1F3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94B16-06DE-5821-DF49-C61E3E724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username: " user</a:t>
            </a:r>
          </a:p>
          <a:p>
            <a:r>
              <a:rPr lang="en-IN" dirty="0"/>
              <a:t>read -p "Enter password: " pass</a:t>
            </a:r>
          </a:p>
          <a:p>
            <a:endParaRPr lang="en-IN" dirty="0"/>
          </a:p>
          <a:p>
            <a:r>
              <a:rPr lang="en-IN" dirty="0"/>
              <a:t>if [ "$user" = "admin" ]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if [ "$pass" = "1234" ]</a:t>
            </a:r>
          </a:p>
          <a:p>
            <a:r>
              <a:rPr lang="en-IN" dirty="0"/>
              <a:t>    then</a:t>
            </a:r>
          </a:p>
          <a:p>
            <a:r>
              <a:rPr lang="en-IN" dirty="0"/>
              <a:t>        echo "Login successful"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echo "Wrong password"</a:t>
            </a:r>
          </a:p>
          <a:p>
            <a:r>
              <a:rPr lang="en-IN" dirty="0"/>
              <a:t>    fi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"Invalid username"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8118798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651E-131D-D015-6CE4-7BE041ED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0353-D0D9-FE81-BD54-5702264A4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three numbers: " a b c</a:t>
            </a:r>
          </a:p>
          <a:p>
            <a:endParaRPr lang="en-US" dirty="0"/>
          </a:p>
          <a:p>
            <a:r>
              <a:rPr lang="en-US" dirty="0"/>
              <a:t>if [ $a -</a:t>
            </a:r>
            <a:r>
              <a:rPr lang="en-US" dirty="0" err="1"/>
              <a:t>gt</a:t>
            </a:r>
            <a:r>
              <a:rPr lang="en-US" dirty="0"/>
              <a:t> $b ] &amp;&amp; [ $a -</a:t>
            </a:r>
            <a:r>
              <a:rPr lang="en-US" dirty="0" err="1"/>
              <a:t>gt</a:t>
            </a:r>
            <a:r>
              <a:rPr lang="en-US" dirty="0"/>
              <a:t> $c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"Largest = $a"</a:t>
            </a:r>
          </a:p>
          <a:p>
            <a:r>
              <a:rPr lang="en-US" dirty="0" err="1"/>
              <a:t>elif</a:t>
            </a:r>
            <a:r>
              <a:rPr lang="en-US" dirty="0"/>
              <a:t> [ $b -</a:t>
            </a:r>
            <a:r>
              <a:rPr lang="en-US" dirty="0" err="1"/>
              <a:t>gt</a:t>
            </a:r>
            <a:r>
              <a:rPr lang="en-US" dirty="0"/>
              <a:t> $a ] &amp;&amp; [ $b -</a:t>
            </a:r>
            <a:r>
              <a:rPr lang="en-US" dirty="0" err="1"/>
              <a:t>gt</a:t>
            </a:r>
            <a:r>
              <a:rPr lang="en-US" dirty="0"/>
              <a:t> $c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"Largest = $b"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"Largest = $c"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91478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3B28-A924-63DC-DCCE-1428AF935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Validation Using 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56422-6D1A-B46B-98B1-D8E72DF0E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username: " user</a:t>
            </a:r>
          </a:p>
          <a:p>
            <a:r>
              <a:rPr lang="en-IN" dirty="0"/>
              <a:t>read -p "Enter password: " pass</a:t>
            </a:r>
          </a:p>
          <a:p>
            <a:endParaRPr lang="en-IN" dirty="0"/>
          </a:p>
          <a:p>
            <a:r>
              <a:rPr lang="en-IN" dirty="0"/>
              <a:t>if [ "$user" = "admin" ] &amp;&amp; [ "$pass" = "1234" ]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"Login successful"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"Invalid username or password"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7724164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E57B-DC73-3CF7-3F74-FFF8E4020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E1A5-44A9-20D3-E76E-8633FDFF8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#!/bin/bash</a:t>
            </a:r>
          </a:p>
          <a:p>
            <a:r>
              <a:rPr lang="en-US" dirty="0"/>
              <a:t>read -p "Enter marks for 2 subjects: " m1 m2</a:t>
            </a:r>
          </a:p>
          <a:p>
            <a:endParaRPr lang="en-US" dirty="0"/>
          </a:p>
          <a:p>
            <a:r>
              <a:rPr lang="en-US" dirty="0"/>
              <a:t>if [ $m1 -</a:t>
            </a:r>
            <a:r>
              <a:rPr lang="en-US" dirty="0" err="1"/>
              <a:t>ge</a:t>
            </a:r>
            <a:r>
              <a:rPr lang="en-US" dirty="0"/>
              <a:t> 40 ] || [ $m2 -</a:t>
            </a:r>
            <a:r>
              <a:rPr lang="en-US" dirty="0" err="1"/>
              <a:t>ge</a:t>
            </a:r>
            <a:r>
              <a:rPr lang="en-US" dirty="0"/>
              <a:t> 40 ]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"Pass in at least one subject"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"Fail in both"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06683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90A4-587F-ABF5-6301-F00D014D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AND </a:t>
            </a:r>
            <a:r>
              <a:rPr lang="en-IN" dirty="0" err="1"/>
              <a:t>and</a:t>
            </a:r>
            <a:r>
              <a:rPr lang="en-IN" dirty="0"/>
              <a:t> 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F35B9-38C4-F6F8-32E6-DA04CAAC7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username: " user</a:t>
            </a:r>
          </a:p>
          <a:p>
            <a:r>
              <a:rPr lang="en-IN" dirty="0"/>
              <a:t>read -p "Enter password: " pass</a:t>
            </a:r>
          </a:p>
          <a:p>
            <a:endParaRPr lang="en-IN" dirty="0"/>
          </a:p>
          <a:p>
            <a:r>
              <a:rPr lang="en-IN" dirty="0"/>
              <a:t>if { [ "$user" = "admin" ] &amp;&amp; [ "$pass" = "1234" ]; } || \</a:t>
            </a:r>
          </a:p>
          <a:p>
            <a:r>
              <a:rPr lang="en-IN" dirty="0"/>
              <a:t>   { [ "$user" = "root" ] &amp;&amp; [ "$pass" = "root" ]; }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"Login successful"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"Invalid username or password"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5628507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CB09-EB23-41FC-C530-DA04AD6E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 with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9369C-5F8E-8C31-9271-D1A7A1F2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day="Sunday"</a:t>
            </a:r>
          </a:p>
          <a:p>
            <a:endParaRPr lang="en-US" dirty="0"/>
          </a:p>
          <a:p>
            <a:r>
              <a:rPr lang="en-US" dirty="0"/>
              <a:t>if [ "$day" = "Saturday" ] || [ "$day" = "Sunday"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"Weekend"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"Weekday"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77313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37DB-F5B1-714E-9C74-B5FAE477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Login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45139-C338-CE10-8113-BD19BD7B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username: " user</a:t>
            </a:r>
          </a:p>
          <a:p>
            <a:r>
              <a:rPr lang="en-IN" dirty="0"/>
              <a:t>read -p "Enter password: " pass</a:t>
            </a:r>
          </a:p>
          <a:p>
            <a:endParaRPr lang="en-IN" dirty="0"/>
          </a:p>
          <a:p>
            <a:r>
              <a:rPr lang="en-IN" dirty="0"/>
              <a:t>if { [ "$user" = "admin" ] &amp;&amp; [ "$pass" = "1234" ]; } || \</a:t>
            </a:r>
          </a:p>
          <a:p>
            <a:r>
              <a:rPr lang="en-IN" dirty="0"/>
              <a:t>   { [ "$user" = "guest" ] &amp;&amp; [ "$pass" = "guest123" ]; }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"Login successful"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"Invalid credentials"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45791481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69EE8-C7B5-BB08-ECA4-5426C1088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53085-FB83-278C-97BA-50BABF0A4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#!/bin/bash</a:t>
            </a:r>
          </a:p>
          <a:p>
            <a:r>
              <a:rPr lang="en-US" dirty="0"/>
              <a:t>read -p "Enter a number: " num</a:t>
            </a:r>
          </a:p>
          <a:p>
            <a:endParaRPr lang="en-US" dirty="0"/>
          </a:p>
          <a:p>
            <a:r>
              <a:rPr lang="en-US" dirty="0"/>
              <a:t>if [ ! $num -eq 0 ]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"Number is not zero"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325134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1A1-8A97-9BA9-D734-11D74A8B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for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A0A1F-E6E0-01A8-6FBB-843E7DAD7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a="hello"</a:t>
            </a:r>
          </a:p>
          <a:p>
            <a:r>
              <a:rPr lang="en-US" dirty="0"/>
              <a:t>b="world"</a:t>
            </a:r>
          </a:p>
          <a:p>
            <a:endParaRPr lang="en-US" dirty="0"/>
          </a:p>
          <a:p>
            <a:r>
              <a:rPr lang="en-US" dirty="0"/>
              <a:t>if [ "$a" != "$b" ]</a:t>
            </a:r>
          </a:p>
          <a:p>
            <a:r>
              <a:rPr lang="en-US" dirty="0"/>
              <a:t>then</a:t>
            </a:r>
          </a:p>
          <a:p>
            <a:r>
              <a:rPr lang="en-US" dirty="0"/>
              <a:t>    echo "Strings are different"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37186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9AB15E-8457-1B34-0A4F-9DDCB50B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Result Calculation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F25270-1A2D-2943-8471-72E92A548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Input marks</a:t>
            </a:r>
          </a:p>
          <a:p>
            <a:r>
              <a:rPr lang="en-IN" dirty="0"/>
              <a:t>read -p "Enter marks for 3 subjects: " m1 m2 m3</a:t>
            </a:r>
          </a:p>
          <a:p>
            <a:endParaRPr lang="en-IN" dirty="0"/>
          </a:p>
          <a:p>
            <a:r>
              <a:rPr lang="en-IN" dirty="0"/>
              <a:t># Calculate total</a:t>
            </a:r>
          </a:p>
          <a:p>
            <a:r>
              <a:rPr lang="en-IN" dirty="0"/>
              <a:t>total=$((m1 + m2 + m3))</a:t>
            </a:r>
          </a:p>
          <a:p>
            <a:endParaRPr lang="en-IN" dirty="0"/>
          </a:p>
          <a:p>
            <a:r>
              <a:rPr lang="en-IN" dirty="0"/>
              <a:t># Calculate average</a:t>
            </a:r>
          </a:p>
          <a:p>
            <a:r>
              <a:rPr lang="en-IN" dirty="0" err="1"/>
              <a:t>avg</a:t>
            </a:r>
            <a:r>
              <a:rPr lang="en-IN" dirty="0"/>
              <a:t>=$((total / 3))</a:t>
            </a:r>
          </a:p>
          <a:p>
            <a:endParaRPr lang="en-IN" dirty="0"/>
          </a:p>
          <a:p>
            <a:r>
              <a:rPr lang="en-IN" dirty="0"/>
              <a:t>echo "Total = $total"</a:t>
            </a:r>
          </a:p>
          <a:p>
            <a:r>
              <a:rPr lang="en-IN" dirty="0"/>
              <a:t>echo "Average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endParaRPr lang="en-IN" dirty="0"/>
          </a:p>
          <a:p>
            <a:r>
              <a:rPr lang="en-IN" dirty="0"/>
              <a:t># Pass/Fail condition (assume pass if </a:t>
            </a:r>
            <a:r>
              <a:rPr lang="en-IN" dirty="0" err="1"/>
              <a:t>avg</a:t>
            </a:r>
            <a:r>
              <a:rPr lang="en-IN" dirty="0"/>
              <a:t> &gt;= 40)</a:t>
            </a:r>
          </a:p>
          <a:p>
            <a:r>
              <a:rPr lang="en-IN" dirty="0"/>
              <a:t>if [ $</a:t>
            </a:r>
            <a:r>
              <a:rPr lang="en-IN" dirty="0" err="1"/>
              <a:t>avg</a:t>
            </a:r>
            <a:r>
              <a:rPr lang="en-IN" dirty="0"/>
              <a:t> -</a:t>
            </a:r>
            <a:r>
              <a:rPr lang="en-IN" dirty="0" err="1"/>
              <a:t>ge</a:t>
            </a:r>
            <a:r>
              <a:rPr lang="en-IN" dirty="0"/>
              <a:t> 40 ]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"Result: Pass"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"Result: Fail"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272955898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20EB-F913-7CA8-8036-FF49B31C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Handling Decimal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4970F-FBE3-21A8-EB6A-E7E0D5EE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Input marks</a:t>
            </a:r>
          </a:p>
          <a:p>
            <a:r>
              <a:rPr lang="en-IN" dirty="0"/>
              <a:t>read -p "Enter marks for 3 subjects: " m1 m2 m3</a:t>
            </a:r>
          </a:p>
          <a:p>
            <a:endParaRPr lang="en-IN" dirty="0"/>
          </a:p>
          <a:p>
            <a:r>
              <a:rPr lang="en-IN" dirty="0"/>
              <a:t># Calculate total</a:t>
            </a:r>
          </a:p>
          <a:p>
            <a:r>
              <a:rPr lang="en-IN" dirty="0"/>
              <a:t>total=$((m1 + m2 + m3))</a:t>
            </a:r>
          </a:p>
          <a:p>
            <a:endParaRPr lang="en-IN" dirty="0"/>
          </a:p>
          <a:p>
            <a:r>
              <a:rPr lang="en-IN" dirty="0"/>
              <a:t># Floating-point average</a:t>
            </a:r>
          </a:p>
          <a:p>
            <a:r>
              <a:rPr lang="en-IN" dirty="0" err="1"/>
              <a:t>avg</a:t>
            </a:r>
            <a:r>
              <a:rPr lang="en-IN" dirty="0"/>
              <a:t>=$(echo "scale=2; $total / 3" |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echo "Total = $total"</a:t>
            </a:r>
          </a:p>
          <a:p>
            <a:r>
              <a:rPr lang="en-IN" dirty="0"/>
              <a:t>echo "Average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endParaRPr lang="en-IN" dirty="0"/>
          </a:p>
          <a:p>
            <a:r>
              <a:rPr lang="en-IN" dirty="0"/>
              <a:t># Pass/Fail (compare using </a:t>
            </a:r>
            <a:r>
              <a:rPr lang="en-IN" dirty="0" err="1"/>
              <a:t>bc</a:t>
            </a:r>
            <a:r>
              <a:rPr lang="en-IN" dirty="0"/>
              <a:t>)</a:t>
            </a:r>
          </a:p>
          <a:p>
            <a:r>
              <a:rPr lang="en-IN" dirty="0"/>
              <a:t>if [ $(echo "$</a:t>
            </a:r>
            <a:r>
              <a:rPr lang="en-IN" dirty="0" err="1"/>
              <a:t>avg</a:t>
            </a:r>
            <a:r>
              <a:rPr lang="en-IN" dirty="0"/>
              <a:t> &gt;= 40" | </a:t>
            </a:r>
            <a:r>
              <a:rPr lang="en-IN" dirty="0" err="1"/>
              <a:t>bc</a:t>
            </a:r>
            <a:r>
              <a:rPr lang="en-IN" dirty="0"/>
              <a:t>) -</a:t>
            </a:r>
            <a:r>
              <a:rPr lang="en-IN" dirty="0" err="1"/>
              <a:t>eq</a:t>
            </a:r>
            <a:r>
              <a:rPr lang="en-IN" dirty="0"/>
              <a:t> 1 ]</a:t>
            </a:r>
          </a:p>
          <a:p>
            <a:r>
              <a:rPr lang="en-IN" dirty="0"/>
              <a:t>then</a:t>
            </a:r>
          </a:p>
          <a:p>
            <a:r>
              <a:rPr lang="en-IN" dirty="0"/>
              <a:t>    echo "Result: Pass"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"Result: Fail"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313168012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24ABC-2BBE-E4B4-EBFB-0B636EA7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System/Shell Variables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F92B25-544D-D4A1-E76C-2146DC1C2D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4531" y="1343017"/>
          <a:ext cx="10632052" cy="52910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58013">
                  <a:extLst>
                    <a:ext uri="{9D8B030D-6E8A-4147-A177-3AD203B41FA5}">
                      <a16:colId xmlns:a16="http://schemas.microsoft.com/office/drawing/2014/main" val="2860382823"/>
                    </a:ext>
                  </a:extLst>
                </a:gridCol>
                <a:gridCol w="2658013">
                  <a:extLst>
                    <a:ext uri="{9D8B030D-6E8A-4147-A177-3AD203B41FA5}">
                      <a16:colId xmlns:a16="http://schemas.microsoft.com/office/drawing/2014/main" val="2287498421"/>
                    </a:ext>
                  </a:extLst>
                </a:gridCol>
                <a:gridCol w="2658013">
                  <a:extLst>
                    <a:ext uri="{9D8B030D-6E8A-4147-A177-3AD203B41FA5}">
                      <a16:colId xmlns:a16="http://schemas.microsoft.com/office/drawing/2014/main" val="2122077441"/>
                    </a:ext>
                  </a:extLst>
                </a:gridCol>
                <a:gridCol w="2658013">
                  <a:extLst>
                    <a:ext uri="{9D8B030D-6E8A-4147-A177-3AD203B41FA5}">
                      <a16:colId xmlns:a16="http://schemas.microsoft.com/office/drawing/2014/main" val="2109127386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Variable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Meaning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 Value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 Case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36164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User’s home directory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/home/atul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Navigate to home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26304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Current username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atul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Display logged-in user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21547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PWD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Present working directory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/home/atul/docs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Show current location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30660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OLDPWD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Previous directory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/home/atul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cd - uses this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938714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PATH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Executable search path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/usr/bin:/bin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Run commands without full path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3085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SHELL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Current shell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/bin/bash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Know shell type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79820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HOSTNAME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System hostname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ubuntu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Identify machine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23739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TERM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Terminal type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xterm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Terminal compatibility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386984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Login 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atul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Similar to USER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400401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EDITOR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Default editor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 / nano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Used by programs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92701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Language/locale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en_US.UTF-8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Language settings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25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61171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A85B4-E3A2-3552-C315-84633F09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System/Shell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2338-45E9-A7B2-D085-FE1BEF08F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US" dirty="0"/>
              <a:t>if [ "$UID" -eq 0 ]; then</a:t>
            </a:r>
          </a:p>
          <a:p>
            <a:r>
              <a:rPr lang="en-US" dirty="0"/>
              <a:t>  echo "$USER is the root user."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echo "$USER is NOT the root user."</a:t>
            </a:r>
          </a:p>
          <a:p>
            <a:r>
              <a:rPr lang="en-US" dirty="0"/>
              <a:t>fi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87762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F0FBD-7B02-B96A-6A13-05A22BC0D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Files in Home Directory and Show Disk Usage of Current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B2D98-DDF9-26CE-6041-E544A38DD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echo "Files in your home directory ($HOME):"</a:t>
            </a:r>
          </a:p>
          <a:p>
            <a:r>
              <a:rPr lang="en-US" dirty="0"/>
              <a:t>ls $HOME</a:t>
            </a:r>
          </a:p>
          <a:p>
            <a:endParaRPr lang="en-US" dirty="0"/>
          </a:p>
          <a:p>
            <a:r>
              <a:rPr lang="en-IN" dirty="0"/>
              <a:t>echo "Checking disk usage for: $PWD"</a:t>
            </a:r>
          </a:p>
          <a:p>
            <a:r>
              <a:rPr lang="en-IN" dirty="0"/>
              <a:t>du -</a:t>
            </a:r>
            <a:r>
              <a:rPr lang="en-IN" dirty="0" err="1"/>
              <a:t>sh</a:t>
            </a:r>
            <a:r>
              <a:rPr lang="en-IN" dirty="0"/>
              <a:t> $PWD</a:t>
            </a:r>
          </a:p>
        </p:txBody>
      </p:sp>
    </p:spTree>
    <p:extLst>
      <p:ext uri="{BB962C8B-B14F-4D97-AF65-F5344CB8AC3E}">
        <p14:creationId xmlns:p14="http://schemas.microsoft.com/office/powerpoint/2010/main" val="362575726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1B06-403D-9D52-D4A7-B11C1615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Directory in the User Home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DDF30-82A8-6BEE-5745-66F26D04D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 Check if the "</a:t>
            </a:r>
            <a:r>
              <a:rPr lang="en-US" dirty="0" err="1"/>
              <a:t>my_test</a:t>
            </a:r>
            <a:r>
              <a:rPr lang="en-US" dirty="0"/>
              <a:t>" directory already exists under $HOME</a:t>
            </a:r>
          </a:p>
          <a:p>
            <a:r>
              <a:rPr lang="en-US" dirty="0"/>
              <a:t>if [ ! -d "$HOME/</a:t>
            </a:r>
            <a:r>
              <a:rPr lang="en-US" dirty="0" err="1"/>
              <a:t>my_test</a:t>
            </a:r>
            <a:r>
              <a:rPr lang="en-US" dirty="0"/>
              <a:t>" ]; then</a:t>
            </a:r>
          </a:p>
          <a:p>
            <a:r>
              <a:rPr lang="en-US" dirty="0"/>
              <a:t>  </a:t>
            </a:r>
            <a:r>
              <a:rPr lang="en-US" dirty="0" err="1"/>
              <a:t>mkdir</a:t>
            </a:r>
            <a:r>
              <a:rPr lang="en-US" dirty="0"/>
              <a:t> -p "$HOME/</a:t>
            </a:r>
            <a:r>
              <a:rPr lang="en-US" dirty="0" err="1"/>
              <a:t>my_test</a:t>
            </a:r>
            <a:r>
              <a:rPr lang="en-US" dirty="0"/>
              <a:t>"</a:t>
            </a:r>
          </a:p>
          <a:p>
            <a:r>
              <a:rPr lang="en-US" dirty="0"/>
              <a:t>  echo "Directory '</a:t>
            </a:r>
            <a:r>
              <a:rPr lang="en-US" dirty="0" err="1"/>
              <a:t>my_test</a:t>
            </a:r>
            <a:r>
              <a:rPr lang="en-US" dirty="0"/>
              <a:t>' has been created successfully at $HOME/</a:t>
            </a:r>
            <a:r>
              <a:rPr lang="en-US" dirty="0" err="1"/>
              <a:t>my_test</a:t>
            </a:r>
            <a:r>
              <a:rPr lang="en-US" dirty="0"/>
              <a:t>."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echo "Directory '</a:t>
            </a:r>
            <a:r>
              <a:rPr lang="en-US" dirty="0" err="1"/>
              <a:t>my_test</a:t>
            </a:r>
            <a:r>
              <a:rPr lang="en-US" dirty="0"/>
              <a:t>' already exists at $HOME/</a:t>
            </a:r>
            <a:r>
              <a:rPr lang="en-US" dirty="0" err="1"/>
              <a:t>my_test</a:t>
            </a:r>
            <a:r>
              <a:rPr lang="en-US" dirty="0"/>
              <a:t>."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5998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9C2E-4FF7-F0DF-4F91-BF47F848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File in the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50B6A-6522-4A03-164D-2DDA21565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-p "$HOME/</a:t>
            </a:r>
            <a:r>
              <a:rPr lang="en-US" dirty="0" err="1"/>
              <a:t>my_test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echo "Test is successful" &gt; "$HOME/</a:t>
            </a:r>
            <a:r>
              <a:rPr lang="en-US" dirty="0" err="1"/>
              <a:t>my_test</a:t>
            </a:r>
            <a:r>
              <a:rPr lang="en-US" dirty="0"/>
              <a:t>/message.txt"</a:t>
            </a:r>
          </a:p>
          <a:p>
            <a:endParaRPr lang="en-US" dirty="0"/>
          </a:p>
          <a:p>
            <a:r>
              <a:rPr lang="en-US" dirty="0"/>
              <a:t>echo "Verifying file contents …"</a:t>
            </a:r>
          </a:p>
          <a:p>
            <a:r>
              <a:rPr lang="en-US" dirty="0"/>
              <a:t>cat "$HOME/</a:t>
            </a:r>
            <a:r>
              <a:rPr lang="en-US" dirty="0" err="1"/>
              <a:t>my_test</a:t>
            </a:r>
            <a:r>
              <a:rPr lang="en-US" dirty="0"/>
              <a:t>/message.txt"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585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D2AA-7AF4-5304-D902-7C1F26A0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Backup Current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CDF9D-C837-3BC2-8C6A-E626A162D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 err="1"/>
              <a:t>backup_name</a:t>
            </a:r>
            <a:r>
              <a:rPr lang="en-US" dirty="0"/>
              <a:t>="backup_$(date +%</a:t>
            </a:r>
            <a:r>
              <a:rPr lang="en-US" dirty="0" err="1"/>
              <a:t>Y%m%d</a:t>
            </a:r>
            <a:r>
              <a:rPr lang="en-US" dirty="0"/>
              <a:t>).tar.gz"</a:t>
            </a:r>
          </a:p>
          <a:p>
            <a:endParaRPr lang="en-US" dirty="0"/>
          </a:p>
          <a:p>
            <a:r>
              <a:rPr lang="en-US" dirty="0"/>
              <a:t>tar -</a:t>
            </a:r>
            <a:r>
              <a:rPr lang="en-US" dirty="0" err="1"/>
              <a:t>czf</a:t>
            </a:r>
            <a:r>
              <a:rPr lang="en-US" dirty="0"/>
              <a:t> $</a:t>
            </a:r>
            <a:r>
              <a:rPr lang="en-US" dirty="0" err="1"/>
              <a:t>backup_name</a:t>
            </a:r>
            <a:r>
              <a:rPr lang="en-US" dirty="0"/>
              <a:t> $PWD</a:t>
            </a:r>
          </a:p>
          <a:p>
            <a:endParaRPr lang="en-US" dirty="0"/>
          </a:p>
          <a:p>
            <a:r>
              <a:rPr lang="en-US" dirty="0"/>
              <a:t>echo "Backup created: $</a:t>
            </a:r>
            <a:r>
              <a:rPr lang="en-US" dirty="0" err="1"/>
              <a:t>backup_name</a:t>
            </a:r>
            <a:r>
              <a:rPr lang="en-US" dirty="0"/>
              <a:t>"</a:t>
            </a:r>
          </a:p>
          <a:p>
            <a:endParaRPr lang="en-US" dirty="0"/>
          </a:p>
          <a:p>
            <a:r>
              <a:rPr lang="en-US" dirty="0"/>
              <a:t>read -p "Press a key to continue ..." </a:t>
            </a:r>
            <a:r>
              <a:rPr lang="en-US" dirty="0" err="1"/>
              <a:t>user_key</a:t>
            </a:r>
            <a:endParaRPr lang="en-US" dirty="0"/>
          </a:p>
          <a:p>
            <a:endParaRPr lang="en-US" dirty="0"/>
          </a:p>
          <a:p>
            <a:r>
              <a:rPr lang="en-US" dirty="0"/>
              <a:t>echo "Now displaying the contents of the backup file"</a:t>
            </a:r>
          </a:p>
          <a:p>
            <a:endParaRPr lang="en-US" dirty="0"/>
          </a:p>
          <a:p>
            <a:r>
              <a:rPr lang="en-US" dirty="0"/>
              <a:t>tar -</a:t>
            </a:r>
            <a:r>
              <a:rPr lang="en-US" dirty="0" err="1"/>
              <a:t>tzf</a:t>
            </a:r>
            <a:r>
              <a:rPr lang="en-US" dirty="0"/>
              <a:t> $</a:t>
            </a:r>
            <a:r>
              <a:rPr lang="en-US" dirty="0" err="1"/>
              <a:t>backup_name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18564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161C-9AB7-AB03-C76E-7C405CA0D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Special Shell Variables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1A6D04-D91F-6361-1A73-753B68AB3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189212"/>
              </p:ext>
            </p:extLst>
          </p:nvPr>
        </p:nvGraphicFramePr>
        <p:xfrm>
          <a:off x="601894" y="1690688"/>
          <a:ext cx="10515600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418708">
                  <a:extLst>
                    <a:ext uri="{9D8B030D-6E8A-4147-A177-3AD203B41FA5}">
                      <a16:colId xmlns:a16="http://schemas.microsoft.com/office/drawing/2014/main" val="3866235426"/>
                    </a:ext>
                  </a:extLst>
                </a:gridCol>
                <a:gridCol w="4591692">
                  <a:extLst>
                    <a:ext uri="{9D8B030D-6E8A-4147-A177-3AD203B41FA5}">
                      <a16:colId xmlns:a16="http://schemas.microsoft.com/office/drawing/2014/main" val="879079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68542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037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Script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script.sh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9444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$1, $2...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Command-line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$1 = input1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474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Number of arguments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9424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$@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All arguments (separately)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arg1 arg2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716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All arguments (as one string)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"arg1 arg2"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193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$$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Current process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1234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7802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$?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Exit status of last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0 (success)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60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6282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D1B8-5BB9-1B28-7982-2DB8D7D2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Sample Usage of Shell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C6318-4EAB-A557-1742-148ABC2B1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echo $HOME</a:t>
            </a:r>
          </a:p>
          <a:p>
            <a:r>
              <a:rPr lang="es-ES" dirty="0"/>
              <a:t>echo $USER</a:t>
            </a:r>
          </a:p>
          <a:p>
            <a:r>
              <a:rPr lang="es-ES" dirty="0"/>
              <a:t>echo $PATH</a:t>
            </a:r>
          </a:p>
          <a:p>
            <a:r>
              <a:rPr lang="es-ES" dirty="0"/>
              <a:t>echo $$</a:t>
            </a:r>
          </a:p>
          <a:p>
            <a:r>
              <a:rPr lang="es-ES" dirty="0"/>
              <a:t>echo $?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59995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69693-12F2-2A92-7E9C-D2957C2A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case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D393-AA90-1B66-0F8F-7AA1CD2E5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Used for multiple conditions (like switch-case in C/Java)</a:t>
            </a:r>
          </a:p>
          <a:p>
            <a:r>
              <a:rPr lang="en-US" dirty="0"/>
              <a:t>Cleaner than multiple if-</a:t>
            </a:r>
            <a:r>
              <a:rPr lang="en-US" dirty="0" err="1"/>
              <a:t>elif</a:t>
            </a:r>
            <a:endParaRPr lang="en-US" dirty="0"/>
          </a:p>
          <a:p>
            <a:r>
              <a:rPr lang="en-US" dirty="0"/>
              <a:t>Matches a value against different patterns</a:t>
            </a:r>
          </a:p>
          <a:p>
            <a:endParaRPr lang="en-US" dirty="0"/>
          </a:p>
          <a:p>
            <a:r>
              <a:rPr lang="en-IN" dirty="0"/>
              <a:t>case variable in</a:t>
            </a:r>
          </a:p>
          <a:p>
            <a:r>
              <a:rPr lang="en-IN" dirty="0"/>
              <a:t>    pattern1)</a:t>
            </a:r>
          </a:p>
          <a:p>
            <a:r>
              <a:rPr lang="en-IN" dirty="0"/>
              <a:t>        commands ;;</a:t>
            </a:r>
          </a:p>
          <a:p>
            <a:r>
              <a:rPr lang="en-IN" dirty="0"/>
              <a:t>    pattern2)</a:t>
            </a:r>
          </a:p>
          <a:p>
            <a:r>
              <a:rPr lang="en-IN" dirty="0"/>
              <a:t>        commands ;;</a:t>
            </a:r>
          </a:p>
          <a:p>
            <a:r>
              <a:rPr lang="en-IN" dirty="0"/>
              <a:t>    *)</a:t>
            </a:r>
          </a:p>
          <a:p>
            <a:r>
              <a:rPr lang="en-IN" dirty="0"/>
              <a:t>        default commands ;;</a:t>
            </a:r>
          </a:p>
          <a:p>
            <a:r>
              <a:rPr lang="en-IN" dirty="0" err="1"/>
              <a:t>esac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19332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A06A-6CD6-53A6-D8EC-47E6A6B76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FE36E-0648-7FA2-54BC-E4ACBCE0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echo "Enter a number (1-3): "</a:t>
            </a:r>
          </a:p>
          <a:p>
            <a:r>
              <a:rPr lang="en-US" dirty="0"/>
              <a:t>read num</a:t>
            </a:r>
          </a:p>
          <a:p>
            <a:endParaRPr lang="en-US" dirty="0"/>
          </a:p>
          <a:p>
            <a:r>
              <a:rPr lang="en-US" dirty="0"/>
              <a:t>case $num in</a:t>
            </a:r>
          </a:p>
          <a:p>
            <a:r>
              <a:rPr lang="en-US" dirty="0"/>
              <a:t>    1) echo "You selected ONE" ;;</a:t>
            </a:r>
          </a:p>
          <a:p>
            <a:r>
              <a:rPr lang="en-US" dirty="0"/>
              <a:t>    2) echo "You selected TWO" ;;</a:t>
            </a:r>
          </a:p>
          <a:p>
            <a:r>
              <a:rPr lang="en-US" dirty="0"/>
              <a:t>    3) echo "You selected THREE" ;;</a:t>
            </a:r>
          </a:p>
          <a:p>
            <a:r>
              <a:rPr lang="en-US" dirty="0"/>
              <a:t>    *) echo "Invalid choice" ;;</a:t>
            </a:r>
          </a:p>
          <a:p>
            <a:r>
              <a:rPr lang="en-US" dirty="0" err="1"/>
              <a:t>esac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01301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1E49-69F3-B996-2496-C02229C3E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case Example With Default Input Values and Editing Enabled (-e)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0EECD-F646-E148-1330-7BCF41CE4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Read first number with default value … -e means arrow keys, backspace etc allowed, since we are providing default input values that user may want to edit</a:t>
            </a:r>
          </a:p>
          <a:p>
            <a:r>
              <a:rPr lang="en-IN" dirty="0"/>
              <a:t>read -e -</a:t>
            </a:r>
            <a:r>
              <a:rPr lang="en-IN" dirty="0" err="1"/>
              <a:t>i</a:t>
            </a:r>
            <a:r>
              <a:rPr lang="en-IN" dirty="0"/>
              <a:t> "10" -p "Enter first number: " a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# Read second number with default value</a:t>
            </a:r>
          </a:p>
          <a:p>
            <a:r>
              <a:rPr lang="en-IN" dirty="0"/>
              <a:t>read -e -</a:t>
            </a:r>
            <a:r>
              <a:rPr lang="en-IN" dirty="0" err="1"/>
              <a:t>i</a:t>
            </a:r>
            <a:r>
              <a:rPr lang="en-IN" dirty="0"/>
              <a:t> "5" -p "Enter second number: " b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# Read operation with default value</a:t>
            </a:r>
          </a:p>
          <a:p>
            <a:r>
              <a:rPr lang="en-IN" dirty="0"/>
              <a:t>read -e -</a:t>
            </a:r>
            <a:r>
              <a:rPr lang="en-IN" dirty="0" err="1"/>
              <a:t>i</a:t>
            </a:r>
            <a:r>
              <a:rPr lang="en-IN" dirty="0"/>
              <a:t> "+" -p "Enter operation (+, -, *, /): " op</a:t>
            </a:r>
          </a:p>
          <a:p>
            <a:r>
              <a:rPr lang="en-IN" dirty="0"/>
              <a:t>echo</a:t>
            </a:r>
          </a:p>
          <a:p>
            <a:endParaRPr lang="en-IN" dirty="0"/>
          </a:p>
          <a:p>
            <a:r>
              <a:rPr lang="en-IN" dirty="0"/>
              <a:t># Case statement</a:t>
            </a:r>
          </a:p>
          <a:p>
            <a:r>
              <a:rPr lang="en-IN" dirty="0"/>
              <a:t>case $op in</a:t>
            </a:r>
          </a:p>
          <a:p>
            <a:r>
              <a:rPr lang="en-IN" dirty="0"/>
              <a:t>    +) echo "Result = $((a + b))" ;;</a:t>
            </a:r>
          </a:p>
          <a:p>
            <a:r>
              <a:rPr lang="en-IN" dirty="0"/>
              <a:t>    -) echo "Result = $((a - b))" ;;</a:t>
            </a:r>
          </a:p>
          <a:p>
            <a:r>
              <a:rPr lang="en-IN" dirty="0"/>
              <a:t>    \*) echo "Result = $((a * b))" ;;</a:t>
            </a:r>
          </a:p>
          <a:p>
            <a:r>
              <a:rPr lang="en-IN" dirty="0"/>
              <a:t>    /) echo "Result = $((a / b))" ;;</a:t>
            </a:r>
          </a:p>
          <a:p>
            <a:r>
              <a:rPr lang="en-IN" dirty="0"/>
              <a:t>    *) echo "Invalid operation" ;;</a:t>
            </a:r>
          </a:p>
          <a:p>
            <a:r>
              <a:rPr lang="en-IN" dirty="0" err="1"/>
              <a:t>esac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55057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DCD1-CCEA-09D6-7449-C30A5AD0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Display if Today is a Weekday or Weekend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6DA6-FAA0-238E-3294-517B9F308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# Get the current day of the week (e.g., Mon, Tue, Sat, Sun)</a:t>
            </a:r>
          </a:p>
          <a:p>
            <a:r>
              <a:rPr lang="en-US" dirty="0" err="1"/>
              <a:t>current_day</a:t>
            </a:r>
            <a:r>
              <a:rPr lang="en-US" dirty="0"/>
              <a:t>=$(date +%a)</a:t>
            </a:r>
          </a:p>
          <a:p>
            <a:endParaRPr lang="en-US" dirty="0"/>
          </a:p>
          <a:p>
            <a:r>
              <a:rPr lang="en-US" dirty="0"/>
              <a:t># Check the day using a case statement</a:t>
            </a:r>
          </a:p>
          <a:p>
            <a:r>
              <a:rPr lang="en-US" dirty="0"/>
              <a:t>case "$</a:t>
            </a:r>
            <a:r>
              <a:rPr lang="en-US" dirty="0" err="1"/>
              <a:t>current_day</a:t>
            </a:r>
            <a:r>
              <a:rPr lang="en-US" dirty="0"/>
              <a:t>" in</a:t>
            </a:r>
          </a:p>
          <a:p>
            <a:r>
              <a:rPr lang="en-US" dirty="0"/>
              <a:t>    </a:t>
            </a:r>
            <a:r>
              <a:rPr lang="en-US" dirty="0" err="1"/>
              <a:t>Sat|Sun</a:t>
            </a:r>
            <a:r>
              <a:rPr lang="en-US" dirty="0"/>
              <a:t>)</a:t>
            </a:r>
          </a:p>
          <a:p>
            <a:r>
              <a:rPr lang="en-US" dirty="0"/>
              <a:t>        echo "Weekend"</a:t>
            </a:r>
          </a:p>
          <a:p>
            <a:r>
              <a:rPr lang="en-US" dirty="0"/>
              <a:t>        ;;</a:t>
            </a:r>
          </a:p>
          <a:p>
            <a:r>
              <a:rPr lang="en-US" dirty="0"/>
              <a:t>    *)</a:t>
            </a:r>
          </a:p>
          <a:p>
            <a:r>
              <a:rPr lang="en-US" dirty="0"/>
              <a:t>        echo "Weekday"</a:t>
            </a:r>
          </a:p>
          <a:p>
            <a:r>
              <a:rPr lang="en-US" dirty="0"/>
              <a:t>        ;;</a:t>
            </a:r>
          </a:p>
          <a:p>
            <a:r>
              <a:rPr lang="en-US" dirty="0" err="1"/>
              <a:t>esac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17401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341A6-8A92-701D-7C1C-90718E5E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5631EE-E221-5978-4F06-F80C6810C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6351051"/>
              </p:ext>
            </p:extLst>
          </p:nvPr>
        </p:nvGraphicFramePr>
        <p:xfrm>
          <a:off x="838200" y="1690688"/>
          <a:ext cx="10515600" cy="20726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980380">
                  <a:extLst>
                    <a:ext uri="{9D8B030D-6E8A-4147-A177-3AD203B41FA5}">
                      <a16:colId xmlns:a16="http://schemas.microsoft.com/office/drawing/2014/main" val="2395251163"/>
                    </a:ext>
                  </a:extLst>
                </a:gridCol>
                <a:gridCol w="6535220">
                  <a:extLst>
                    <a:ext uri="{9D8B030D-6E8A-4147-A177-3AD203B41FA5}">
                      <a16:colId xmlns:a16="http://schemas.microsoft.com/office/drawing/2014/main" val="11537294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67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Known number of iterations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524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while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Run till condition is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45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until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Run until condition becomes 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52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72993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BB258-E1D4-C239-742D-B0D27A055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 Syntaxes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8670A-59D9-7565-1019-916EF5D1D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#!/bin/bash</a:t>
            </a:r>
          </a:p>
          <a:p>
            <a:pPr marL="0" indent="0">
              <a:buNone/>
            </a:pPr>
            <a:r>
              <a:rPr lang="en-US" dirty="0"/>
              <a:t># Loops</a:t>
            </a:r>
          </a:p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1 2 3 4 5</a:t>
            </a:r>
          </a:p>
          <a:p>
            <a:pPr marL="0" indent="0">
              <a:buNone/>
            </a:pPr>
            <a:r>
              <a:rPr lang="en-US" dirty="0"/>
              <a:t>do</a:t>
            </a:r>
          </a:p>
          <a:p>
            <a:pPr marL="0" indent="0">
              <a:buNone/>
            </a:pPr>
            <a:r>
              <a:rPr lang="en-US" dirty="0"/>
              <a:t>    echo "Number: $</a:t>
            </a:r>
            <a:r>
              <a:rPr lang="en-US" dirty="0" err="1"/>
              <a:t>i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0" indent="0">
              <a:buNone/>
            </a:pPr>
            <a:r>
              <a:rPr lang="en-US" dirty="0"/>
              <a:t>while [ $</a:t>
            </a:r>
            <a:r>
              <a:rPr lang="en-US" dirty="0" err="1"/>
              <a:t>i</a:t>
            </a:r>
            <a:r>
              <a:rPr lang="en-US" dirty="0"/>
              <a:t> -le 5 ]</a:t>
            </a:r>
          </a:p>
          <a:p>
            <a:pPr marL="0" indent="0">
              <a:buNone/>
            </a:pPr>
            <a:r>
              <a:rPr lang="en-US" dirty="0"/>
              <a:t>do</a:t>
            </a:r>
          </a:p>
          <a:p>
            <a:pPr marL="0" indent="0">
              <a:buNone/>
            </a:pPr>
            <a:r>
              <a:rPr lang="en-US" dirty="0"/>
              <a:t>    echo "Number: $</a:t>
            </a:r>
            <a:r>
              <a:rPr lang="en-US" dirty="0" err="1"/>
              <a:t>i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((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</a:t>
            </a:r>
            <a:r>
              <a:rPr lang="en-US" dirty="0"/>
              <a:t>=1</a:t>
            </a:r>
          </a:p>
          <a:p>
            <a:pPr marL="0" indent="0">
              <a:buNone/>
            </a:pPr>
            <a:r>
              <a:rPr lang="en-US" dirty="0"/>
              <a:t>until [ $</a:t>
            </a:r>
            <a:r>
              <a:rPr lang="en-US" dirty="0" err="1"/>
              <a:t>i</a:t>
            </a:r>
            <a:r>
              <a:rPr lang="en-US" dirty="0"/>
              <a:t> -</a:t>
            </a:r>
            <a:r>
              <a:rPr lang="en-US" dirty="0" err="1"/>
              <a:t>gt</a:t>
            </a:r>
            <a:r>
              <a:rPr lang="en-US" dirty="0"/>
              <a:t> 5 ]</a:t>
            </a:r>
          </a:p>
          <a:p>
            <a:pPr marL="0" indent="0">
              <a:buNone/>
            </a:pPr>
            <a:r>
              <a:rPr lang="en-US" dirty="0"/>
              <a:t>do</a:t>
            </a:r>
          </a:p>
          <a:p>
            <a:pPr marL="0" indent="0">
              <a:buNone/>
            </a:pPr>
            <a:r>
              <a:rPr lang="en-US" dirty="0"/>
              <a:t>    echo "Number: $</a:t>
            </a:r>
            <a:r>
              <a:rPr lang="en-US" dirty="0" err="1"/>
              <a:t>i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((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Another syntax - for loop</a:t>
            </a:r>
          </a:p>
          <a:p>
            <a:pPr marL="0" indent="0">
              <a:buNone/>
            </a:pPr>
            <a:r>
              <a:rPr lang="en-US" dirty="0"/>
              <a:t>for (( 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 &lt;= 10; </a:t>
            </a:r>
            <a:r>
              <a:rPr lang="en-US" dirty="0" err="1"/>
              <a:t>i</a:t>
            </a:r>
            <a:r>
              <a:rPr lang="en-US" dirty="0"/>
              <a:t>++ ))</a:t>
            </a:r>
          </a:p>
          <a:p>
            <a:pPr marL="0" indent="0">
              <a:buNone/>
            </a:pPr>
            <a:r>
              <a:rPr lang="en-US" dirty="0"/>
              <a:t>do</a:t>
            </a:r>
          </a:p>
          <a:p>
            <a:pPr marL="0" indent="0">
              <a:buNone/>
            </a:pPr>
            <a:r>
              <a:rPr lang="en-US" dirty="0"/>
              <a:t>   echo "The next number is $</a:t>
            </a:r>
            <a:r>
              <a:rPr lang="en-US" dirty="0" err="1"/>
              <a:t>i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6314884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72A4-2AB7-5463-585B-52E104D8D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of 10 Student Marks using “for”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ABBF1-19FD-43B4-44BB-06E470B3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/>
              <a:t>echo "Enter marks of 10 students:"</a:t>
            </a:r>
          </a:p>
          <a:p>
            <a:endParaRPr lang="en-US" dirty="0"/>
          </a:p>
          <a:p>
            <a:r>
              <a:rPr lang="en-US" dirty="0"/>
              <a:t>for ((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&lt;=10; 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read -p "Marks $</a:t>
            </a:r>
            <a:r>
              <a:rPr lang="en-US" dirty="0" err="1"/>
              <a:t>i</a:t>
            </a:r>
            <a:r>
              <a:rPr lang="en-US" dirty="0"/>
              <a:t>: " num</a:t>
            </a:r>
          </a:p>
          <a:p>
            <a:r>
              <a:rPr lang="en-US" dirty="0"/>
              <a:t>    sum=$((sum + num))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"The sum of the 10 marks is: $sum"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361802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894ED-FAB5-D843-A99E-CD1ADAA8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FF42-4171-BDE9-22E8-2ADAD6C25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of 10 Student Marks using “while”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481E-8A68-E8D0-4B78-8C7529CE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r>
              <a:rPr lang="en-US" dirty="0"/>
              <a:t>echo "Enter marks of 10 students below ..."</a:t>
            </a:r>
          </a:p>
          <a:p>
            <a:endParaRPr lang="en-US" dirty="0"/>
          </a:p>
          <a:p>
            <a:r>
              <a:rPr lang="en-US" dirty="0"/>
              <a:t>while (( </a:t>
            </a:r>
            <a:r>
              <a:rPr lang="en-US" dirty="0" err="1"/>
              <a:t>i</a:t>
            </a:r>
            <a:r>
              <a:rPr lang="en-US" dirty="0"/>
              <a:t> &lt;= 10 ))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read -p "Marks $</a:t>
            </a:r>
            <a:r>
              <a:rPr lang="en-US" dirty="0" err="1"/>
              <a:t>i</a:t>
            </a:r>
            <a:r>
              <a:rPr lang="en-US" dirty="0"/>
              <a:t>: " num</a:t>
            </a:r>
          </a:p>
          <a:p>
            <a:r>
              <a:rPr lang="en-US" dirty="0"/>
              <a:t>    sum=$((sum + num))</a:t>
            </a:r>
          </a:p>
          <a:p>
            <a:r>
              <a:rPr lang="en-US" dirty="0"/>
              <a:t>    ((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"The sum of the 10 marks is: $sum"</a:t>
            </a:r>
          </a:p>
          <a:p>
            <a:endParaRPr lang="en-US" dirty="0"/>
          </a:p>
          <a:p>
            <a:r>
              <a:rPr lang="en-US" dirty="0"/>
              <a:t>avg=$((sum / 10))</a:t>
            </a:r>
          </a:p>
          <a:p>
            <a:r>
              <a:rPr lang="en-US" dirty="0"/>
              <a:t>echo "The average of the 10 marks is: $avg"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484222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AC860-9B5C-CA5A-10CD-7B4E42607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8AFAC-04B9-37D7-4D60-444F2DD1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 of 10 Student Marks using “while” and “break”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77CDE-3754-8D8C-F462-6B289C2BA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/>
              <a:t>count=0</a:t>
            </a:r>
          </a:p>
          <a:p>
            <a:r>
              <a:rPr lang="en-US" dirty="0"/>
              <a:t>echo "Enter marks below (enter a negative value to stop)..."</a:t>
            </a:r>
          </a:p>
          <a:p>
            <a:endParaRPr lang="en-US" dirty="0"/>
          </a:p>
          <a:p>
            <a:r>
              <a:rPr lang="en-US" dirty="0"/>
              <a:t>while true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read -p "Marks $((count + 1)): " num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if (( num &lt; 0 )); then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fi</a:t>
            </a:r>
          </a:p>
          <a:p>
            <a:endParaRPr lang="en-US" dirty="0"/>
          </a:p>
          <a:p>
            <a:r>
              <a:rPr lang="en-US" dirty="0"/>
              <a:t>    sum=$((sum + num))</a:t>
            </a:r>
          </a:p>
          <a:p>
            <a:r>
              <a:rPr lang="en-US" dirty="0"/>
              <a:t>    ((count++))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if (( count &gt; 0 )); then</a:t>
            </a:r>
          </a:p>
          <a:p>
            <a:r>
              <a:rPr lang="en-US" dirty="0"/>
              <a:t>    echo "The sum of the $count marks is: $sum"</a:t>
            </a:r>
          </a:p>
          <a:p>
            <a:r>
              <a:rPr lang="en-US" dirty="0"/>
              <a:t>    avg=$((sum / count))</a:t>
            </a:r>
          </a:p>
          <a:p>
            <a:r>
              <a:rPr lang="en-US" dirty="0"/>
              <a:t>    echo "The average of the $count marks is: $avg"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"No valid marks were entered."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6471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D117D-FC0F-F86B-2A9C-B317048D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Modify to Count Passed and Failed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9068-E3F0-D17F-FD77-4CB78521E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/>
              <a:t>count=0</a:t>
            </a:r>
          </a:p>
          <a:p>
            <a:r>
              <a:rPr lang="en-US" dirty="0" err="1"/>
              <a:t>pass_count</a:t>
            </a:r>
            <a:r>
              <a:rPr lang="en-US" dirty="0"/>
              <a:t>=0</a:t>
            </a:r>
          </a:p>
          <a:p>
            <a:r>
              <a:rPr lang="en-US" dirty="0" err="1"/>
              <a:t>fail_count</a:t>
            </a:r>
            <a:r>
              <a:rPr lang="en-US" dirty="0"/>
              <a:t>=0</a:t>
            </a:r>
          </a:p>
          <a:p>
            <a:endParaRPr lang="en-US" dirty="0"/>
          </a:p>
          <a:p>
            <a:r>
              <a:rPr lang="en-US" dirty="0"/>
              <a:t>echo "Enter marks (enter a negative value to stop)..."</a:t>
            </a:r>
          </a:p>
          <a:p>
            <a:endParaRPr lang="en-US" dirty="0"/>
          </a:p>
          <a:p>
            <a:r>
              <a:rPr lang="en-US" dirty="0"/>
              <a:t>while true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read -p "Marks $((count + 1)): " num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if (( num &lt; 0 )); then</a:t>
            </a:r>
          </a:p>
          <a:p>
            <a:r>
              <a:rPr lang="en-US" dirty="0"/>
              <a:t>        break</a:t>
            </a:r>
          </a:p>
          <a:p>
            <a:r>
              <a:rPr lang="en-US" dirty="0"/>
              <a:t>    fi</a:t>
            </a:r>
          </a:p>
          <a:p>
            <a:endParaRPr lang="en-US" dirty="0"/>
          </a:p>
          <a:p>
            <a:r>
              <a:rPr lang="en-US" dirty="0"/>
              <a:t>    if (( num &gt;= 35 )); then</a:t>
            </a:r>
          </a:p>
          <a:p>
            <a:r>
              <a:rPr lang="en-US" dirty="0"/>
              <a:t>        ((</a:t>
            </a:r>
            <a:r>
              <a:rPr lang="en-US" dirty="0" err="1"/>
              <a:t>pass_count</a:t>
            </a:r>
            <a:r>
              <a:rPr lang="en-US" dirty="0"/>
              <a:t>++))</a:t>
            </a:r>
          </a:p>
          <a:p>
            <a:r>
              <a:rPr lang="en-US" dirty="0"/>
              <a:t>    else</a:t>
            </a:r>
          </a:p>
          <a:p>
            <a:r>
              <a:rPr lang="en-US" dirty="0"/>
              <a:t>        ((</a:t>
            </a:r>
            <a:r>
              <a:rPr lang="en-US" dirty="0" err="1"/>
              <a:t>fail_count</a:t>
            </a:r>
            <a:r>
              <a:rPr lang="en-US" dirty="0"/>
              <a:t>++))</a:t>
            </a:r>
          </a:p>
          <a:p>
            <a:r>
              <a:rPr lang="en-US" dirty="0"/>
              <a:t>    fi</a:t>
            </a:r>
          </a:p>
          <a:p>
            <a:endParaRPr lang="en-US" dirty="0"/>
          </a:p>
          <a:p>
            <a:r>
              <a:rPr lang="en-US" dirty="0"/>
              <a:t>    sum=$((sum + num))</a:t>
            </a:r>
          </a:p>
          <a:p>
            <a:r>
              <a:rPr lang="en-US" dirty="0"/>
              <a:t>    ((count++))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if (( count &gt; 0 )); then</a:t>
            </a:r>
          </a:p>
          <a:p>
            <a:r>
              <a:rPr lang="en-US" dirty="0"/>
              <a:t>    echo "The sum of the $count marks is: $sum"</a:t>
            </a:r>
          </a:p>
          <a:p>
            <a:r>
              <a:rPr lang="en-US" dirty="0"/>
              <a:t>    avg=$((sum / count))</a:t>
            </a:r>
          </a:p>
          <a:p>
            <a:r>
              <a:rPr lang="en-US" dirty="0"/>
              <a:t>    echo "The average of the $count marks is: $avg"</a:t>
            </a:r>
          </a:p>
          <a:p>
            <a:r>
              <a:rPr lang="en-US" dirty="0"/>
              <a:t>    echo "Passed students (&gt;= 35): $</a:t>
            </a:r>
            <a:r>
              <a:rPr lang="en-US" dirty="0" err="1"/>
              <a:t>pass_count</a:t>
            </a:r>
            <a:r>
              <a:rPr lang="en-US" dirty="0"/>
              <a:t>"</a:t>
            </a:r>
          </a:p>
          <a:p>
            <a:r>
              <a:rPr lang="en-US" dirty="0"/>
              <a:t>    echo "Failed students (&lt; 35): $</a:t>
            </a:r>
            <a:r>
              <a:rPr lang="en-US" dirty="0" err="1"/>
              <a:t>fail_count</a:t>
            </a:r>
            <a:r>
              <a:rPr lang="en-US" dirty="0"/>
              <a:t>"</a:t>
            </a:r>
          </a:p>
          <a:p>
            <a:r>
              <a:rPr lang="en-US" dirty="0"/>
              <a:t>else</a:t>
            </a:r>
          </a:p>
          <a:p>
            <a:r>
              <a:rPr lang="en-US" dirty="0"/>
              <a:t>    echo "No valid marks entered."</a:t>
            </a:r>
          </a:p>
          <a:p>
            <a:r>
              <a:rPr lang="en-US" dirty="0"/>
              <a:t>fi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78791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2EEB-62FF-375D-0F03-B529FB418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Modify to Find Maximum and Minimum 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DAB72-BE3E-FD5C-FD89-5CEF05240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sum=0</a:t>
            </a:r>
          </a:p>
          <a:p>
            <a:r>
              <a:rPr lang="en-IN" dirty="0"/>
              <a:t>count=0</a:t>
            </a:r>
          </a:p>
          <a:p>
            <a:r>
              <a:rPr lang="en-IN" dirty="0" err="1"/>
              <a:t>pass_count</a:t>
            </a:r>
            <a:r>
              <a:rPr lang="en-IN" dirty="0"/>
              <a:t>=0</a:t>
            </a:r>
          </a:p>
          <a:p>
            <a:r>
              <a:rPr lang="en-IN" dirty="0" err="1"/>
              <a:t>fail_count</a:t>
            </a:r>
            <a:r>
              <a:rPr lang="en-IN" dirty="0"/>
              <a:t>=0</a:t>
            </a:r>
          </a:p>
          <a:p>
            <a:r>
              <a:rPr lang="en-IN" dirty="0"/>
              <a:t>max=0</a:t>
            </a:r>
          </a:p>
          <a:p>
            <a:r>
              <a:rPr lang="en-IN" dirty="0"/>
              <a:t>min=0</a:t>
            </a:r>
          </a:p>
          <a:p>
            <a:endParaRPr lang="en-IN" dirty="0"/>
          </a:p>
          <a:p>
            <a:r>
              <a:rPr lang="en-IN" dirty="0"/>
              <a:t>echo "Enter marks (enter a negative value to stop)..."</a:t>
            </a:r>
          </a:p>
          <a:p>
            <a:endParaRPr lang="en-IN" dirty="0"/>
          </a:p>
          <a:p>
            <a:r>
              <a:rPr lang="en-IN" dirty="0"/>
              <a:t>while true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read -p "Marks $((count + 1)): " 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</a:t>
            </a:r>
          </a:p>
          <a:p>
            <a:r>
              <a:rPr lang="en-IN" dirty="0"/>
              <a:t>    if (( </a:t>
            </a:r>
            <a:r>
              <a:rPr lang="en-IN" dirty="0" err="1"/>
              <a:t>num</a:t>
            </a:r>
            <a:r>
              <a:rPr lang="en-IN" dirty="0"/>
              <a:t> &lt; 0 )); then</a:t>
            </a:r>
          </a:p>
          <a:p>
            <a:r>
              <a:rPr lang="en-IN" dirty="0"/>
              <a:t>        break</a:t>
            </a:r>
          </a:p>
          <a:p>
            <a:r>
              <a:rPr lang="en-IN" dirty="0"/>
              <a:t>    fi</a:t>
            </a:r>
          </a:p>
          <a:p>
            <a:endParaRPr lang="en-IN" dirty="0"/>
          </a:p>
          <a:p>
            <a:r>
              <a:rPr lang="en-IN" dirty="0"/>
              <a:t>    if (( </a:t>
            </a:r>
            <a:r>
              <a:rPr lang="en-IN" dirty="0" err="1"/>
              <a:t>num</a:t>
            </a:r>
            <a:r>
              <a:rPr lang="en-IN" dirty="0"/>
              <a:t> &gt;= 35 )); then</a:t>
            </a:r>
          </a:p>
          <a:p>
            <a:r>
              <a:rPr lang="en-IN" dirty="0"/>
              <a:t>        ((</a:t>
            </a:r>
            <a:r>
              <a:rPr lang="en-IN" dirty="0" err="1"/>
              <a:t>pass_count</a:t>
            </a:r>
            <a:r>
              <a:rPr lang="en-IN" dirty="0"/>
              <a:t>++))</a:t>
            </a:r>
          </a:p>
          <a:p>
            <a:r>
              <a:rPr lang="en-IN" dirty="0"/>
              <a:t>    else</a:t>
            </a:r>
          </a:p>
          <a:p>
            <a:r>
              <a:rPr lang="en-IN" dirty="0"/>
              <a:t>        ((</a:t>
            </a:r>
            <a:r>
              <a:rPr lang="en-IN" dirty="0" err="1"/>
              <a:t>fail_count</a:t>
            </a:r>
            <a:r>
              <a:rPr lang="en-IN" dirty="0"/>
              <a:t>++))</a:t>
            </a:r>
          </a:p>
          <a:p>
            <a:r>
              <a:rPr lang="en-IN" dirty="0"/>
              <a:t>    fi</a:t>
            </a:r>
          </a:p>
          <a:p>
            <a:endParaRPr lang="en-IN" dirty="0"/>
          </a:p>
          <a:p>
            <a:r>
              <a:rPr lang="en-IN" dirty="0"/>
              <a:t>    if (( count == 0 )); then</a:t>
            </a:r>
          </a:p>
          <a:p>
            <a:r>
              <a:rPr lang="en-IN" dirty="0"/>
              <a:t>        max=$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    min=$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else</a:t>
            </a:r>
          </a:p>
          <a:p>
            <a:r>
              <a:rPr lang="en-IN" dirty="0"/>
              <a:t>        if (( </a:t>
            </a:r>
            <a:r>
              <a:rPr lang="en-IN" dirty="0" err="1"/>
              <a:t>num</a:t>
            </a:r>
            <a:r>
              <a:rPr lang="en-IN" dirty="0"/>
              <a:t> &gt; max )); then</a:t>
            </a:r>
          </a:p>
          <a:p>
            <a:r>
              <a:rPr lang="en-IN" dirty="0"/>
              <a:t>            max=$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    fi</a:t>
            </a:r>
          </a:p>
          <a:p>
            <a:r>
              <a:rPr lang="en-IN" dirty="0"/>
              <a:t>        if (( </a:t>
            </a:r>
            <a:r>
              <a:rPr lang="en-IN" dirty="0" err="1"/>
              <a:t>num</a:t>
            </a:r>
            <a:r>
              <a:rPr lang="en-IN" dirty="0"/>
              <a:t> &lt; min )); then</a:t>
            </a:r>
          </a:p>
          <a:p>
            <a:r>
              <a:rPr lang="en-IN" dirty="0"/>
              <a:t>            min=$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    fi</a:t>
            </a:r>
          </a:p>
          <a:p>
            <a:r>
              <a:rPr lang="en-IN" dirty="0"/>
              <a:t>    fi</a:t>
            </a:r>
          </a:p>
          <a:p>
            <a:endParaRPr lang="en-IN" dirty="0"/>
          </a:p>
          <a:p>
            <a:r>
              <a:rPr lang="en-IN" dirty="0"/>
              <a:t>    sum=$((sum + </a:t>
            </a:r>
            <a:r>
              <a:rPr lang="en-IN" dirty="0" err="1"/>
              <a:t>num</a:t>
            </a:r>
            <a:r>
              <a:rPr lang="en-IN" dirty="0"/>
              <a:t>))</a:t>
            </a:r>
          </a:p>
          <a:p>
            <a:r>
              <a:rPr lang="en-IN" dirty="0"/>
              <a:t>    ((count++))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if (( count &gt; 0 )); then</a:t>
            </a:r>
          </a:p>
          <a:p>
            <a:r>
              <a:rPr lang="en-IN" dirty="0"/>
              <a:t>    echo "The sum of the $count marks is: $sum"</a:t>
            </a:r>
          </a:p>
          <a:p>
            <a:r>
              <a:rPr lang="en-IN" dirty="0"/>
              <a:t>    </a:t>
            </a:r>
            <a:r>
              <a:rPr lang="en-IN" dirty="0" err="1"/>
              <a:t>avg</a:t>
            </a:r>
            <a:r>
              <a:rPr lang="en-IN" dirty="0"/>
              <a:t>=$((sum / count))</a:t>
            </a:r>
          </a:p>
          <a:p>
            <a:r>
              <a:rPr lang="en-IN" dirty="0"/>
              <a:t>    echo "The average of the $count marks is: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r>
              <a:rPr lang="en-IN" dirty="0"/>
              <a:t>    echo "Passed students (&gt;= 35): $</a:t>
            </a:r>
            <a:r>
              <a:rPr lang="en-IN" dirty="0" err="1"/>
              <a:t>pass_count</a:t>
            </a:r>
            <a:r>
              <a:rPr lang="en-IN" dirty="0"/>
              <a:t>"</a:t>
            </a:r>
          </a:p>
          <a:p>
            <a:r>
              <a:rPr lang="en-IN" dirty="0"/>
              <a:t>    echo "Failed students (&lt; 35): $</a:t>
            </a:r>
            <a:r>
              <a:rPr lang="en-IN" dirty="0" err="1"/>
              <a:t>fail_count</a:t>
            </a:r>
            <a:r>
              <a:rPr lang="en-IN" dirty="0"/>
              <a:t>"</a:t>
            </a:r>
          </a:p>
          <a:p>
            <a:r>
              <a:rPr lang="en-IN" dirty="0"/>
              <a:t>    echo "Maximum marks: $max"</a:t>
            </a:r>
          </a:p>
          <a:p>
            <a:r>
              <a:rPr lang="en-IN" dirty="0"/>
              <a:t>    echo "Minimum marks: $min"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"No valid marks entered."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32287257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8F48F-5971-8038-0679-32173DF5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1239-8676-5BDF-095B-350F8CEA8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a non-negative integer: " num</a:t>
            </a:r>
          </a:p>
          <a:p>
            <a:endParaRPr lang="en-US" dirty="0"/>
          </a:p>
          <a:p>
            <a:r>
              <a:rPr lang="en-US" dirty="0"/>
              <a:t>fact=1</a:t>
            </a:r>
          </a:p>
          <a:p>
            <a:endParaRPr lang="en-US" dirty="0"/>
          </a:p>
          <a:p>
            <a:r>
              <a:rPr lang="en-US" dirty="0"/>
              <a:t>for (( 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&lt;=num; </a:t>
            </a:r>
            <a:r>
              <a:rPr lang="en-US" dirty="0" err="1"/>
              <a:t>i</a:t>
            </a:r>
            <a:r>
              <a:rPr lang="en-US" dirty="0"/>
              <a:t>++ ))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fact=$((fact * </a:t>
            </a:r>
            <a:r>
              <a:rPr lang="en-US" dirty="0" err="1"/>
              <a:t>i</a:t>
            </a:r>
            <a:r>
              <a:rPr lang="en-US" dirty="0"/>
              <a:t>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"Factorial of $num = $fact"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75395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05E8-A9E1-9523-C697-7280B45A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the Digits of an Integer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0321F-C69B-A511-5AC2-B7B596B49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an integer: " </a:t>
            </a:r>
            <a:r>
              <a:rPr lang="en-IN" dirty="0" err="1"/>
              <a:t>num</a:t>
            </a:r>
            <a:endParaRPr lang="en-IN" dirty="0"/>
          </a:p>
          <a:p>
            <a:endParaRPr lang="en-IN" dirty="0"/>
          </a:p>
          <a:p>
            <a:r>
              <a:rPr lang="en-IN" dirty="0"/>
              <a:t>rev=0</a:t>
            </a:r>
          </a:p>
          <a:p>
            <a:r>
              <a:rPr lang="en-IN" dirty="0"/>
              <a:t>temp=$</a:t>
            </a:r>
            <a:r>
              <a:rPr lang="en-IN" dirty="0" err="1"/>
              <a:t>num</a:t>
            </a:r>
            <a:endParaRPr lang="en-IN" dirty="0"/>
          </a:p>
          <a:p>
            <a:endParaRPr lang="en-IN" dirty="0"/>
          </a:p>
          <a:p>
            <a:r>
              <a:rPr lang="en-IN" dirty="0"/>
              <a:t>while [ $temp -ne 0 ]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remainder=$(( temp % 10 ))</a:t>
            </a:r>
          </a:p>
          <a:p>
            <a:r>
              <a:rPr lang="en-IN" dirty="0"/>
              <a:t>    rev=$(( rev * 10 + remainder ))</a:t>
            </a:r>
          </a:p>
          <a:p>
            <a:r>
              <a:rPr lang="en-IN" dirty="0"/>
              <a:t>    temp=$(( temp / 10 ))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echo "Reversed of $</a:t>
            </a:r>
            <a:r>
              <a:rPr lang="en-IN" dirty="0" err="1"/>
              <a:t>num</a:t>
            </a:r>
            <a:r>
              <a:rPr lang="en-IN" dirty="0"/>
              <a:t> = $rev"</a:t>
            </a:r>
          </a:p>
        </p:txBody>
      </p:sp>
    </p:spTree>
    <p:extLst>
      <p:ext uri="{BB962C8B-B14F-4D97-AF65-F5344CB8AC3E}">
        <p14:creationId xmlns:p14="http://schemas.microsoft.com/office/powerpoint/2010/main" val="409866096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C183C-CD6F-6393-4591-D15C626D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 Examples – Add All Even Numbers from  to 100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FA3D-3551-B333-8481-7006BA210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sum=0</a:t>
            </a:r>
          </a:p>
          <a:p>
            <a:endParaRPr lang="en-IN" dirty="0"/>
          </a:p>
          <a:p>
            <a:r>
              <a:rPr lang="en-IN" dirty="0"/>
              <a:t>for ((</a:t>
            </a:r>
            <a:r>
              <a:rPr lang="en-IN" dirty="0" err="1"/>
              <a:t>i</a:t>
            </a:r>
            <a:r>
              <a:rPr lang="en-IN" dirty="0"/>
              <a:t>=2; </a:t>
            </a:r>
            <a:r>
              <a:rPr lang="en-IN" dirty="0" err="1"/>
              <a:t>i</a:t>
            </a:r>
            <a:r>
              <a:rPr lang="en-IN" dirty="0"/>
              <a:t>&lt;=100; </a:t>
            </a:r>
            <a:r>
              <a:rPr lang="en-IN" dirty="0" err="1"/>
              <a:t>i</a:t>
            </a:r>
            <a:r>
              <a:rPr lang="en-IN" dirty="0"/>
              <a:t>+=2))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sum=$((sum + </a:t>
            </a:r>
            <a:r>
              <a:rPr lang="en-IN" dirty="0" err="1"/>
              <a:t>i</a:t>
            </a:r>
            <a:r>
              <a:rPr lang="en-IN" dirty="0"/>
              <a:t>))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echo "Sum (for loop) = $sum“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sum=0</a:t>
            </a:r>
          </a:p>
          <a:p>
            <a:r>
              <a:rPr lang="en-IN" dirty="0" err="1"/>
              <a:t>i</a:t>
            </a:r>
            <a:r>
              <a:rPr lang="en-IN" dirty="0"/>
              <a:t>=2</a:t>
            </a:r>
          </a:p>
          <a:p>
            <a:endParaRPr lang="en-IN" dirty="0"/>
          </a:p>
          <a:p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-le 100 ]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sum=$((sum + </a:t>
            </a:r>
            <a:r>
              <a:rPr lang="en-IN" dirty="0" err="1"/>
              <a:t>i</a:t>
            </a:r>
            <a:r>
              <a:rPr lang="en-IN" dirty="0"/>
              <a:t>))</a:t>
            </a:r>
          </a:p>
          <a:p>
            <a:r>
              <a:rPr lang="en-IN" dirty="0"/>
              <a:t>    ((</a:t>
            </a:r>
            <a:r>
              <a:rPr lang="en-IN" dirty="0" err="1"/>
              <a:t>i</a:t>
            </a:r>
            <a:r>
              <a:rPr lang="en-IN" dirty="0"/>
              <a:t>+=2))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echo "Sum (while loop) = $sum“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sum=0</a:t>
            </a:r>
          </a:p>
          <a:p>
            <a:r>
              <a:rPr lang="en-IN" dirty="0" err="1"/>
              <a:t>i</a:t>
            </a:r>
            <a:r>
              <a:rPr lang="en-IN" dirty="0"/>
              <a:t>=2</a:t>
            </a:r>
          </a:p>
          <a:p>
            <a:endParaRPr lang="en-IN" dirty="0"/>
          </a:p>
          <a:p>
            <a:r>
              <a:rPr lang="en-IN" dirty="0"/>
              <a:t>until [ $</a:t>
            </a:r>
            <a:r>
              <a:rPr lang="en-IN" dirty="0" err="1"/>
              <a:t>i</a:t>
            </a:r>
            <a:r>
              <a:rPr lang="en-IN" dirty="0"/>
              <a:t> -</a:t>
            </a:r>
            <a:r>
              <a:rPr lang="en-IN" dirty="0" err="1"/>
              <a:t>gt</a:t>
            </a:r>
            <a:r>
              <a:rPr lang="en-IN" dirty="0"/>
              <a:t> 100 ]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sum=$((sum + </a:t>
            </a:r>
            <a:r>
              <a:rPr lang="en-IN" dirty="0" err="1"/>
              <a:t>i</a:t>
            </a:r>
            <a:r>
              <a:rPr lang="en-IN" dirty="0"/>
              <a:t>))</a:t>
            </a:r>
          </a:p>
          <a:p>
            <a:r>
              <a:rPr lang="en-IN" dirty="0"/>
              <a:t>    ((</a:t>
            </a:r>
            <a:r>
              <a:rPr lang="en-IN" dirty="0" err="1"/>
              <a:t>i</a:t>
            </a:r>
            <a:r>
              <a:rPr lang="en-IN" dirty="0"/>
              <a:t>+=2))</a:t>
            </a:r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echo "Sum (until loop) = $sum"</a:t>
            </a:r>
          </a:p>
        </p:txBody>
      </p:sp>
    </p:spTree>
    <p:extLst>
      <p:ext uri="{BB962C8B-B14F-4D97-AF65-F5344CB8AC3E}">
        <p14:creationId xmlns:p14="http://schemas.microsoft.com/office/powerpoint/2010/main" val="423634393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8C88E9-C427-7B57-7447-37A6361D3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3226307"/>
              </p:ext>
            </p:extLst>
          </p:nvPr>
        </p:nvGraphicFramePr>
        <p:xfrm>
          <a:off x="373294" y="479711"/>
          <a:ext cx="11445411" cy="574225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76971">
                  <a:extLst>
                    <a:ext uri="{9D8B030D-6E8A-4147-A177-3AD203B41FA5}">
                      <a16:colId xmlns:a16="http://schemas.microsoft.com/office/drawing/2014/main" val="2798573392"/>
                    </a:ext>
                  </a:extLst>
                </a:gridCol>
                <a:gridCol w="10468440">
                  <a:extLst>
                    <a:ext uri="{9D8B030D-6E8A-4147-A177-3AD203B41FA5}">
                      <a16:colId xmlns:a16="http://schemas.microsoft.com/office/drawing/2014/main" val="2857069306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Exercise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46682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print numbers from 1 to 10 using a for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44464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Write a shell script to print numbers from 10 to 1 using a while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363224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display the multiplication table of 5 using a for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474708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find the sum of numbers from 1 to 10 using a while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581393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print all even numbers from 1 to 20 using a for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91815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count how many numbers are there from 1 to 15 using a while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617249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print the squares of numbers from 1 to 10 using a for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7849168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display each character of the word LINUX one by one using a while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99376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9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Write a shell script to calculate the factorial of 5 using a for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9588381"/>
                  </a:ext>
                </a:extLst>
              </a:tr>
              <a:tr h="5651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Write a shell script to print numbers from 1 to 20 and stop when the number becomes 12 using a while loop.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839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77245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D6BF-2839-4B24-D146-942383C7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6A99F-2C5D-CFAD-8BA9-18E9F8A4D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1"/>
            <a:r>
              <a:rPr lang="en-IN" dirty="0"/>
              <a:t>#!/bin/bash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1: Print 1 to 10 using for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1 2 3 4 5 6 7 8 9 10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$</a:t>
            </a:r>
            <a:r>
              <a:rPr lang="en-IN" dirty="0" err="1"/>
              <a:t>i</a:t>
            </a:r>
            <a:endParaRPr lang="en-IN" dirty="0"/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2: Print 10 to 1 using while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 err="1"/>
              <a:t>i</a:t>
            </a:r>
            <a:r>
              <a:rPr lang="en-IN" dirty="0"/>
              <a:t>=10</a:t>
            </a:r>
          </a:p>
          <a:p>
            <a:pPr lvl="1"/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</a:t>
            </a:r>
            <a:r>
              <a:rPr lang="en-IN" dirty="0" err="1"/>
              <a:t>ge</a:t>
            </a:r>
            <a:r>
              <a:rPr lang="en-IN" dirty="0"/>
              <a:t> 1 ]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$</a:t>
            </a:r>
            <a:r>
              <a:rPr lang="en-IN" dirty="0" err="1"/>
              <a:t>i</a:t>
            </a:r>
            <a:endParaRPr lang="en-IN" dirty="0"/>
          </a:p>
          <a:p>
            <a:pPr lvl="1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=$((</a:t>
            </a:r>
            <a:r>
              <a:rPr lang="en-IN" dirty="0" err="1"/>
              <a:t>i</a:t>
            </a:r>
            <a:r>
              <a:rPr lang="en-IN" dirty="0"/>
              <a:t> - 1))</a:t>
            </a:r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3: Multiplication table of 5 using for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1 2 3 4 5 6 7 8 9 10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"5 x $</a:t>
            </a:r>
            <a:r>
              <a:rPr lang="en-IN" dirty="0" err="1"/>
              <a:t>i</a:t>
            </a:r>
            <a:r>
              <a:rPr lang="en-IN" dirty="0"/>
              <a:t> = $((5 * </a:t>
            </a:r>
            <a:r>
              <a:rPr lang="en-IN" dirty="0" err="1"/>
              <a:t>i</a:t>
            </a:r>
            <a:r>
              <a:rPr lang="en-IN" dirty="0"/>
              <a:t>))"</a:t>
            </a:r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4: Sum of numbers from 1 to 10 using while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 err="1"/>
              <a:t>i</a:t>
            </a:r>
            <a:r>
              <a:rPr lang="en-IN" dirty="0"/>
              <a:t>=1</a:t>
            </a:r>
          </a:p>
          <a:p>
            <a:pPr lvl="1"/>
            <a:r>
              <a:rPr lang="en-IN" dirty="0"/>
              <a:t>sum=0</a:t>
            </a:r>
          </a:p>
          <a:p>
            <a:pPr lvl="1"/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-le 10 ]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sum=$((sum + </a:t>
            </a:r>
            <a:r>
              <a:rPr lang="en-IN" dirty="0" err="1"/>
              <a:t>i</a:t>
            </a:r>
            <a:r>
              <a:rPr lang="en-IN" dirty="0"/>
              <a:t>))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=$((</a:t>
            </a:r>
            <a:r>
              <a:rPr lang="en-IN" dirty="0" err="1"/>
              <a:t>i</a:t>
            </a:r>
            <a:r>
              <a:rPr lang="en-IN" dirty="0"/>
              <a:t> + 1))</a:t>
            </a:r>
          </a:p>
          <a:p>
            <a:pPr lvl="1"/>
            <a:r>
              <a:rPr lang="en-IN" dirty="0"/>
              <a:t>done</a:t>
            </a:r>
          </a:p>
          <a:p>
            <a:pPr lvl="1"/>
            <a:r>
              <a:rPr lang="en-IN" dirty="0"/>
              <a:t>echo "Sum = $sum"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5: Even numbers from 1 to 20 using for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2 4 6 8 10 12 14 16 18 20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$</a:t>
            </a:r>
            <a:r>
              <a:rPr lang="en-IN" dirty="0" err="1"/>
              <a:t>i</a:t>
            </a:r>
            <a:endParaRPr lang="en-IN" dirty="0"/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6: Count numbers from 1 to 15 using while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 err="1"/>
              <a:t>i</a:t>
            </a:r>
            <a:r>
              <a:rPr lang="en-IN" dirty="0"/>
              <a:t>=1</a:t>
            </a:r>
          </a:p>
          <a:p>
            <a:pPr lvl="1"/>
            <a:r>
              <a:rPr lang="en-IN" dirty="0"/>
              <a:t>count=0</a:t>
            </a:r>
          </a:p>
          <a:p>
            <a:pPr lvl="1"/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-le 15 ]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count=$((count + 1))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=$((</a:t>
            </a:r>
            <a:r>
              <a:rPr lang="en-IN" dirty="0" err="1"/>
              <a:t>i</a:t>
            </a:r>
            <a:r>
              <a:rPr lang="en-IN" dirty="0"/>
              <a:t> + 1))</a:t>
            </a:r>
          </a:p>
          <a:p>
            <a:pPr lvl="1"/>
            <a:r>
              <a:rPr lang="en-IN" dirty="0"/>
              <a:t>done</a:t>
            </a:r>
          </a:p>
          <a:p>
            <a:pPr lvl="1"/>
            <a:r>
              <a:rPr lang="en-IN" dirty="0"/>
              <a:t>echo "Count = $count"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7: Squares of numbers from 1 to 10 using for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1 2 3 4 5 6 7 8 9 10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"$</a:t>
            </a:r>
            <a:r>
              <a:rPr lang="en-IN" dirty="0" err="1"/>
              <a:t>i</a:t>
            </a:r>
            <a:r>
              <a:rPr lang="en-IN" dirty="0"/>
              <a:t> squared = $((</a:t>
            </a:r>
            <a:r>
              <a:rPr lang="en-IN" dirty="0" err="1"/>
              <a:t>i</a:t>
            </a:r>
            <a:r>
              <a:rPr lang="en-IN" dirty="0"/>
              <a:t> * </a:t>
            </a:r>
            <a:r>
              <a:rPr lang="en-IN" dirty="0" err="1"/>
              <a:t>i</a:t>
            </a:r>
            <a:r>
              <a:rPr lang="en-IN" dirty="0"/>
              <a:t>))"</a:t>
            </a:r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8: Display each character of LINUX using while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word="LINUX"</a:t>
            </a:r>
          </a:p>
          <a:p>
            <a:pPr lvl="1"/>
            <a:r>
              <a:rPr lang="en-IN" dirty="0" err="1"/>
              <a:t>i</a:t>
            </a:r>
            <a:r>
              <a:rPr lang="en-IN" dirty="0"/>
              <a:t>=0</a:t>
            </a:r>
          </a:p>
          <a:p>
            <a:pPr lvl="1"/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</a:t>
            </a:r>
            <a:r>
              <a:rPr lang="en-IN" dirty="0" err="1"/>
              <a:t>lt</a:t>
            </a:r>
            <a:r>
              <a:rPr lang="en-IN" dirty="0"/>
              <a:t> 5 ]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"${word:$i:1}"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=$((</a:t>
            </a:r>
            <a:r>
              <a:rPr lang="en-IN" dirty="0" err="1"/>
              <a:t>i</a:t>
            </a:r>
            <a:r>
              <a:rPr lang="en-IN" dirty="0"/>
              <a:t> + 1))</a:t>
            </a:r>
          </a:p>
          <a:p>
            <a:pPr lvl="1"/>
            <a:r>
              <a:rPr lang="en-IN" dirty="0"/>
              <a:t>done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9: Factorial of 5 using for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fact=1</a:t>
            </a:r>
          </a:p>
          <a:p>
            <a:pPr lvl="1"/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1 2 3 4 5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fact=$((fact * </a:t>
            </a:r>
            <a:r>
              <a:rPr lang="en-IN" dirty="0" err="1"/>
              <a:t>i</a:t>
            </a:r>
            <a:r>
              <a:rPr lang="en-IN" dirty="0"/>
              <a:t>))</a:t>
            </a:r>
          </a:p>
          <a:p>
            <a:pPr lvl="1"/>
            <a:r>
              <a:rPr lang="en-IN" dirty="0"/>
              <a:t>done</a:t>
            </a:r>
          </a:p>
          <a:p>
            <a:pPr lvl="1"/>
            <a:r>
              <a:rPr lang="en-IN" dirty="0"/>
              <a:t>echo "Factorial of 5 = $fact"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echo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/>
              <a:t>echo "Solution 10: Print 1 to 20, stop at 12 using while loop"</a:t>
            </a:r>
          </a:p>
          <a:p>
            <a:pPr lvl="1"/>
            <a:r>
              <a:rPr lang="en-IN" dirty="0"/>
              <a:t>echo "-------------------------------"</a:t>
            </a:r>
          </a:p>
          <a:p>
            <a:pPr lvl="1"/>
            <a:r>
              <a:rPr lang="en-IN" dirty="0" err="1"/>
              <a:t>i</a:t>
            </a:r>
            <a:r>
              <a:rPr lang="en-IN" dirty="0"/>
              <a:t>=1</a:t>
            </a:r>
          </a:p>
          <a:p>
            <a:pPr lvl="1"/>
            <a:r>
              <a:rPr lang="en-IN" dirty="0"/>
              <a:t>while [ $</a:t>
            </a:r>
            <a:r>
              <a:rPr lang="en-IN" dirty="0" err="1"/>
              <a:t>i</a:t>
            </a:r>
            <a:r>
              <a:rPr lang="en-IN" dirty="0"/>
              <a:t> -le 20 ]</a:t>
            </a:r>
          </a:p>
          <a:p>
            <a:pPr lvl="1"/>
            <a:r>
              <a:rPr lang="en-IN" dirty="0"/>
              <a:t>do</a:t>
            </a:r>
          </a:p>
          <a:p>
            <a:pPr lvl="1"/>
            <a:r>
              <a:rPr lang="en-IN" dirty="0"/>
              <a:t>    echo $</a:t>
            </a:r>
            <a:r>
              <a:rPr lang="en-IN" dirty="0" err="1"/>
              <a:t>i</a:t>
            </a:r>
            <a:endParaRPr lang="en-IN" dirty="0"/>
          </a:p>
          <a:p>
            <a:pPr lvl="1"/>
            <a:r>
              <a:rPr lang="en-IN" dirty="0"/>
              <a:t>    if [ $</a:t>
            </a:r>
            <a:r>
              <a:rPr lang="en-IN" dirty="0" err="1"/>
              <a:t>i</a:t>
            </a:r>
            <a:r>
              <a:rPr lang="en-IN" dirty="0"/>
              <a:t> -</a:t>
            </a:r>
            <a:r>
              <a:rPr lang="en-IN" dirty="0" err="1"/>
              <a:t>eq</a:t>
            </a:r>
            <a:r>
              <a:rPr lang="en-IN" dirty="0"/>
              <a:t> 12 ]</a:t>
            </a:r>
          </a:p>
          <a:p>
            <a:pPr lvl="1"/>
            <a:r>
              <a:rPr lang="en-IN" dirty="0"/>
              <a:t>    then</a:t>
            </a:r>
          </a:p>
          <a:p>
            <a:pPr lvl="1"/>
            <a:r>
              <a:rPr lang="en-IN" dirty="0"/>
              <a:t>        break</a:t>
            </a:r>
          </a:p>
          <a:p>
            <a:pPr lvl="1"/>
            <a:r>
              <a:rPr lang="en-IN" dirty="0"/>
              <a:t>    fi</a:t>
            </a:r>
          </a:p>
          <a:p>
            <a:pPr lvl="1"/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=$((</a:t>
            </a:r>
            <a:r>
              <a:rPr lang="en-IN" dirty="0" err="1"/>
              <a:t>i</a:t>
            </a:r>
            <a:r>
              <a:rPr lang="en-IN" dirty="0"/>
              <a:t> + 1))</a:t>
            </a:r>
          </a:p>
          <a:p>
            <a:pPr lvl="1"/>
            <a:r>
              <a:rPr lang="en-IN" dirty="0"/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8693180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7F9EF-7B45-066F-F2B2-91E9BE7E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Same Example, Added 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95D90-1A7E-9B40-7FFC-2DCEBB882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sum=0</a:t>
            </a:r>
          </a:p>
          <a:p>
            <a:endParaRPr lang="en-US" dirty="0"/>
          </a:p>
          <a:p>
            <a:r>
              <a:rPr lang="en-US" dirty="0"/>
              <a:t>for ((</a:t>
            </a:r>
            <a:r>
              <a:rPr lang="en-US" dirty="0" err="1"/>
              <a:t>i</a:t>
            </a:r>
            <a:r>
              <a:rPr lang="en-US" dirty="0"/>
              <a:t>=1; </a:t>
            </a:r>
            <a:r>
              <a:rPr lang="en-US" dirty="0" err="1"/>
              <a:t>i</a:t>
            </a:r>
            <a:r>
              <a:rPr lang="en-US" dirty="0"/>
              <a:t>&lt;=100; 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if ((</a:t>
            </a:r>
            <a:r>
              <a:rPr lang="en-US" dirty="0" err="1"/>
              <a:t>i</a:t>
            </a:r>
            <a:r>
              <a:rPr lang="en-US" dirty="0"/>
              <a:t> % 2 == 0))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sum=$((sum + </a:t>
            </a:r>
            <a:r>
              <a:rPr lang="en-US" dirty="0" err="1"/>
              <a:t>i</a:t>
            </a:r>
            <a:r>
              <a:rPr lang="en-US" dirty="0"/>
              <a:t>))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"Sum (for loop) = $sum“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endParaRPr lang="en-US" dirty="0"/>
          </a:p>
          <a:p>
            <a:r>
              <a:rPr lang="en-US" dirty="0"/>
              <a:t>while [ $</a:t>
            </a:r>
            <a:r>
              <a:rPr lang="en-US" dirty="0" err="1"/>
              <a:t>i</a:t>
            </a:r>
            <a:r>
              <a:rPr lang="en-US" dirty="0"/>
              <a:t> -le 100 ]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if ((</a:t>
            </a:r>
            <a:r>
              <a:rPr lang="en-US" dirty="0" err="1"/>
              <a:t>i</a:t>
            </a:r>
            <a:r>
              <a:rPr lang="en-US" dirty="0"/>
              <a:t> % 2 == 0))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sum=$((sum + </a:t>
            </a:r>
            <a:r>
              <a:rPr lang="en-US" dirty="0" err="1"/>
              <a:t>i</a:t>
            </a:r>
            <a:r>
              <a:rPr lang="en-US" dirty="0"/>
              <a:t>))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    ((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"Sum (while loop) = $sum“</a:t>
            </a:r>
          </a:p>
          <a:p>
            <a:endParaRPr lang="en-US" dirty="0"/>
          </a:p>
          <a:p>
            <a:r>
              <a:rPr lang="en-US" dirty="0"/>
              <a:t>sum=0</a:t>
            </a:r>
          </a:p>
          <a:p>
            <a:r>
              <a:rPr lang="en-US" dirty="0" err="1"/>
              <a:t>i</a:t>
            </a:r>
            <a:r>
              <a:rPr lang="en-US" dirty="0"/>
              <a:t>=1</a:t>
            </a:r>
          </a:p>
          <a:p>
            <a:endParaRPr lang="en-US" dirty="0"/>
          </a:p>
          <a:p>
            <a:r>
              <a:rPr lang="en-US" dirty="0"/>
              <a:t>until [ $</a:t>
            </a:r>
            <a:r>
              <a:rPr lang="en-US" dirty="0" err="1"/>
              <a:t>i</a:t>
            </a:r>
            <a:r>
              <a:rPr lang="en-US" dirty="0"/>
              <a:t> -</a:t>
            </a:r>
            <a:r>
              <a:rPr lang="en-US" dirty="0" err="1"/>
              <a:t>gt</a:t>
            </a:r>
            <a:r>
              <a:rPr lang="en-US" dirty="0"/>
              <a:t> 100 ]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if ((</a:t>
            </a:r>
            <a:r>
              <a:rPr lang="en-US" dirty="0" err="1"/>
              <a:t>i</a:t>
            </a:r>
            <a:r>
              <a:rPr lang="en-US" dirty="0"/>
              <a:t> % 2 == 0))</a:t>
            </a:r>
          </a:p>
          <a:p>
            <a:r>
              <a:rPr lang="en-US" dirty="0"/>
              <a:t>    then</a:t>
            </a:r>
          </a:p>
          <a:p>
            <a:r>
              <a:rPr lang="en-US" dirty="0"/>
              <a:t>        sum=$((sum + </a:t>
            </a:r>
            <a:r>
              <a:rPr lang="en-US" dirty="0" err="1"/>
              <a:t>i</a:t>
            </a:r>
            <a:r>
              <a:rPr lang="en-US" dirty="0"/>
              <a:t>))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    ((</a:t>
            </a:r>
            <a:r>
              <a:rPr lang="en-US" dirty="0" err="1"/>
              <a:t>i</a:t>
            </a:r>
            <a:r>
              <a:rPr lang="en-US" dirty="0"/>
              <a:t>++))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"Sum (until loop) = $sum"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605014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66229-0958-63D2-717B-BE570D1C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Loop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5042-980F-8ADC-E2D6-6F848969D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choice="y"</a:t>
            </a:r>
          </a:p>
          <a:p>
            <a:endParaRPr lang="en-IN" dirty="0"/>
          </a:p>
          <a:p>
            <a:r>
              <a:rPr lang="en-IN" dirty="0"/>
              <a:t># until loop → repeat program until user says no</a:t>
            </a:r>
          </a:p>
          <a:p>
            <a:r>
              <a:rPr lang="en-IN" dirty="0"/>
              <a:t>until [ "$choice" = "n" ]</a:t>
            </a:r>
          </a:p>
          <a:p>
            <a:r>
              <a:rPr lang="en-IN" dirty="0"/>
              <a:t>do</a:t>
            </a:r>
          </a:p>
          <a:p>
            <a:r>
              <a:rPr lang="en-IN" dirty="0"/>
              <a:t>    read -p "Enter number of students: " n</a:t>
            </a:r>
          </a:p>
          <a:p>
            <a:endParaRPr lang="en-IN" dirty="0"/>
          </a:p>
          <a:p>
            <a:r>
              <a:rPr lang="en-IN" dirty="0"/>
              <a:t>    total=0</a:t>
            </a:r>
          </a:p>
          <a:p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=1</a:t>
            </a:r>
          </a:p>
          <a:p>
            <a:endParaRPr lang="en-IN" dirty="0"/>
          </a:p>
          <a:p>
            <a:r>
              <a:rPr lang="en-IN" dirty="0"/>
              <a:t>    echo "Enter marks:"</a:t>
            </a:r>
          </a:p>
          <a:p>
            <a:endParaRPr lang="en-IN" dirty="0"/>
          </a:p>
          <a:p>
            <a:r>
              <a:rPr lang="en-IN" dirty="0"/>
              <a:t>    # for loop → input + sum</a:t>
            </a:r>
          </a:p>
          <a:p>
            <a:r>
              <a:rPr lang="en-IN" dirty="0"/>
              <a:t>    for ((</a:t>
            </a:r>
            <a:r>
              <a:rPr lang="en-IN" dirty="0" err="1"/>
              <a:t>i</a:t>
            </a:r>
            <a:r>
              <a:rPr lang="en-IN" dirty="0"/>
              <a:t>=1; </a:t>
            </a:r>
            <a:r>
              <a:rPr lang="en-IN" dirty="0" err="1"/>
              <a:t>i</a:t>
            </a:r>
            <a:r>
              <a:rPr lang="en-IN" dirty="0"/>
              <a:t>&lt;=n; </a:t>
            </a:r>
            <a:r>
              <a:rPr lang="en-IN" dirty="0" err="1"/>
              <a:t>i</a:t>
            </a:r>
            <a:r>
              <a:rPr lang="en-IN" dirty="0"/>
              <a:t>++))</a:t>
            </a:r>
          </a:p>
          <a:p>
            <a:r>
              <a:rPr lang="en-IN" dirty="0"/>
              <a:t>    do</a:t>
            </a:r>
          </a:p>
          <a:p>
            <a:r>
              <a:rPr lang="en-IN" dirty="0"/>
              <a:t>        read -p "Student $</a:t>
            </a:r>
            <a:r>
              <a:rPr lang="en-IN" dirty="0" err="1"/>
              <a:t>i</a:t>
            </a:r>
            <a:r>
              <a:rPr lang="en-IN" dirty="0"/>
              <a:t>: " mark</a:t>
            </a:r>
          </a:p>
          <a:p>
            <a:r>
              <a:rPr lang="en-IN" dirty="0"/>
              <a:t>        total=$((total + mark))</a:t>
            </a:r>
          </a:p>
          <a:p>
            <a:r>
              <a:rPr lang="en-IN" dirty="0"/>
              <a:t>    done</a:t>
            </a:r>
          </a:p>
          <a:p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avg</a:t>
            </a:r>
            <a:r>
              <a:rPr lang="en-IN" dirty="0"/>
              <a:t>=$((total / n))</a:t>
            </a:r>
          </a:p>
          <a:p>
            <a:endParaRPr lang="en-IN" dirty="0"/>
          </a:p>
          <a:p>
            <a:r>
              <a:rPr lang="en-IN" dirty="0"/>
              <a:t>    echo "Total = $total"</a:t>
            </a:r>
          </a:p>
          <a:p>
            <a:r>
              <a:rPr lang="en-IN" dirty="0"/>
              <a:t>    echo "Average = $</a:t>
            </a:r>
            <a:r>
              <a:rPr lang="en-IN" dirty="0" err="1"/>
              <a:t>avg</a:t>
            </a:r>
            <a:r>
              <a:rPr lang="en-IN" dirty="0"/>
              <a:t>"</a:t>
            </a:r>
          </a:p>
          <a:p>
            <a:endParaRPr lang="en-IN" dirty="0"/>
          </a:p>
          <a:p>
            <a:r>
              <a:rPr lang="en-IN" dirty="0"/>
              <a:t>    # while loop → display numbers till n</a:t>
            </a:r>
          </a:p>
          <a:p>
            <a:r>
              <a:rPr lang="en-IN" dirty="0"/>
              <a:t>    </a:t>
            </a:r>
            <a:r>
              <a:rPr lang="en-IN" dirty="0" err="1"/>
              <a:t>i</a:t>
            </a:r>
            <a:r>
              <a:rPr lang="en-IN" dirty="0"/>
              <a:t>=1</a:t>
            </a:r>
          </a:p>
          <a:p>
            <a:r>
              <a:rPr lang="en-IN" dirty="0"/>
              <a:t>    echo "Displaying student numbers:"</a:t>
            </a:r>
          </a:p>
          <a:p>
            <a:r>
              <a:rPr lang="en-IN" dirty="0"/>
              <a:t>    while [ $</a:t>
            </a:r>
            <a:r>
              <a:rPr lang="en-IN" dirty="0" err="1"/>
              <a:t>i</a:t>
            </a:r>
            <a:r>
              <a:rPr lang="en-IN" dirty="0"/>
              <a:t> -le $n ]</a:t>
            </a:r>
          </a:p>
          <a:p>
            <a:r>
              <a:rPr lang="en-IN" dirty="0"/>
              <a:t>    do</a:t>
            </a:r>
          </a:p>
          <a:p>
            <a:r>
              <a:rPr lang="en-IN" dirty="0"/>
              <a:t>        echo "Student $</a:t>
            </a:r>
            <a:r>
              <a:rPr lang="en-IN" dirty="0" err="1"/>
              <a:t>i</a:t>
            </a:r>
            <a:r>
              <a:rPr lang="en-IN" dirty="0"/>
              <a:t>"</a:t>
            </a:r>
          </a:p>
          <a:p>
            <a:r>
              <a:rPr lang="en-IN" dirty="0"/>
              <a:t>        ((</a:t>
            </a:r>
            <a:r>
              <a:rPr lang="en-IN" dirty="0" err="1"/>
              <a:t>i</a:t>
            </a:r>
            <a:r>
              <a:rPr lang="en-IN" dirty="0"/>
              <a:t>++))</a:t>
            </a:r>
          </a:p>
          <a:p>
            <a:r>
              <a:rPr lang="en-IN" dirty="0"/>
              <a:t>    done</a:t>
            </a:r>
          </a:p>
          <a:p>
            <a:endParaRPr lang="en-IN" dirty="0"/>
          </a:p>
          <a:p>
            <a:r>
              <a:rPr lang="en-IN" dirty="0"/>
              <a:t>    echo</a:t>
            </a:r>
          </a:p>
          <a:p>
            <a:r>
              <a:rPr lang="en-IN" dirty="0"/>
              <a:t>    read -p "Do you want to continue? (y/n): " choice</a:t>
            </a:r>
          </a:p>
          <a:p>
            <a:endParaRPr lang="en-IN" dirty="0"/>
          </a:p>
          <a:p>
            <a:r>
              <a:rPr lang="en-IN" dirty="0"/>
              <a:t>done</a:t>
            </a:r>
          </a:p>
          <a:p>
            <a:endParaRPr lang="en-IN" dirty="0"/>
          </a:p>
          <a:p>
            <a:r>
              <a:rPr lang="en-IN" dirty="0"/>
              <a:t>echo "Program ended."</a:t>
            </a:r>
          </a:p>
        </p:txBody>
      </p:sp>
    </p:spTree>
    <p:extLst>
      <p:ext uri="{BB962C8B-B14F-4D97-AF65-F5344CB8AC3E}">
        <p14:creationId xmlns:p14="http://schemas.microsoft.com/office/powerpoint/2010/main" val="264636108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5AA4-63ED-18AE-6A17-C0A8B8D8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Useful Scripts: Accept a String from User and Search in All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FF706-1C9A-502D-4130-220446110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read -p "Enter word to search: " word</a:t>
            </a:r>
          </a:p>
          <a:p>
            <a:endParaRPr lang="en-US" dirty="0"/>
          </a:p>
          <a:p>
            <a:r>
              <a:rPr lang="en-US" dirty="0"/>
              <a:t>echo "Searching for '$word' in all files..."</a:t>
            </a:r>
          </a:p>
          <a:p>
            <a:endParaRPr lang="en-US" dirty="0"/>
          </a:p>
          <a:p>
            <a:r>
              <a:rPr lang="en-US" dirty="0"/>
              <a:t>grep -</a:t>
            </a:r>
            <a:r>
              <a:rPr lang="en-US" dirty="0" err="1"/>
              <a:t>rn</a:t>
            </a:r>
            <a:r>
              <a:rPr lang="en-US" dirty="0"/>
              <a:t> "$word" 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50593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634C7-2F20-96C4-8787-6029912E2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 a File and Remove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123F8-B349-2AC6-0782-01B6D0F68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filename: " file</a:t>
            </a:r>
          </a:p>
          <a:p>
            <a:endParaRPr lang="en-IN" dirty="0"/>
          </a:p>
          <a:p>
            <a:r>
              <a:rPr lang="en-IN" dirty="0"/>
              <a:t>echo "Sorted unique contents:"</a:t>
            </a:r>
          </a:p>
          <a:p>
            <a:r>
              <a:rPr lang="en-IN" dirty="0"/>
              <a:t>sort "$file" | </a:t>
            </a:r>
            <a:r>
              <a:rPr lang="en-IN" dirty="0" err="1"/>
              <a:t>uniq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44513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B006-61A7-55C1-BED1-CF8016A7C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Count Lines, Words, Bytes in All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54258-8F7F-0081-CEFA-6D98DC8E3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/>
              <a:t>echo "File-wise count (lines, words, bytes):"</a:t>
            </a:r>
          </a:p>
          <a:p>
            <a:r>
              <a:rPr lang="en-US" dirty="0"/>
              <a:t>echo "------------------------------------------"</a:t>
            </a:r>
          </a:p>
          <a:p>
            <a:endParaRPr lang="en-US" dirty="0"/>
          </a:p>
          <a:p>
            <a:r>
              <a:rPr lang="en-US" dirty="0"/>
              <a:t>for file in *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if [ -f "$file" ]; then</a:t>
            </a:r>
          </a:p>
          <a:p>
            <a:r>
              <a:rPr lang="en-US" dirty="0"/>
              <a:t>        </a:t>
            </a:r>
            <a:r>
              <a:rPr lang="en-US" dirty="0" err="1"/>
              <a:t>wc</a:t>
            </a:r>
            <a:r>
              <a:rPr lang="en-US" dirty="0"/>
              <a:t> "$file"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done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24089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2BA5-E034-EEAF-210C-711FD42D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Backup Files into a Zip Archive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D5378-3549-E819-259E-53BC433F2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folder name to backup: " folder</a:t>
            </a:r>
          </a:p>
          <a:p>
            <a:r>
              <a:rPr lang="en-IN" dirty="0"/>
              <a:t>read -p "Enter zip file name: " </a:t>
            </a:r>
            <a:r>
              <a:rPr lang="en-IN" dirty="0" err="1"/>
              <a:t>zipname</a:t>
            </a:r>
            <a:endParaRPr lang="en-IN" dirty="0"/>
          </a:p>
          <a:p>
            <a:endParaRPr lang="en-IN" dirty="0"/>
          </a:p>
          <a:p>
            <a:r>
              <a:rPr lang="en-IN" dirty="0"/>
              <a:t>zip -r "$zipname.zip" "$folder"</a:t>
            </a:r>
          </a:p>
          <a:p>
            <a:endParaRPr lang="en-IN" dirty="0"/>
          </a:p>
          <a:p>
            <a:r>
              <a:rPr lang="en-IN" dirty="0"/>
              <a:t>echo "Backup created: $zipname.zip"</a:t>
            </a:r>
          </a:p>
        </p:txBody>
      </p:sp>
    </p:spTree>
    <p:extLst>
      <p:ext uri="{BB962C8B-B14F-4D97-AF65-F5344CB8AC3E}">
        <p14:creationId xmlns:p14="http://schemas.microsoft.com/office/powerpoint/2010/main" val="229946570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24ECB-A4C6-3B5D-3411-9D53027F6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If a File Exists and Show its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FCBD5-09FA-797A-241D-80864D6E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read -p "Enter filename: " </a:t>
            </a:r>
            <a:r>
              <a:rPr lang="en-IN" dirty="0" err="1"/>
              <a:t>fname</a:t>
            </a:r>
            <a:endParaRPr lang="en-IN" dirty="0"/>
          </a:p>
          <a:p>
            <a:endParaRPr lang="en-IN" dirty="0"/>
          </a:p>
          <a:p>
            <a:r>
              <a:rPr lang="en-IN" dirty="0"/>
              <a:t>if [ -e "$</a:t>
            </a:r>
            <a:r>
              <a:rPr lang="en-IN" dirty="0" err="1"/>
              <a:t>fname</a:t>
            </a:r>
            <a:r>
              <a:rPr lang="en-IN" dirty="0"/>
              <a:t>" ]; then</a:t>
            </a:r>
          </a:p>
          <a:p>
            <a:r>
              <a:rPr lang="en-IN" dirty="0"/>
              <a:t>    echo "File exists"</a:t>
            </a:r>
          </a:p>
          <a:p>
            <a:endParaRPr lang="en-IN" dirty="0"/>
          </a:p>
          <a:p>
            <a:r>
              <a:rPr lang="en-IN" dirty="0"/>
              <a:t>    [ -r "$</a:t>
            </a:r>
            <a:r>
              <a:rPr lang="en-IN" dirty="0" err="1"/>
              <a:t>fname</a:t>
            </a:r>
            <a:r>
              <a:rPr lang="en-IN" dirty="0"/>
              <a:t>" ] &amp;&amp; echo "Readable"</a:t>
            </a:r>
          </a:p>
          <a:p>
            <a:r>
              <a:rPr lang="en-IN" dirty="0"/>
              <a:t>    [ -w "$</a:t>
            </a:r>
            <a:r>
              <a:rPr lang="en-IN" dirty="0" err="1"/>
              <a:t>fname</a:t>
            </a:r>
            <a:r>
              <a:rPr lang="en-IN" dirty="0"/>
              <a:t>" ] &amp;&amp; echo "Writable"</a:t>
            </a:r>
          </a:p>
          <a:p>
            <a:r>
              <a:rPr lang="en-IN" dirty="0"/>
              <a:t>    [ -x "$</a:t>
            </a:r>
            <a:r>
              <a:rPr lang="en-IN" dirty="0" err="1"/>
              <a:t>fname</a:t>
            </a:r>
            <a:r>
              <a:rPr lang="en-IN" dirty="0"/>
              <a:t>" ] &amp;&amp; echo "Executable"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echo "File does not exist"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59051581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02CD-0D9B-13D6-EC33-281CCAA2D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 All Files of a Particular Extension in a Different Directory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16AB-D3D9-70AD-9786-3ACFF708B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#!/bin/bash</a:t>
            </a:r>
          </a:p>
          <a:p>
            <a:endParaRPr lang="en-US" dirty="0"/>
          </a:p>
          <a:p>
            <a:r>
              <a:rPr lang="en-US" dirty="0" err="1"/>
              <a:t>mkdir</a:t>
            </a:r>
            <a:r>
              <a:rPr lang="en-US" dirty="0"/>
              <a:t> -p backup</a:t>
            </a:r>
          </a:p>
          <a:p>
            <a:endParaRPr lang="en-US" dirty="0"/>
          </a:p>
          <a:p>
            <a:r>
              <a:rPr lang="en-US" dirty="0"/>
              <a:t>for file in *.txt</a:t>
            </a:r>
          </a:p>
          <a:p>
            <a:r>
              <a:rPr lang="en-US" dirty="0"/>
              <a:t>do</a:t>
            </a:r>
          </a:p>
          <a:p>
            <a:r>
              <a:rPr lang="en-US" dirty="0"/>
              <a:t>    if [ -f "$file" ]; then</a:t>
            </a:r>
          </a:p>
          <a:p>
            <a:r>
              <a:rPr lang="en-US" dirty="0"/>
              <a:t>        cp "$file" backup/</a:t>
            </a:r>
          </a:p>
          <a:p>
            <a:r>
              <a:rPr lang="en-US" dirty="0"/>
              <a:t>        echo "Copied: $file"</a:t>
            </a:r>
          </a:p>
          <a:p>
            <a:r>
              <a:rPr lang="en-US" dirty="0"/>
              <a:t>    fi</a:t>
            </a:r>
          </a:p>
          <a:p>
            <a:r>
              <a:rPr lang="en-US" dirty="0"/>
              <a:t>done</a:t>
            </a:r>
          </a:p>
          <a:p>
            <a:endParaRPr lang="en-US" dirty="0"/>
          </a:p>
          <a:p>
            <a:r>
              <a:rPr lang="en-US" dirty="0"/>
              <a:t>echo "Backup completed."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746041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D8F6-C810-1EF5-D77F-2E44E68E3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a New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63BB1-EB9C-5BF7-81DA-FF7049352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Check if script is run as root</a:t>
            </a:r>
          </a:p>
          <a:p>
            <a:r>
              <a:rPr lang="en-IN" dirty="0"/>
              <a:t>if [ "$EUID" -ne 0 ]; then</a:t>
            </a:r>
          </a:p>
          <a:p>
            <a:r>
              <a:rPr lang="en-IN" dirty="0"/>
              <a:t>    echo "Please run as root (use </a:t>
            </a:r>
            <a:r>
              <a:rPr lang="en-IN" dirty="0" err="1"/>
              <a:t>sudo</a:t>
            </a:r>
            <a:r>
              <a:rPr lang="en-IN" dirty="0"/>
              <a:t>)"</a:t>
            </a:r>
          </a:p>
          <a:p>
            <a:r>
              <a:rPr lang="en-IN" dirty="0"/>
              <a:t>    exit 1</a:t>
            </a:r>
          </a:p>
          <a:p>
            <a:r>
              <a:rPr lang="en-IN" dirty="0"/>
              <a:t>fi</a:t>
            </a:r>
          </a:p>
          <a:p>
            <a:endParaRPr lang="en-IN" dirty="0"/>
          </a:p>
          <a:p>
            <a:r>
              <a:rPr lang="en-IN" dirty="0"/>
              <a:t># Accept username</a:t>
            </a:r>
          </a:p>
          <a:p>
            <a:r>
              <a:rPr lang="en-IN" dirty="0"/>
              <a:t>read -p "Enter new username: " username</a:t>
            </a:r>
          </a:p>
          <a:p>
            <a:endParaRPr lang="en-IN" dirty="0"/>
          </a:p>
          <a:p>
            <a:r>
              <a:rPr lang="en-IN" dirty="0"/>
              <a:t># Check if user already exists</a:t>
            </a:r>
          </a:p>
          <a:p>
            <a:r>
              <a:rPr lang="en-IN" dirty="0"/>
              <a:t>if id "$username" &amp;&gt;/dev/null; then</a:t>
            </a:r>
          </a:p>
          <a:p>
            <a:r>
              <a:rPr lang="en-IN" dirty="0"/>
              <a:t>    echo "User already exists!"</a:t>
            </a:r>
          </a:p>
          <a:p>
            <a:r>
              <a:rPr lang="en-IN" dirty="0"/>
              <a:t>else</a:t>
            </a:r>
          </a:p>
          <a:p>
            <a:r>
              <a:rPr lang="en-IN" dirty="0"/>
              <a:t>    # Create user with home directory</a:t>
            </a:r>
          </a:p>
          <a:p>
            <a:r>
              <a:rPr lang="en-IN" dirty="0"/>
              <a:t>    </a:t>
            </a:r>
            <a:r>
              <a:rPr lang="en-IN" dirty="0" err="1"/>
              <a:t>useradd</a:t>
            </a:r>
            <a:r>
              <a:rPr lang="en-IN" dirty="0"/>
              <a:t> -m "$username"</a:t>
            </a:r>
          </a:p>
          <a:p>
            <a:endParaRPr lang="en-IN" dirty="0"/>
          </a:p>
          <a:p>
            <a:r>
              <a:rPr lang="en-IN" dirty="0"/>
              <a:t>    # Set password</a:t>
            </a:r>
          </a:p>
          <a:p>
            <a:r>
              <a:rPr lang="en-IN" dirty="0"/>
              <a:t>    passwd "$username"</a:t>
            </a:r>
          </a:p>
          <a:p>
            <a:endParaRPr lang="en-IN" dirty="0"/>
          </a:p>
          <a:p>
            <a:r>
              <a:rPr lang="en-IN" dirty="0"/>
              <a:t>    echo "User '$username' created successfully."</a:t>
            </a:r>
          </a:p>
          <a:p>
            <a:r>
              <a:rPr lang="en-IN" dirty="0"/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19095171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90D1-85FE-EA1C-04E7-D289D0FD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Process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74A94-2630-6477-31BF-842A32581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Process </a:t>
            </a:r>
            <a:r>
              <a:rPr lang="en-IN" dirty="0"/>
              <a:t>= A running </a:t>
            </a:r>
            <a:r>
              <a:rPr lang="en-IN" b="1" dirty="0"/>
              <a:t>program </a:t>
            </a:r>
          </a:p>
          <a:p>
            <a:endParaRPr lang="en-IN" dirty="0"/>
          </a:p>
          <a:p>
            <a:r>
              <a:rPr lang="en-IN" dirty="0" err="1"/>
              <a:t>ps</a:t>
            </a:r>
            <a:r>
              <a:rPr lang="en-IN" dirty="0"/>
              <a:t>			Basic view</a:t>
            </a:r>
          </a:p>
          <a:p>
            <a:r>
              <a:rPr lang="en-IN" dirty="0" err="1"/>
              <a:t>ps</a:t>
            </a:r>
            <a:r>
              <a:rPr lang="en-IN" dirty="0"/>
              <a:t>  aux		Detailed view</a:t>
            </a:r>
          </a:p>
          <a:p>
            <a:r>
              <a:rPr lang="en-IN" dirty="0"/>
              <a:t>top			Live processes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01769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C7361A-A975-80D0-32BF-163C36B1E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322" y="249183"/>
            <a:ext cx="10175356" cy="6783570"/>
          </a:xfrm>
        </p:spPr>
      </p:pic>
    </p:spTree>
    <p:extLst>
      <p:ext uri="{BB962C8B-B14F-4D97-AF65-F5344CB8AC3E}">
        <p14:creationId xmlns:p14="http://schemas.microsoft.com/office/powerpoint/2010/main" val="167163308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6A088-0241-5B20-4A02-80BCF243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Linux Processes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8C342C-4DC2-860B-B009-4BD2E2234AB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4361" y="1536576"/>
          <a:ext cx="11131193" cy="31089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377612">
                  <a:extLst>
                    <a:ext uri="{9D8B030D-6E8A-4147-A177-3AD203B41FA5}">
                      <a16:colId xmlns:a16="http://schemas.microsoft.com/office/drawing/2014/main" val="170854806"/>
                    </a:ext>
                  </a:extLst>
                </a:gridCol>
                <a:gridCol w="8753581">
                  <a:extLst>
                    <a:ext uri="{9D8B030D-6E8A-4147-A177-3AD203B41FA5}">
                      <a16:colId xmlns:a16="http://schemas.microsoft.com/office/drawing/2014/main" val="7959411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399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Parent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 process that creates other processes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2271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Child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 process created by another (via fork())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387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Daemon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Background service (e.g., sshd, httpd)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0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Zombie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Finished process, but still in process table (not cleaned up)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25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/>
                        <a:t>Orphan</a:t>
                      </a:r>
                      <a:endParaRPr lang="en-IN" sz="2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Child whose parent has terminated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9252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F59503-E79B-27B6-27B9-62DDDF866D50}"/>
              </a:ext>
            </a:extLst>
          </p:cNvPr>
          <p:cNvSpPr txBox="1"/>
          <p:nvPr/>
        </p:nvSpPr>
        <p:spPr>
          <a:xfrm>
            <a:off x="328773" y="4847491"/>
            <a:ext cx="11722814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To see all running processes: </a:t>
            </a:r>
            <a:r>
              <a:rPr lang="en-IN" sz="2800" b="1" dirty="0" err="1"/>
              <a:t>ps</a:t>
            </a:r>
            <a:r>
              <a:rPr lang="en-IN" sz="2800" b="1" dirty="0"/>
              <a:t> -</a:t>
            </a:r>
            <a:r>
              <a:rPr lang="en-IN" sz="2800" b="1" dirty="0" err="1"/>
              <a:t>ef</a:t>
            </a:r>
            <a:r>
              <a:rPr lang="en-IN" sz="2800" b="1" dirty="0"/>
              <a:t> | less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First process (</a:t>
            </a:r>
            <a:r>
              <a:rPr lang="en-IN" sz="2800" dirty="0" err="1"/>
              <a:t>init</a:t>
            </a:r>
            <a:r>
              <a:rPr lang="en-IN" sz="2800" dirty="0"/>
              <a:t>/</a:t>
            </a:r>
            <a:r>
              <a:rPr lang="en-IN" sz="2800" dirty="0" err="1"/>
              <a:t>systemd</a:t>
            </a:r>
            <a:r>
              <a:rPr lang="en-IN" sz="2800" dirty="0"/>
              <a:t>) always has a process id = 1 –&gt; adopts orphan processes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Process creation: Parent process -&gt; fork () -&gt; Child process</a:t>
            </a:r>
          </a:p>
        </p:txBody>
      </p:sp>
    </p:spTree>
    <p:extLst>
      <p:ext uri="{BB962C8B-B14F-4D97-AF65-F5344CB8AC3E}">
        <p14:creationId xmlns:p14="http://schemas.microsoft.com/office/powerpoint/2010/main" val="294815046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A19E-0CC1-F6DB-3855-8AE8A5D3A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Foreground and Background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929E2-469E-0D07-3277-980461915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Commands run in the foreground and occupy the terminal</a:t>
            </a:r>
          </a:p>
          <a:p>
            <a:r>
              <a:rPr lang="en-US" dirty="0"/>
              <a:t>Adding &amp; runs a command in the background</a:t>
            </a:r>
          </a:p>
          <a:p>
            <a:r>
              <a:rPr lang="en-US" dirty="0"/>
              <a:t>Example: </a:t>
            </a:r>
            <a:r>
              <a:rPr lang="en-US" b="1" dirty="0"/>
              <a:t>sleep 10 &amp;		</a:t>
            </a:r>
            <a:r>
              <a:rPr lang="en-US" i="1" dirty="0"/>
              <a:t>This is called controlling a job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AABA60-503D-3186-A7CD-6A5CCE9097D1}"/>
              </a:ext>
            </a:extLst>
          </p:cNvPr>
          <p:cNvGraphicFramePr>
            <a:graphicFrameLocks noGrp="1"/>
          </p:cNvGraphicFramePr>
          <p:nvPr/>
        </p:nvGraphicFramePr>
        <p:xfrm>
          <a:off x="982038" y="3429000"/>
          <a:ext cx="10515600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076254">
                  <a:extLst>
                    <a:ext uri="{9D8B030D-6E8A-4147-A177-3AD203B41FA5}">
                      <a16:colId xmlns:a16="http://schemas.microsoft.com/office/drawing/2014/main" val="472875425"/>
                    </a:ext>
                  </a:extLst>
                </a:gridCol>
                <a:gridCol w="7439346">
                  <a:extLst>
                    <a:ext uri="{9D8B030D-6E8A-4147-A177-3AD203B41FA5}">
                      <a16:colId xmlns:a16="http://schemas.microsoft.com/office/drawing/2014/main" val="584412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122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jobs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List background jobs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339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Bring job to foreground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23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Resume job in background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020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Ctrl + 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Suspend foreground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403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79002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B22CF-E95B-60AC-715A-D1DBC816F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017"/>
            <a:ext cx="10515600" cy="462336"/>
          </a:xfrm>
        </p:spPr>
        <p:txBody>
          <a:bodyPr>
            <a:normAutofit fontScale="90000"/>
          </a:bodyPr>
          <a:lstStyle/>
          <a:p>
            <a:r>
              <a:rPr lang="en-IN" dirty="0"/>
              <a:t>Foreground vs Background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3D2D-6B3E-8E13-E708-1CC535E35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8369"/>
            <a:ext cx="10515600" cy="548859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$ sleep 10</a:t>
            </a:r>
          </a:p>
          <a:p>
            <a:r>
              <a:rPr lang="en-US" dirty="0"/>
              <a:t># Runs in foreground → terminal is blocked</a:t>
            </a:r>
          </a:p>
          <a:p>
            <a:endParaRPr lang="en-US" dirty="0"/>
          </a:p>
          <a:p>
            <a:r>
              <a:rPr lang="en-US" dirty="0"/>
              <a:t>$ sleep 60 &amp;</a:t>
            </a:r>
          </a:p>
          <a:p>
            <a:r>
              <a:rPr lang="en-US" dirty="0"/>
              <a:t>[1] 1150</a:t>
            </a:r>
          </a:p>
          <a:p>
            <a:r>
              <a:rPr lang="en-US" dirty="0"/>
              <a:t># Runs in background → terminal is free, [1] = Job ID, 1150 = Process ID (PID)</a:t>
            </a:r>
          </a:p>
          <a:p>
            <a:endParaRPr lang="en-US" dirty="0"/>
          </a:p>
          <a:p>
            <a:r>
              <a:rPr lang="en-US" dirty="0"/>
              <a:t>$ echo "hello there"</a:t>
            </a:r>
          </a:p>
          <a:p>
            <a:r>
              <a:rPr lang="en-US" dirty="0"/>
              <a:t>hello there</a:t>
            </a:r>
          </a:p>
          <a:p>
            <a:r>
              <a:rPr lang="en-US" dirty="0"/>
              <a:t># Another foreground command runs immediately</a:t>
            </a:r>
          </a:p>
          <a:p>
            <a:endParaRPr lang="en-US" dirty="0"/>
          </a:p>
          <a:p>
            <a:r>
              <a:rPr lang="en-US" dirty="0"/>
              <a:t>$ jobs</a:t>
            </a:r>
          </a:p>
          <a:p>
            <a:r>
              <a:rPr lang="en-US" dirty="0"/>
              <a:t>[1]+ Running    sleep 60 &amp;</a:t>
            </a:r>
          </a:p>
          <a:p>
            <a:r>
              <a:rPr lang="en-US" dirty="0"/>
              <a:t># Background process is still running</a:t>
            </a:r>
          </a:p>
          <a:p>
            <a:endParaRPr lang="en-US" dirty="0"/>
          </a:p>
          <a:p>
            <a:r>
              <a:rPr lang="en-US" dirty="0"/>
              <a:t>$ </a:t>
            </a:r>
            <a:r>
              <a:rPr lang="en-US" dirty="0" err="1"/>
              <a:t>fg</a:t>
            </a:r>
            <a:r>
              <a:rPr lang="en-US" dirty="0"/>
              <a:t> %1</a:t>
            </a:r>
          </a:p>
          <a:p>
            <a:r>
              <a:rPr lang="en-US" dirty="0"/>
              <a:t>sleep 60</a:t>
            </a:r>
          </a:p>
          <a:p>
            <a:r>
              <a:rPr lang="en-US" dirty="0"/>
              <a:t># Bring job 1 back to foreground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404042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A554-5C03-BA10-582F-90891FFE8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565"/>
            <a:ext cx="10515600" cy="431514"/>
          </a:xfrm>
        </p:spPr>
        <p:txBody>
          <a:bodyPr>
            <a:normAutofit fontScale="90000"/>
          </a:bodyPr>
          <a:lstStyle/>
          <a:p>
            <a:r>
              <a:rPr lang="en-IN" dirty="0"/>
              <a:t>Killing a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C744-01EF-D0D2-7211-0B0BCB905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8094"/>
            <a:ext cx="10515600" cy="5498869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kill</a:t>
            </a:r>
            <a:r>
              <a:rPr lang="en-IN" dirty="0"/>
              <a:t> &lt;PID&gt;, e.g. kill 1947</a:t>
            </a:r>
          </a:p>
          <a:p>
            <a:r>
              <a:rPr lang="en-US" b="1" dirty="0"/>
              <a:t>Signal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An asynchronous message sent to a process</a:t>
            </a:r>
          </a:p>
          <a:p>
            <a:r>
              <a:rPr lang="en-US" dirty="0"/>
              <a:t>Used to control process behavior (stop, terminate, pause, etc.)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kill -9 1947      # Force kill</a:t>
            </a:r>
          </a:p>
          <a:p>
            <a:pPr lvl="1"/>
            <a:r>
              <a:rPr lang="en-US" dirty="0"/>
              <a:t>kill -15 1947     # Graceful kill (default)</a:t>
            </a:r>
          </a:p>
          <a:p>
            <a:pPr lvl="1"/>
            <a:r>
              <a:rPr lang="en-US" dirty="0"/>
              <a:t>kill -STOP 1947   # Pause process</a:t>
            </a:r>
          </a:p>
          <a:p>
            <a:pPr lvl="1"/>
            <a:r>
              <a:rPr lang="en-US" dirty="0"/>
              <a:t>kill -CONT 1947   # Resume process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4ED01E-D281-637A-B0DE-BD327C6138B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31715"/>
          <a:ext cx="10515600" cy="1981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357063">
                  <a:extLst>
                    <a:ext uri="{9D8B030D-6E8A-4147-A177-3AD203B41FA5}">
                      <a16:colId xmlns:a16="http://schemas.microsoft.com/office/drawing/2014/main" val="2194207983"/>
                    </a:ext>
                  </a:extLst>
                </a:gridCol>
                <a:gridCol w="3041151">
                  <a:extLst>
                    <a:ext uri="{9D8B030D-6E8A-4147-A177-3AD203B41FA5}">
                      <a16:colId xmlns:a16="http://schemas.microsoft.com/office/drawing/2014/main" val="2719916890"/>
                    </a:ext>
                  </a:extLst>
                </a:gridCol>
                <a:gridCol w="5117386">
                  <a:extLst>
                    <a:ext uri="{9D8B030D-6E8A-4147-A177-3AD203B41FA5}">
                      <a16:colId xmlns:a16="http://schemas.microsoft.com/office/drawing/2014/main" val="1944073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Signal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5300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SIGTERM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Graceful termination (default)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281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SIGKILL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Force kill (cannot be ignored)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4965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SIGSTOP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Pause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40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SIGCONT</a:t>
                      </a:r>
                      <a:endParaRPr lang="en-IN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Resume paused process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510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110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7121</TotalTime>
  <Words>14027</Words>
  <Application>Microsoft Office PowerPoint</Application>
  <PresentationFormat>Widescreen</PresentationFormat>
  <Paragraphs>3083</Paragraphs>
  <Slides>157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157</vt:i4>
      </vt:variant>
    </vt:vector>
  </HeadingPairs>
  <TitlesOfParts>
    <vt:vector size="162" baseType="lpstr">
      <vt:lpstr>Arial</vt:lpstr>
      <vt:lpstr>Calibri</vt:lpstr>
      <vt:lpstr>Calibri Light</vt:lpstr>
      <vt:lpstr>Google Sans Text</vt:lpstr>
      <vt:lpstr>Office Theme</vt:lpstr>
      <vt:lpstr>Linux</vt:lpstr>
      <vt:lpstr>Linux History</vt:lpstr>
      <vt:lpstr>Linux Kernel</vt:lpstr>
      <vt:lpstr>Kernel Architecture</vt:lpstr>
      <vt:lpstr>Linux Distribution (“Distro”)</vt:lpstr>
      <vt:lpstr>Major Distribution Families</vt:lpstr>
      <vt:lpstr>Linux Command Line</vt:lpstr>
      <vt:lpstr>Various Aspects of Linux</vt:lpstr>
      <vt:lpstr>How a User Command is Processed? (e.g. ls)</vt:lpstr>
      <vt:lpstr>The Shell Prompt</vt:lpstr>
      <vt:lpstr>Valid and Invalid Commands</vt:lpstr>
      <vt:lpstr>The date Command</vt:lpstr>
      <vt:lpstr>The Manual Page</vt:lpstr>
      <vt:lpstr>The which Command</vt:lpstr>
      <vt:lpstr>Linux Editors</vt:lpstr>
      <vt:lpstr>vi: Create a Document</vt:lpstr>
      <vt:lpstr>vi: Edit File Contents</vt:lpstr>
      <vt:lpstr>Basic vi Commands</vt:lpstr>
      <vt:lpstr>Linux Command Format</vt:lpstr>
      <vt:lpstr>PowerPoint Presentation</vt:lpstr>
      <vt:lpstr>Linux File System</vt:lpstr>
      <vt:lpstr>Directory Commands</vt:lpstr>
      <vt:lpstr>File Creation and Viewing</vt:lpstr>
      <vt:lpstr>File Editing and Copying</vt:lpstr>
      <vt:lpstr>File Deletion</vt:lpstr>
      <vt:lpstr>File Information</vt:lpstr>
      <vt:lpstr>Directory Operations</vt:lpstr>
      <vt:lpstr>Exercise</vt:lpstr>
      <vt:lpstr>PowerPoint Presentation</vt:lpstr>
      <vt:lpstr>Absolute and Relative Path</vt:lpstr>
      <vt:lpstr>Absolute and Relative Path Examples</vt:lpstr>
      <vt:lpstr>Special Symbols in Linux Paths</vt:lpstr>
      <vt:lpstr>Exercises</vt:lpstr>
      <vt:lpstr>Solutions</vt:lpstr>
      <vt:lpstr>Superuser Commands</vt:lpstr>
      <vt:lpstr>How to Become a Root User?</vt:lpstr>
      <vt:lpstr>Comparison Table</vt:lpstr>
      <vt:lpstr>User Creation/Modification Commands</vt:lpstr>
      <vt:lpstr>Adding Users to Sudoers Group</vt:lpstr>
      <vt:lpstr>Group Command</vt:lpstr>
      <vt:lpstr>Key Files for User Information</vt:lpstr>
      <vt:lpstr>Exercise</vt:lpstr>
      <vt:lpstr>Solutions</vt:lpstr>
      <vt:lpstr>File Permissions</vt:lpstr>
      <vt:lpstr>File Permissions</vt:lpstr>
      <vt:lpstr>Octal File Permissions</vt:lpstr>
      <vt:lpstr>Changing Permissions</vt:lpstr>
      <vt:lpstr>Examples</vt:lpstr>
      <vt:lpstr>Numeric Examples</vt:lpstr>
      <vt:lpstr>Exercises</vt:lpstr>
      <vt:lpstr>PowerPoint Presentation</vt:lpstr>
      <vt:lpstr>Access Control Lists (ACL)</vt:lpstr>
      <vt:lpstr>ACL Commands</vt:lpstr>
      <vt:lpstr>ACL Demo</vt:lpstr>
      <vt:lpstr>Shell Metacharacters</vt:lpstr>
      <vt:lpstr>Misc Commands - sort</vt:lpstr>
      <vt:lpstr>Misc Commands – diff</vt:lpstr>
      <vt:lpstr>Links</vt:lpstr>
      <vt:lpstr>Global Regular Expression Print (grep) Command</vt:lpstr>
      <vt:lpstr>Regex Using grep</vt:lpstr>
      <vt:lpstr>find Command</vt:lpstr>
      <vt:lpstr>locate Command</vt:lpstr>
      <vt:lpstr>Differences: find and locate</vt:lpstr>
      <vt:lpstr>The tar Command</vt:lpstr>
      <vt:lpstr>tar Usage</vt:lpstr>
      <vt:lpstr>The gunzip and gzip Commands</vt:lpstr>
      <vt:lpstr>The gunzip/gzip Commands</vt:lpstr>
      <vt:lpstr>The zip-unzip Commands</vt:lpstr>
      <vt:lpstr>Shell Scripting</vt:lpstr>
      <vt:lpstr>Variables</vt:lpstr>
      <vt:lpstr>Add Two Numbers</vt:lpstr>
      <vt:lpstr>User Input</vt:lpstr>
      <vt:lpstr>User Input</vt:lpstr>
      <vt:lpstr>Arithmetic Using Variables</vt:lpstr>
      <vt:lpstr>Make New Scripts Executable: Easy Method</vt:lpstr>
      <vt:lpstr>Floating Point Arithmetic With Hardcoded Inputs</vt:lpstr>
      <vt:lpstr>Floating Point Arithmetic: Taking User Input</vt:lpstr>
      <vt:lpstr>Exercises</vt:lpstr>
      <vt:lpstr>Solutions</vt:lpstr>
      <vt:lpstr>Simple Interest Calculation with an if Condition</vt:lpstr>
      <vt:lpstr>Swap Two Numbers</vt:lpstr>
      <vt:lpstr>Area of Rectangle</vt:lpstr>
      <vt:lpstr>Temperature Conversion</vt:lpstr>
      <vt:lpstr>Temperature Conversion using Bash Calculator</vt:lpstr>
      <vt:lpstr>Average Calculation</vt:lpstr>
      <vt:lpstr>Result</vt:lpstr>
      <vt:lpstr>Parameter Passing</vt:lpstr>
      <vt:lpstr>Parameter Passing</vt:lpstr>
      <vt:lpstr>Count Number of Parameters/Arguments</vt:lpstr>
      <vt:lpstr>Display All Arguments</vt:lpstr>
      <vt:lpstr>Script Name and Arguments</vt:lpstr>
      <vt:lpstr>String Length</vt:lpstr>
      <vt:lpstr>Reverse String</vt:lpstr>
      <vt:lpstr>Count Vowels in a String</vt:lpstr>
      <vt:lpstr>Numeric and String Relational Operators</vt:lpstr>
      <vt:lpstr>Numeric Comparison</vt:lpstr>
      <vt:lpstr>String Comparison (Default: Case Sensitive)</vt:lpstr>
      <vt:lpstr>Conditions using if</vt:lpstr>
      <vt:lpstr>More if Examples</vt:lpstr>
      <vt:lpstr>Voting Eligibility</vt:lpstr>
      <vt:lpstr>Check If Digit</vt:lpstr>
      <vt:lpstr>Largest of Three Numbers</vt:lpstr>
      <vt:lpstr>Same Example Using AND Condition</vt:lpstr>
      <vt:lpstr>Grade Classification</vt:lpstr>
      <vt:lpstr>Student Marks and Grade Calculation</vt:lpstr>
      <vt:lpstr>Use of &amp;&amp; and ||</vt:lpstr>
      <vt:lpstr>Even/Odd and Positive/Negative</vt:lpstr>
      <vt:lpstr>Login Validation</vt:lpstr>
      <vt:lpstr>Using AND</vt:lpstr>
      <vt:lpstr>Login Validation Using AND</vt:lpstr>
      <vt:lpstr>OR</vt:lpstr>
      <vt:lpstr>Combining AND and OR</vt:lpstr>
      <vt:lpstr>OR with Strings</vt:lpstr>
      <vt:lpstr>Login Validation</vt:lpstr>
      <vt:lpstr>NOT</vt:lpstr>
      <vt:lpstr>NOT for String</vt:lpstr>
      <vt:lpstr>Student Result Calculation</vt:lpstr>
      <vt:lpstr>Handling Decimal Points</vt:lpstr>
      <vt:lpstr>System/Shell Variables</vt:lpstr>
      <vt:lpstr>System/Shell Variables</vt:lpstr>
      <vt:lpstr>List Files in Home Directory and Show Disk Usage of Current Directory</vt:lpstr>
      <vt:lpstr>Create a Directory in the User Home Directory</vt:lpstr>
      <vt:lpstr>Create a File in the Directory</vt:lpstr>
      <vt:lpstr>Backup Current Directory</vt:lpstr>
      <vt:lpstr>Special Shell Variables</vt:lpstr>
      <vt:lpstr>Sample Usage of Shell Variables</vt:lpstr>
      <vt:lpstr>The case Statement</vt:lpstr>
      <vt:lpstr>case Example</vt:lpstr>
      <vt:lpstr>case Example With Default Input Values and Editing Enabled (-e)</vt:lpstr>
      <vt:lpstr>Display if Today is a Weekday or Weekend</vt:lpstr>
      <vt:lpstr>Loops</vt:lpstr>
      <vt:lpstr>Loop Syntaxes</vt:lpstr>
      <vt:lpstr>Sum of 10 Student Marks using “for”</vt:lpstr>
      <vt:lpstr>Sum of 10 Student Marks using “while”</vt:lpstr>
      <vt:lpstr>Sum of 10 Student Marks using “while” and “break”</vt:lpstr>
      <vt:lpstr>Modify to Count Passed and Failed Students</vt:lpstr>
      <vt:lpstr>Modify to Find Maximum and Minimum Marks</vt:lpstr>
      <vt:lpstr>Factorial</vt:lpstr>
      <vt:lpstr>Reverse the Digits of an Integer</vt:lpstr>
      <vt:lpstr>Loop Examples – Add All Even Numbers from  to 100</vt:lpstr>
      <vt:lpstr>PowerPoint Presentation</vt:lpstr>
      <vt:lpstr>Solutions</vt:lpstr>
      <vt:lpstr>Same Example, Added if</vt:lpstr>
      <vt:lpstr>Loop Example</vt:lpstr>
      <vt:lpstr>Useful Scripts: Accept a String from User and Search in All Files</vt:lpstr>
      <vt:lpstr>Sort a File and Remove Duplicates</vt:lpstr>
      <vt:lpstr>Count Lines, Words, Bytes in All Files</vt:lpstr>
      <vt:lpstr>Backup Files into a Zip Archive</vt:lpstr>
      <vt:lpstr>Check If a File Exists and Show its Permissions</vt:lpstr>
      <vt:lpstr>Copy All Files of a Particular Extension in a Different Directory</vt:lpstr>
      <vt:lpstr>Create a New User</vt:lpstr>
      <vt:lpstr>Linux Process Commands</vt:lpstr>
      <vt:lpstr>PowerPoint Presentation</vt:lpstr>
      <vt:lpstr>Linux Processes</vt:lpstr>
      <vt:lpstr>Foreground and Background Processes</vt:lpstr>
      <vt:lpstr>Foreground vs Background Execution</vt:lpstr>
      <vt:lpstr>Killing a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57</cp:revision>
  <dcterms:created xsi:type="dcterms:W3CDTF">2026-03-16T11:07:32Z</dcterms:created>
  <dcterms:modified xsi:type="dcterms:W3CDTF">2026-09-08T04:15:46Z</dcterms:modified>
</cp:coreProperties>
</file>